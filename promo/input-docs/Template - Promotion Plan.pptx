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3" r:id="rId4"/>
  </p:sldMasterIdLst>
  <p:notesMasterIdLst>
    <p:notesMasterId r:id="rId6"/>
  </p:notesMasterIdLst>
  <p:sldIdLst>
    <p:sldId id="20500954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FB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7D8CE-3F86-33BD-79D4-5B0A603297D8}" v="119" dt="2026-05-07T00:39:32.066"/>
    <p1510:client id="{DD86C1E8-21AA-5486-790D-E7EC2F2F38FD}" v="21" dt="2026-05-07T00:21:51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781"/>
  </p:normalViewPr>
  <p:slideViewPr>
    <p:cSldViewPr snapToGrid="0">
      <p:cViewPr varScale="1">
        <p:scale>
          <a:sx n="111" d="100"/>
          <a:sy n="111" d="100"/>
        </p:scale>
        <p:origin x="6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Lagace" userId="S::eric.lagace@slalom.com::12639fba-3d5e-4de5-a425-e6312ec0e2c4" providerId="AD" clId="Web-{DD86C1E8-21AA-5486-790D-E7EC2F2F38FD}"/>
    <pc:docChg chg="modSld">
      <pc:chgData name="Eric Lagace" userId="S::eric.lagace@slalom.com::12639fba-3d5e-4de5-a425-e6312ec0e2c4" providerId="AD" clId="Web-{DD86C1E8-21AA-5486-790D-E7EC2F2F38FD}" dt="2026-05-07T00:21:51.062" v="20" actId="20577"/>
      <pc:docMkLst>
        <pc:docMk/>
      </pc:docMkLst>
      <pc:sldChg chg="modSp">
        <pc:chgData name="Eric Lagace" userId="S::eric.lagace@slalom.com::12639fba-3d5e-4de5-a425-e6312ec0e2c4" providerId="AD" clId="Web-{DD86C1E8-21AA-5486-790D-E7EC2F2F38FD}" dt="2026-05-07T00:21:51.062" v="20" actId="20577"/>
        <pc:sldMkLst>
          <pc:docMk/>
          <pc:sldMk cId="358133126" sldId="2050095460"/>
        </pc:sldMkLst>
        <pc:spChg chg="mod">
          <ac:chgData name="Eric Lagace" userId="S::eric.lagace@slalom.com::12639fba-3d5e-4de5-a425-e6312ec0e2c4" providerId="AD" clId="Web-{DD86C1E8-21AA-5486-790D-E7EC2F2F38FD}" dt="2026-05-07T00:21:51.062" v="20" actId="20577"/>
          <ac:spMkLst>
            <pc:docMk/>
            <pc:sldMk cId="358133126" sldId="2050095460"/>
            <ac:spMk id="9" creationId="{FCB527CA-3FF4-A049-B606-00CB497E8123}"/>
          </ac:spMkLst>
        </pc:spChg>
      </pc:sldChg>
    </pc:docChg>
  </pc:docChgLst>
  <pc:docChgLst>
    <pc:chgData name="Eric Lagace" userId="S::eric.lagace@slalom.com::12639fba-3d5e-4de5-a425-e6312ec0e2c4" providerId="AD" clId="Web-{99C7D8CE-3F86-33BD-79D4-5B0A603297D8}"/>
    <pc:docChg chg="modSld">
      <pc:chgData name="Eric Lagace" userId="S::eric.lagace@slalom.com::12639fba-3d5e-4de5-a425-e6312ec0e2c4" providerId="AD" clId="Web-{99C7D8CE-3F86-33BD-79D4-5B0A603297D8}" dt="2026-05-07T00:39:17.910" v="113"/>
      <pc:docMkLst>
        <pc:docMk/>
      </pc:docMkLst>
      <pc:sldChg chg="modSp">
        <pc:chgData name="Eric Lagace" userId="S::eric.lagace@slalom.com::12639fba-3d5e-4de5-a425-e6312ec0e2c4" providerId="AD" clId="Web-{99C7D8CE-3F86-33BD-79D4-5B0A603297D8}" dt="2026-05-07T00:39:17.910" v="113"/>
        <pc:sldMkLst>
          <pc:docMk/>
          <pc:sldMk cId="358133126" sldId="2050095460"/>
        </pc:sldMkLst>
        <pc:spChg chg="mod">
          <ac:chgData name="Eric Lagace" userId="S::eric.lagace@slalom.com::12639fba-3d5e-4de5-a425-e6312ec0e2c4" providerId="AD" clId="Web-{99C7D8CE-3F86-33BD-79D4-5B0A603297D8}" dt="2026-05-07T00:24:05.080" v="11" actId="20577"/>
          <ac:spMkLst>
            <pc:docMk/>
            <pc:sldMk cId="358133126" sldId="2050095460"/>
            <ac:spMk id="9" creationId="{FCB527CA-3FF4-A049-B606-00CB497E8123}"/>
          </ac:spMkLst>
        </pc:spChg>
        <pc:graphicFrameChg chg="mod modGraphic">
          <ac:chgData name="Eric Lagace" userId="S::eric.lagace@slalom.com::12639fba-3d5e-4de5-a425-e6312ec0e2c4" providerId="AD" clId="Web-{99C7D8CE-3F86-33BD-79D4-5B0A603297D8}" dt="2026-05-07T00:39:17.910" v="113"/>
          <ac:graphicFrameMkLst>
            <pc:docMk/>
            <pc:sldMk cId="358133126" sldId="2050095460"/>
            <ac:graphicFrameMk id="5" creationId="{6A9E73B9-28DF-EA4D-998F-55B2CAA5D59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B78BD-A6F4-314C-925F-2EA5866C1FF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74E01-9533-E247-AAF9-53586CCF1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7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ight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E005-9238-4EDB-8632-E512DDF58CAA}" type="datetime1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330689"/>
            <a:ext cx="4013200" cy="365125"/>
          </a:xfrm>
        </p:spPr>
        <p:txBody>
          <a:bodyPr/>
          <a:lstStyle/>
          <a:p>
            <a:r>
              <a:rPr lang="en-US"/>
              <a:t>© SLALOM. ALL RIGHTS RESERVED. PROPRIETARY AND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249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blue background">
    <p:bg>
      <p:bgPr>
        <a:solidFill>
          <a:srgbClr val="0909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6DCCAE5-81E0-4F95-BC28-74328FF60048}" type="datetime1">
              <a:rPr lang="en-GB" smtClean="0"/>
              <a:pPr/>
              <a:t>06/05/2026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330689"/>
            <a:ext cx="38989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SLALOM. ALL RIGHTS RESERVED. PROPRIETARY AND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89D76C3-A5A9-4168-BE2E-6A3D1757D92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38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lom - Light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E005-9238-4EDB-8632-E512DDF58CAA}" type="datetime1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330689"/>
            <a:ext cx="4013200" cy="365125"/>
          </a:xfrm>
        </p:spPr>
        <p:txBody>
          <a:bodyPr/>
          <a:lstStyle/>
          <a:p>
            <a:r>
              <a:rPr lang="en-US"/>
              <a:t>© SLALOM. ALL RIGHTS RESERVED. PROPRIETARY AND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36228" y="571896"/>
            <a:ext cx="946172" cy="24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77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lom - Dark blue background">
    <p:bg>
      <p:bgPr>
        <a:solidFill>
          <a:srgbClr val="0909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6DCCAE5-81E0-4F95-BC28-74328FF60048}" type="datetime1">
              <a:rPr lang="en-GB" smtClean="0"/>
              <a:pPr/>
              <a:t>06/05/2026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330689"/>
            <a:ext cx="38989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SLALOM. ALL RIGHTS RESERVED. PROPRIETARY AND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89D76C3-A5A9-4168-BE2E-6A3D1757D92E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17200" y="559162"/>
            <a:ext cx="977900" cy="25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92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lom Build - Light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FAC621AF-13F9-CA48-9E6E-5E651C3C20B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44100" y="540205"/>
            <a:ext cx="1638299" cy="31855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E005-9238-4EDB-8632-E512DDF58CAA}" type="datetime1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330689"/>
            <a:ext cx="4013200" cy="365125"/>
          </a:xfrm>
        </p:spPr>
        <p:txBody>
          <a:bodyPr/>
          <a:lstStyle/>
          <a:p>
            <a:r>
              <a:rPr lang="en-US"/>
              <a:t>© SLALOM. ALL RIGHTS RESERVED. PROPRIETARY AND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807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lom Build - Dark 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6DCCAE5-81E0-4F95-BC28-74328FF60048}" type="datetime1">
              <a:rPr lang="en-GB" smtClean="0"/>
              <a:pPr/>
              <a:t>06/05/2026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330689"/>
            <a:ext cx="38989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SLALOM. ALL RIGHTS RESERVED. PROPRIETARY AND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89D76C3-A5A9-4168-BE2E-6A3D1757D92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9A9F39-F5C7-6A41-9AA4-7D0B6F739B8E}"/>
              </a:ext>
            </a:extLst>
          </p:cNvPr>
          <p:cNvSpPr txBox="1"/>
          <p:nvPr userDrawn="1"/>
        </p:nvSpPr>
        <p:spPr>
          <a:xfrm>
            <a:off x="7338447" y="-480447"/>
            <a:ext cx="0" cy="0"/>
          </a:xfrm>
          <a:prstGeom prst="rect">
            <a:avLst/>
          </a:prstGeom>
          <a:noFill/>
        </p:spPr>
        <p:txBody>
          <a:bodyPr wrap="none" lIns="0" rtlCol="0">
            <a:noAutofit/>
          </a:bodyPr>
          <a:lstStyle/>
          <a:p>
            <a:endParaRPr lang="en-US" sz="1600" err="1">
              <a:latin typeface="Slalom Sans Light" panose="00000400000000000000" pitchFamily="50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1B90202-AF53-8645-9B6F-7C03FF1AB050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44100" y="540205"/>
            <a:ext cx="1638298" cy="31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32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F39B3-04F5-42A6-A55F-73F9A76E46F8}" type="datetime1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330689"/>
            <a:ext cx="3924300" cy="365125"/>
          </a:xfrm>
        </p:spPr>
        <p:txBody>
          <a:bodyPr/>
          <a:lstStyle/>
          <a:p>
            <a:r>
              <a:rPr lang="en-US"/>
              <a:t>© SLALOM. ALL RIGHTS RESERVED. PROPRIETARY AND CONFIDENTIAL.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object 3"/>
          <p:cNvSpPr/>
          <p:nvPr userDrawn="1"/>
        </p:nvSpPr>
        <p:spPr>
          <a:xfrm>
            <a:off x="0" y="652"/>
            <a:ext cx="12192000" cy="3428348"/>
          </a:xfrm>
          <a:custGeom>
            <a:avLst/>
            <a:gdLst/>
            <a:ahLst/>
            <a:cxnLst/>
            <a:rect l="l" t="t" r="r" b="b"/>
            <a:pathLst>
              <a:path w="20104100" h="5654675">
                <a:moveTo>
                  <a:pt x="20104099" y="0"/>
                </a:moveTo>
                <a:lnTo>
                  <a:pt x="0" y="0"/>
                </a:lnTo>
                <a:lnTo>
                  <a:pt x="0" y="5654278"/>
                </a:lnTo>
                <a:lnTo>
                  <a:pt x="20104099" y="5654278"/>
                </a:lnTo>
                <a:lnTo>
                  <a:pt x="20104099" y="0"/>
                </a:lnTo>
                <a:close/>
              </a:path>
            </a:pathLst>
          </a:custGeom>
          <a:solidFill>
            <a:srgbClr val="09091C"/>
          </a:solidFill>
        </p:spPr>
        <p:txBody>
          <a:bodyPr wrap="square" lIns="0" tIns="0" rIns="0" bIns="0" rtlCol="0"/>
          <a:lstStyle/>
          <a:p>
            <a:endParaRPr sz="66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DE47DC-FFF8-4743-BA47-162E531CE68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17200" y="559162"/>
            <a:ext cx="977900" cy="25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11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2F92F-1A4C-4811-A2F0-0FC9FC2DF3E9}" type="datetime1">
              <a:rPr lang="en-GB" smtClean="0"/>
              <a:t>06/05/2026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t>‹#›</a:t>
            </a:fld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solidFill>
            <a:schemeClr val="accent4">
              <a:lumMod val="50000"/>
            </a:schemeClr>
          </a:solidFill>
        </p:spPr>
        <p:txBody>
          <a:bodyPr bIns="2560320" anchor="ctr">
            <a:norm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insert photo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03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ourt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2F92F-1A4C-4811-A2F0-0FC9FC2DF3E9}" type="datetime1">
              <a:rPr lang="en-GB" smtClean="0"/>
              <a:t>06/05/2026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0" y="6330689"/>
            <a:ext cx="3949700" cy="365125"/>
          </a:xfrm>
        </p:spPr>
        <p:txBody>
          <a:bodyPr/>
          <a:lstStyle/>
          <a:p>
            <a:r>
              <a:rPr lang="en-US"/>
              <a:t>© SLALOM. ALL RIGHTS RESERVED. PROPRIETARY AND CONFIDENTIAL.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t>‹#›</a:t>
            </a:fld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8426102" y="0"/>
            <a:ext cx="3765898" cy="6858000"/>
          </a:xfrm>
          <a:solidFill>
            <a:schemeClr val="accent4">
              <a:lumMod val="50000"/>
            </a:schemeClr>
          </a:solidFill>
        </p:spPr>
        <p:txBody>
          <a:bodyPr bIns="2560320" anchor="ctr">
            <a:norm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insert photo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92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third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7151977" y="0"/>
            <a:ext cx="5040023" cy="6858000"/>
          </a:xfrm>
          <a:solidFill>
            <a:schemeClr val="accent4">
              <a:lumMod val="50000"/>
            </a:schemeClr>
          </a:solidFill>
        </p:spPr>
        <p:txBody>
          <a:bodyPr bIns="2560320" anchor="ctr">
            <a:norm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insert photo</a:t>
            </a:r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2F92F-1A4C-4811-A2F0-0FC9FC2DF3E9}" type="datetime1">
              <a:rPr lang="en-GB" smtClean="0"/>
              <a:t>06/05/2026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0" y="6330689"/>
            <a:ext cx="3937000" cy="365125"/>
          </a:xfrm>
        </p:spPr>
        <p:txBody>
          <a:bodyPr/>
          <a:lstStyle/>
          <a:p>
            <a:r>
              <a:rPr lang="en-US"/>
              <a:t>© SLALOM. ALL RIGHTS RESERVED. PROPRIETARY AND CONFIDENTIAL.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35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ourt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2F92F-1A4C-4811-A2F0-0FC9FC2DF3E9}" type="datetime1">
              <a:rPr lang="en-GB" smtClean="0"/>
              <a:t>06/05/2026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0" y="6330689"/>
            <a:ext cx="22479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t>‹#›</a:t>
            </a:fld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765898" cy="6858000"/>
          </a:xfrm>
          <a:solidFill>
            <a:schemeClr val="accent4">
              <a:lumMod val="50000"/>
            </a:schemeClr>
          </a:solidFill>
        </p:spPr>
        <p:txBody>
          <a:bodyPr bIns="2560320" anchor="ctr">
            <a:norm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insert photo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6474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F39B3-04F5-42A6-A55F-73F9A76E46F8}" type="datetime1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accent4">
              <a:lumMod val="50000"/>
            </a:schemeClr>
          </a:solidFill>
        </p:spPr>
        <p:txBody>
          <a:bodyPr vert="horz" lIns="91440" tIns="45720" rIns="91440" bIns="256032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800" b="1" baseline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/>
              <a:t>Click to insert photo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345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0DA58-BC13-FD45-AC38-4C7561C7D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F39B3-04F5-42A6-A55F-73F9A76E46F8}" type="datetime1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A8789-ECA5-154D-A5A3-C1959585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6051F-C00B-EE4A-BCE9-17B6D83B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8151BDA-5372-B543-B3DF-751015BC73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21875" y="1075079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73823703-1C8A-9443-A8BB-5CAA5AFA618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229911" y="1075079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0A5404B8-CDC3-0049-A387-A11C26176E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237946" y="1075079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2F6CDDE-F371-034D-92D5-2C1CEDC7BFA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21875" y="2151524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169270F3-415A-A747-A765-D79D84ECCA6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29910" y="2151524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9A15E3C8-4B29-6E4C-A195-D1A6A2F8CE4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37946" y="2151524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2181E5D8-DA79-7F46-9F57-6B034FF44D8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221875" y="3123798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6445F49E-CE65-4A4D-92A6-C6307BD6DDF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229910" y="3123798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EEE3F9DB-EB9C-BE4F-823B-531877B81F5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237946" y="3123798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1F77D564-9108-AB40-8DD3-23D1F6FEE5B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21875" y="4096072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4D040AF5-EB9A-084C-BDA7-CCD5375FBFD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229910" y="4096072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E908DD8D-7B9A-A14C-BB7C-594BDD68A24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0237946" y="4096072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0848EB05-1277-4241-9AC1-B019C297564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21875" y="5114644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E310FA1B-E0C8-E84F-AC76-8CE15783E24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229910" y="5114644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sp>
        <p:nvSpPr>
          <p:cNvPr id="25" name="Picture Placeholder 7">
            <a:extLst>
              <a:ext uri="{FF2B5EF4-FFF2-40B4-BE49-F238E27FC236}">
                <a16:creationId xmlns:a16="http://schemas.microsoft.com/office/drawing/2014/main" id="{36BC7121-4F04-324D-82DD-B62FC97BC9F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37946" y="5114644"/>
            <a:ext cx="1341437" cy="765294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</p:spTree>
    <p:extLst>
      <p:ext uri="{BB962C8B-B14F-4D97-AF65-F5344CB8AC3E}">
        <p14:creationId xmlns:p14="http://schemas.microsoft.com/office/powerpoint/2010/main" val="4217908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68B37E5-C47B-1641-9A35-83B5916C2A0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06955" y="2477649"/>
            <a:ext cx="1030237" cy="1028501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3EB84A92-0FA9-4942-941F-81B8958462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0741" y="2477649"/>
            <a:ext cx="1030237" cy="1028501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AF39D087-1DC6-3E46-87E9-485A71B3424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05505" y="2477649"/>
            <a:ext cx="1030237" cy="1028501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AF75F10-360C-DF47-B2BA-BB8A53920B2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003539" y="2477649"/>
            <a:ext cx="1030237" cy="1028501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57A78F6F-2FE5-AC44-9924-DCBFA03D448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406955" y="4069103"/>
            <a:ext cx="1030237" cy="1028501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58B94BC4-2D82-5641-B93D-B4542C8230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60741" y="4069103"/>
            <a:ext cx="1030237" cy="1028501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A79B6033-59A8-F046-8FE6-5B57579A633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5505" y="4069103"/>
            <a:ext cx="1030237" cy="1028501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33008A81-607B-6849-A0CB-72AC505EBAD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03539" y="4069103"/>
            <a:ext cx="1030237" cy="1028501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E005-9238-4EDB-8632-E512DDF58CAA}" type="datetime1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330689"/>
            <a:ext cx="4013200" cy="365125"/>
          </a:xfrm>
        </p:spPr>
        <p:txBody>
          <a:bodyPr/>
          <a:lstStyle/>
          <a:p>
            <a:r>
              <a:rPr lang="en-US"/>
              <a:t>© SLALOM. ALL RIGHTS RESERVED. PROPRIETARY AND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60EBC7C-5BE1-5A4D-B786-5AEA3224448A}"/>
              </a:ext>
            </a:extLst>
          </p:cNvPr>
          <p:cNvSpPr txBox="1">
            <a:spLocks/>
          </p:cNvSpPr>
          <p:nvPr userDrawn="1"/>
        </p:nvSpPr>
        <p:spPr>
          <a:xfrm>
            <a:off x="8610600" y="6311194"/>
            <a:ext cx="2971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Slalom Sans Light" panose="000004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9D76C3-A5A9-4168-BE2E-6A3D1757D92E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6476B0B4-A6CB-7844-893F-4D11F4DD7C8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17200" y="559162"/>
            <a:ext cx="977900" cy="25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12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5927F4-05E8-D342-8268-0975D9C269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" y="719137"/>
            <a:ext cx="1638301" cy="1638301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E005-9238-4EDB-8632-E512DDF58CAA}" type="datetime1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330689"/>
            <a:ext cx="4013200" cy="365125"/>
          </a:xfrm>
        </p:spPr>
        <p:txBody>
          <a:bodyPr/>
          <a:lstStyle/>
          <a:p>
            <a:r>
              <a:rPr lang="en-US"/>
              <a:t>© SLALOM. ALL RIGHTS RESERVED. PROPRIETARY AND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36228" y="571896"/>
            <a:ext cx="946172" cy="24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20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irlc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9">
            <a:extLst>
              <a:ext uri="{FF2B5EF4-FFF2-40B4-BE49-F238E27FC236}">
                <a16:creationId xmlns:a16="http://schemas.microsoft.com/office/drawing/2014/main" id="{7FC3F990-1EC6-844E-B842-1FF5F924A857}"/>
              </a:ext>
            </a:extLst>
          </p:cNvPr>
          <p:cNvSpPr/>
          <p:nvPr userDrawn="1"/>
        </p:nvSpPr>
        <p:spPr>
          <a:xfrm>
            <a:off x="8070862" y="653"/>
            <a:ext cx="4117962" cy="32414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61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3EB84A92-0FA9-4942-941F-81B8958462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90180" y="-2604307"/>
            <a:ext cx="5856306" cy="5846438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EE005-9238-4EDB-8632-E512DDF58CAA}" type="datetime1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330689"/>
            <a:ext cx="4013200" cy="365125"/>
          </a:xfrm>
        </p:spPr>
        <p:txBody>
          <a:bodyPr/>
          <a:lstStyle/>
          <a:p>
            <a:r>
              <a:rPr lang="en-US"/>
              <a:t>© SLALOM. ALL RIGHTS RESERVED. PROPRIETARY AND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60EBC7C-5BE1-5A4D-B786-5AEA3224448A}"/>
              </a:ext>
            </a:extLst>
          </p:cNvPr>
          <p:cNvSpPr txBox="1">
            <a:spLocks/>
          </p:cNvSpPr>
          <p:nvPr userDrawn="1"/>
        </p:nvSpPr>
        <p:spPr>
          <a:xfrm>
            <a:off x="8610600" y="6311194"/>
            <a:ext cx="2971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Slalom Sans Light" panose="000004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9D76C3-A5A9-4168-BE2E-6A3D1757D92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5990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 hasCustomPrompt="1"/>
          </p:nvPr>
        </p:nvSpPr>
        <p:spPr>
          <a:xfrm>
            <a:off x="6205538" y="1079500"/>
            <a:ext cx="5373687" cy="5168900"/>
          </a:xfrm>
          <a:solidFill>
            <a:schemeClr val="accent4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chart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F39B3-04F5-42A6-A55F-73F9A76E46F8}" type="datetime1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22B38CDB-0EF0-3A45-A43C-F01C0A1442D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36228" y="571896"/>
            <a:ext cx="946172" cy="24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72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F39B3-04F5-42A6-A55F-73F9A76E46F8}" type="datetime1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 hasCustomPrompt="1"/>
          </p:nvPr>
        </p:nvSpPr>
        <p:spPr>
          <a:xfrm>
            <a:off x="609600" y="2159089"/>
            <a:ext cx="10969625" cy="1939090"/>
          </a:xfrm>
          <a:solidFill>
            <a:schemeClr val="accent4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chart</a:t>
            </a:r>
            <a:endParaRPr lang="en-GB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703DFA4D-2E1A-FD43-A649-6257A7870BF0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36228" y="571896"/>
            <a:ext cx="946172" cy="24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69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 hasCustomPrompt="1"/>
          </p:nvPr>
        </p:nvSpPr>
        <p:spPr>
          <a:xfrm>
            <a:off x="609600" y="2159088"/>
            <a:ext cx="2575817" cy="2031911"/>
          </a:xfrm>
          <a:solidFill>
            <a:schemeClr val="accent4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chart</a:t>
            </a:r>
            <a:endParaRPr lang="en-GB"/>
          </a:p>
        </p:txBody>
      </p:sp>
      <p:sp>
        <p:nvSpPr>
          <p:cNvPr id="11" name="Chart Placeholder 7"/>
          <p:cNvSpPr>
            <a:spLocks noGrp="1"/>
          </p:cNvSpPr>
          <p:nvPr>
            <p:ph type="chart" sz="quarter" idx="14" hasCustomPrompt="1"/>
          </p:nvPr>
        </p:nvSpPr>
        <p:spPr>
          <a:xfrm>
            <a:off x="3436492" y="2159088"/>
            <a:ext cx="2546960" cy="2031911"/>
          </a:xfrm>
          <a:solidFill>
            <a:schemeClr val="accent4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chart</a:t>
            </a:r>
            <a:endParaRPr lang="en-GB"/>
          </a:p>
        </p:txBody>
      </p:sp>
      <p:sp>
        <p:nvSpPr>
          <p:cNvPr id="12" name="Chart Placeholder 7"/>
          <p:cNvSpPr>
            <a:spLocks noGrp="1"/>
          </p:cNvSpPr>
          <p:nvPr>
            <p:ph type="chart" sz="quarter" idx="15" hasCustomPrompt="1"/>
          </p:nvPr>
        </p:nvSpPr>
        <p:spPr>
          <a:xfrm>
            <a:off x="6234366" y="2159088"/>
            <a:ext cx="2547120" cy="2031911"/>
          </a:xfrm>
          <a:solidFill>
            <a:schemeClr val="accent4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chart</a:t>
            </a:r>
            <a:endParaRPr lang="en-GB"/>
          </a:p>
        </p:txBody>
      </p:sp>
      <p:sp>
        <p:nvSpPr>
          <p:cNvPr id="13" name="Chart Placeholder 7"/>
          <p:cNvSpPr>
            <a:spLocks noGrp="1"/>
          </p:cNvSpPr>
          <p:nvPr>
            <p:ph type="chart" sz="quarter" idx="16" hasCustomPrompt="1"/>
          </p:nvPr>
        </p:nvSpPr>
        <p:spPr>
          <a:xfrm>
            <a:off x="9032240" y="2159088"/>
            <a:ext cx="2547280" cy="2031911"/>
          </a:xfrm>
          <a:solidFill>
            <a:schemeClr val="accent4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chart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F39B3-04F5-42A6-A55F-73F9A76E46F8}" type="datetime1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D0CEC0A5-7F25-A548-9739-2306DA0BFC3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36228" y="571896"/>
            <a:ext cx="946172" cy="24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39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 hasCustomPrompt="1"/>
          </p:nvPr>
        </p:nvSpPr>
        <p:spPr>
          <a:xfrm>
            <a:off x="609600" y="2159088"/>
            <a:ext cx="10969625" cy="3418679"/>
          </a:xfrm>
          <a:solidFill>
            <a:schemeClr val="accent4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chart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F39B3-04F5-42A6-A55F-73F9A76E46F8}" type="datetime1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6C3-A5A9-4168-BE2E-6A3D1757D92E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0EF85BDC-4735-F64E-B956-A6CE8158F7E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36228" y="571896"/>
            <a:ext cx="946172" cy="24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30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Subtitle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620250" y="1192987"/>
            <a:ext cx="10959623" cy="227755"/>
          </a:xfrm>
        </p:spPr>
        <p:txBody>
          <a:bodyPr tIns="0"/>
          <a:lstStyle>
            <a:lvl1pPr marL="0" indent="0">
              <a:buNone/>
              <a:defRPr lang="en-US" sz="1467" kern="1200" spc="0" baseline="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30710" indent="0">
              <a:buNone/>
              <a:defRPr/>
            </a:lvl2pPr>
            <a:lvl3pPr marL="431789" indent="0">
              <a:buNone/>
              <a:defRPr/>
            </a:lvl3pPr>
            <a:lvl4pPr marL="609585" indent="0">
              <a:buNone/>
              <a:defRPr/>
            </a:lvl4pPr>
            <a:lvl5pPr marL="791614" indent="0">
              <a:buNone/>
              <a:defRPr/>
            </a:lvl5pPr>
          </a:lstStyle>
          <a:p>
            <a:pPr marL="0" lvl="0" indent="0" algn="l" defTabSz="1219170" rtl="0" eaLnBrk="1" latinLnBrk="0" hangingPunct="1">
              <a:lnSpc>
                <a:spcPct val="90000"/>
              </a:lnSpc>
              <a:spcBef>
                <a:spcPts val="1600"/>
              </a:spcBef>
              <a:buClr>
                <a:srgbClr val="0072C8"/>
              </a:buClr>
              <a:buSzPct val="110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620184" y="584200"/>
            <a:ext cx="10962216" cy="491067"/>
          </a:xfrm>
        </p:spPr>
        <p:txBody>
          <a:bodyPr tIns="0" bIns="0"/>
          <a:lstStyle>
            <a:lvl1pPr marL="0" indent="0">
              <a:spcBef>
                <a:spcPts val="0"/>
              </a:spcBef>
              <a:buNone/>
              <a:defRPr sz="3200" b="1" spc="-93" baseline="0">
                <a:solidFill>
                  <a:schemeClr val="accent3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Insert slide title here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622301" y="6155765"/>
            <a:ext cx="2430780" cy="124011"/>
          </a:xfrm>
        </p:spPr>
        <p:txBody>
          <a:bodyPr tIns="0" bIns="0" anchor="b"/>
          <a:lstStyle>
            <a:lvl1pPr marL="0" indent="0">
              <a:buNone/>
              <a:defRPr sz="8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small text 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622301" y="1608667"/>
            <a:ext cx="10960100" cy="3761317"/>
          </a:xfrm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  <a:lvl2pPr>
              <a:defRPr sz="1333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067">
                <a:solidFill>
                  <a:schemeClr val="accent5"/>
                </a:solidFill>
              </a:defRPr>
            </a:lvl4pPr>
            <a:lvl5pPr>
              <a:defRPr sz="1067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31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066800"/>
            <a:ext cx="10972800" cy="1518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819401"/>
            <a:ext cx="10972800" cy="3129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24400" y="62968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Slalom Sans Light" panose="00000400000000000000" pitchFamily="50" charset="0"/>
              </a:defRPr>
            </a:lvl1pPr>
          </a:lstStyle>
          <a:p>
            <a:fld id="{F6EF39B3-04F5-42A6-A55F-73F9A76E46F8}" type="datetime1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30689"/>
            <a:ext cx="32766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800" dirty="0">
                <a:solidFill>
                  <a:schemeClr val="tx1">
                    <a:tint val="75000"/>
                  </a:schemeClr>
                </a:solidFill>
                <a:latin typeface="Slalom Sans Light" panose="00000400000000000000" pitchFamily="50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11194"/>
            <a:ext cx="2971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Slalom Sans Light" panose="00000400000000000000" pitchFamily="50" charset="0"/>
              </a:defRPr>
            </a:lvl1pPr>
          </a:lstStyle>
          <a:p>
            <a:fld id="{D89D76C3-A5A9-4168-BE2E-6A3D1757D92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42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59" r:id="rId16"/>
    <p:sldLayoutId id="2147483860" r:id="rId17"/>
    <p:sldLayoutId id="2147483861" r:id="rId18"/>
    <p:sldLayoutId id="2147483862" r:id="rId19"/>
    <p:sldLayoutId id="2147483863" r:id="rId20"/>
    <p:sldLayoutId id="2147483864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000" spc="-10" baseline="0">
          <a:solidFill>
            <a:schemeClr val="accent2"/>
          </a:solidFill>
          <a:latin typeface="Slalom Sans Bold" panose="000008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1800" kern="1200" baseline="0">
          <a:solidFill>
            <a:schemeClr val="accent2"/>
          </a:solidFill>
          <a:latin typeface="Slalom Sans Light" panose="000004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+mj-lt"/>
        <a:buAutoNum type="arabicPeriod"/>
        <a:defRPr sz="1800" kern="1200">
          <a:solidFill>
            <a:schemeClr val="accent2"/>
          </a:solidFill>
          <a:latin typeface="Slalom Sans Light" panose="00000400000000000000" pitchFamily="50" charset="0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+mj-lt"/>
        <a:buAutoNum type="alphaUcPeriod"/>
        <a:defRPr sz="1800" kern="1200">
          <a:solidFill>
            <a:schemeClr val="accent2"/>
          </a:solidFill>
          <a:latin typeface="Slalom Sans Light" panose="00000400000000000000" pitchFamily="50" charset="0"/>
          <a:ea typeface="+mn-ea"/>
          <a:cs typeface="+mn-cs"/>
        </a:defRPr>
      </a:lvl3pPr>
      <a:lvl4pPr marL="1714500" indent="-342900" algn="l" defTabSz="914400" rtl="0" eaLnBrk="1" latinLnBrk="0" hangingPunct="1">
        <a:lnSpc>
          <a:spcPct val="90000"/>
        </a:lnSpc>
        <a:spcBef>
          <a:spcPts val="500"/>
        </a:spcBef>
        <a:buFont typeface="+mj-lt"/>
        <a:buAutoNum type="alphaUcPeriod"/>
        <a:defRPr sz="1800" kern="1200">
          <a:solidFill>
            <a:schemeClr val="accent2"/>
          </a:solidFill>
          <a:latin typeface="Slalom Sans Light" panose="000004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Slalom Sans Light" panose="000004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72">
          <p15:clr>
            <a:srgbClr val="F26B43"/>
          </p15:clr>
        </p15:guide>
        <p15:guide id="2" pos="816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384">
          <p15:clr>
            <a:srgbClr val="F26B43"/>
          </p15:clr>
        </p15:guide>
        <p15:guide id="5" orient="horz" pos="3936">
          <p15:clr>
            <a:srgbClr val="F26B43"/>
          </p15:clr>
        </p15:guide>
        <p15:guide id="6" pos="7296">
          <p15:clr>
            <a:srgbClr val="F26B43"/>
          </p15:clr>
        </p15:guide>
        <p15:guide id="7" pos="960">
          <p15:clr>
            <a:srgbClr val="F26B43"/>
          </p15:clr>
        </p15:guide>
        <p15:guide id="8" pos="1416">
          <p15:clr>
            <a:srgbClr val="F26B43"/>
          </p15:clr>
        </p15:guide>
        <p15:guide id="9" pos="1560">
          <p15:clr>
            <a:srgbClr val="F26B43"/>
          </p15:clr>
        </p15:guide>
        <p15:guide id="10" pos="1992">
          <p15:clr>
            <a:srgbClr val="F26B43"/>
          </p15:clr>
        </p15:guide>
        <p15:guide id="11" pos="2136">
          <p15:clr>
            <a:srgbClr val="F26B43"/>
          </p15:clr>
        </p15:guide>
        <p15:guide id="12" pos="2592">
          <p15:clr>
            <a:srgbClr val="F26B43"/>
          </p15:clr>
        </p15:guide>
        <p15:guide id="13" pos="2712">
          <p15:clr>
            <a:srgbClr val="F26B43"/>
          </p15:clr>
        </p15:guide>
        <p15:guide id="14" pos="3168">
          <p15:clr>
            <a:srgbClr val="F26B43"/>
          </p15:clr>
        </p15:guide>
        <p15:guide id="15" pos="3312">
          <p15:clr>
            <a:srgbClr val="F26B43"/>
          </p15:clr>
        </p15:guide>
        <p15:guide id="16" pos="3768">
          <p15:clr>
            <a:srgbClr val="F26B43"/>
          </p15:clr>
        </p15:guide>
        <p15:guide id="17" pos="3912">
          <p15:clr>
            <a:srgbClr val="F26B43"/>
          </p15:clr>
        </p15:guide>
        <p15:guide id="18" pos="4344">
          <p15:clr>
            <a:srgbClr val="F26B43"/>
          </p15:clr>
        </p15:guide>
        <p15:guide id="19" pos="4488">
          <p15:clr>
            <a:srgbClr val="F26B43"/>
          </p15:clr>
        </p15:guide>
        <p15:guide id="20" pos="4944">
          <p15:clr>
            <a:srgbClr val="F26B43"/>
          </p15:clr>
        </p15:guide>
        <p15:guide id="21" pos="5088">
          <p15:clr>
            <a:srgbClr val="F26B43"/>
          </p15:clr>
        </p15:guide>
        <p15:guide id="22" pos="5520">
          <p15:clr>
            <a:srgbClr val="F26B43"/>
          </p15:clr>
        </p15:guide>
        <p15:guide id="23" pos="5664">
          <p15:clr>
            <a:srgbClr val="F26B43"/>
          </p15:clr>
        </p15:guide>
        <p15:guide id="24" pos="6120">
          <p15:clr>
            <a:srgbClr val="F26B43"/>
          </p15:clr>
        </p15:guide>
        <p15:guide id="25" pos="6264">
          <p15:clr>
            <a:srgbClr val="F26B43"/>
          </p15:clr>
        </p15:guide>
        <p15:guide id="26" pos="6696">
          <p15:clr>
            <a:srgbClr val="F26B43"/>
          </p15:clr>
        </p15:guide>
        <p15:guide id="27" pos="6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DA3DED-3E33-F94F-A3DD-4A3995F7B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E1E1E">
                    <a:tint val="75000"/>
                  </a:srgbClr>
                </a:solidFill>
                <a:effectLst/>
                <a:uLnTx/>
                <a:uFillTx/>
                <a:latin typeface="Slalom Sans Light" panose="00000400000000000000" pitchFamily="50" charset="0"/>
                <a:ea typeface="+mn-ea"/>
                <a:cs typeface="+mn-cs"/>
              </a:rPr>
              <a:t>© SLALOM. ALL RIGHTS RESERVED. PROPRIETARY AND CONFIDENTIAL.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53AA5E-7074-C443-B05E-F9D6BA2A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9D76C3-A5A9-4168-BE2E-6A3D1757D92E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1E1E1E">
                    <a:tint val="75000"/>
                  </a:srgbClr>
                </a:solidFill>
                <a:effectLst/>
                <a:uLnTx/>
                <a:uFillTx/>
                <a:latin typeface="Slalom Sans Light" panose="000004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1E1E1E">
                  <a:tint val="75000"/>
                </a:srgbClr>
              </a:solidFill>
              <a:effectLst/>
              <a:uLnTx/>
              <a:uFillTx/>
              <a:latin typeface="Slalom Sans Light" panose="00000400000000000000" pitchFamily="50" charset="0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9E73B9-28DF-EA4D-998F-55B2CAA5D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820814"/>
              </p:ext>
            </p:extLst>
          </p:nvPr>
        </p:nvGraphicFramePr>
        <p:xfrm>
          <a:off x="485217" y="905328"/>
          <a:ext cx="10750341" cy="5726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2145">
                  <a:extLst>
                    <a:ext uri="{9D8B030D-6E8A-4147-A177-3AD203B41FA5}">
                      <a16:colId xmlns:a16="http://schemas.microsoft.com/office/drawing/2014/main" val="2037152552"/>
                    </a:ext>
                  </a:extLst>
                </a:gridCol>
                <a:gridCol w="2060568">
                  <a:extLst>
                    <a:ext uri="{9D8B030D-6E8A-4147-A177-3AD203B41FA5}">
                      <a16:colId xmlns:a16="http://schemas.microsoft.com/office/drawing/2014/main" val="3321776726"/>
                    </a:ext>
                  </a:extLst>
                </a:gridCol>
                <a:gridCol w="2980803">
                  <a:extLst>
                    <a:ext uri="{9D8B030D-6E8A-4147-A177-3AD203B41FA5}">
                      <a16:colId xmlns:a16="http://schemas.microsoft.com/office/drawing/2014/main" val="1645773994"/>
                    </a:ext>
                  </a:extLst>
                </a:gridCol>
                <a:gridCol w="4326825">
                  <a:extLst>
                    <a:ext uri="{9D8B030D-6E8A-4147-A177-3AD203B41FA5}">
                      <a16:colId xmlns:a16="http://schemas.microsoft.com/office/drawing/2014/main" val="319564148"/>
                    </a:ext>
                  </a:extLst>
                </a:gridCol>
              </a:tblGrid>
              <a:tr h="750052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bg1"/>
                          </a:solidFill>
                          <a:latin typeface="+mj-lt"/>
                        </a:rPr>
                        <a:t>Focus Area 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</a:rPr>
                      </a:b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(from 4 Core Competencies)</a:t>
                      </a:r>
                      <a:endParaRPr lang="en-US" sz="1000" b="0" i="0" dirty="0">
                        <a:solidFill>
                          <a:schemeClr val="bg1"/>
                        </a:solidFill>
                        <a:latin typeface="Slalom Sans Light" pitchFamily="2" charset="77"/>
                      </a:endParaRPr>
                    </a:p>
                  </a:txBody>
                  <a:tcPr marL="121920" marR="121920" marT="60960" marB="6096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“Done” Looks Like 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</a:rPr>
                      </a:b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(One outcome statement that summarizes what you will have demonstrated)</a:t>
                      </a:r>
                      <a:endParaRPr lang="en-US" sz="1000" b="0" i="0" dirty="0">
                        <a:solidFill>
                          <a:schemeClr val="bg1"/>
                        </a:solidFill>
                        <a:latin typeface="Slalom Sans Light" pitchFamily="2" charset="77"/>
                      </a:endParaRPr>
                    </a:p>
                  </a:txBody>
                  <a:tcPr marL="121920" marR="121920" marT="60960" marB="6096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Goals</a:t>
                      </a:r>
                    </a:p>
                    <a:p>
                      <a:r>
                        <a:rPr lang="en-US" sz="1000" b="0" kern="1200" dirty="0">
                          <a:solidFill>
                            <a:schemeClr val="bg1"/>
                          </a:solidFill>
                        </a:rPr>
                        <a:t>(One to three things you will learn, in support of “Done”)</a:t>
                      </a:r>
                      <a:endParaRPr lang="en-US" sz="1000" b="0" i="0" kern="1200" dirty="0">
                        <a:solidFill>
                          <a:schemeClr val="bg1"/>
                        </a:solidFill>
                        <a:latin typeface="Slalom Sans Light" pitchFamily="2" charset="77"/>
                        <a:ea typeface="+mn-ea"/>
                        <a:cs typeface="+mn-cs"/>
                      </a:endParaRPr>
                    </a:p>
                  </a:txBody>
                  <a:tcPr marL="121920" marR="121920" marT="60960" marB="6096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Activities to Get There</a:t>
                      </a:r>
                    </a:p>
                    <a:p>
                      <a:r>
                        <a:rPr lang="en-US" sz="1000" b="0" kern="1200" dirty="0">
                          <a:solidFill>
                            <a:schemeClr val="bg1"/>
                          </a:solidFill>
                        </a:rPr>
                        <a:t>(One to three things specifically aligned to achieving goals and “Done” for this Focus Area)</a:t>
                      </a:r>
                      <a:endParaRPr lang="en-US" sz="1000" b="0" i="0" kern="1200" dirty="0">
                        <a:solidFill>
                          <a:schemeClr val="bg1"/>
                        </a:solidFill>
                        <a:latin typeface="Slalom Sans Light" pitchFamily="2" charset="77"/>
                        <a:ea typeface="+mn-ea"/>
                        <a:cs typeface="+mn-cs"/>
                      </a:endParaRPr>
                    </a:p>
                  </a:txBody>
                  <a:tcPr marL="121920" marR="121920" marT="60960" marB="6096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116571"/>
                  </a:ext>
                </a:extLst>
              </a:tr>
              <a:tr h="1289762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+mj-lt"/>
                        </a:rPr>
                        <a:t>Deliver Exceptionally</a:t>
                      </a:r>
                      <a:r>
                        <a:rPr lang="en-US" sz="1100" b="0" dirty="0"/>
                        <a:t>:  Know &amp; Serve Our Customers</a:t>
                      </a:r>
                    </a:p>
                    <a:p>
                      <a:r>
                        <a:rPr lang="en-US" sz="1100" b="0" dirty="0">
                          <a:solidFill>
                            <a:srgbClr val="FF0000"/>
                          </a:solidFill>
                        </a:rPr>
                        <a:t>- Dev Team 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</a:rPr>
                        <a:t>member: &lt;Team Member 1&gt;</a:t>
                      </a:r>
                      <a:endParaRPr lang="en-US" sz="1100" b="0" dirty="0">
                        <a:solidFill>
                          <a:srgbClr val="FF0000"/>
                        </a:solidFill>
                      </a:endParaRPr>
                    </a:p>
                  </a:txBody>
                  <a:tcPr marL="121920" marR="121920" marT="60960" marB="60960"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Facilitated effective report discovery meetings with clients that had a clear agenda, discussions items and action items.</a:t>
                      </a:r>
                    </a:p>
                  </a:txBody>
                  <a:tcPr marL="121920" marR="121920" marT="60960" marB="60960"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indent="-117475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Have a discussion with a Slalom meeting facilitation expert on best practices used with clients.</a:t>
                      </a:r>
                    </a:p>
                    <a:p>
                      <a:pPr marL="117475" indent="-117475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Identify strategies, tips and tricks to use for effective facilitation.</a:t>
                      </a:r>
                    </a:p>
                  </a:txBody>
                  <a:tcPr marL="121920" marR="121920" marT="60960" marB="60960"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Set up an hour of discussion time with facilitation experts Kristen Hinton or Caitlyn Ulman.</a:t>
                      </a:r>
                    </a:p>
                    <a:p>
                      <a:pPr marL="117475" marR="0" lvl="0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Implement the meeting facilitation strategies learnt from the discussion, in an actual client report discovery meetings.</a:t>
                      </a:r>
                    </a:p>
                  </a:txBody>
                  <a:tcPr marL="121920" marR="121920" marT="60960" marB="60960"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964161"/>
                  </a:ext>
                </a:extLst>
              </a:tr>
              <a:tr h="1251163">
                <a:tc>
                  <a:txBody>
                    <a:bodyPr/>
                    <a:lstStyle/>
                    <a:p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Grow Expertise</a:t>
                      </a:r>
                      <a:r>
                        <a:rPr lang="en-US" sz="1100" b="0" dirty="0"/>
                        <a:t>:  </a:t>
                      </a:r>
                    </a:p>
                    <a:p>
                      <a:r>
                        <a:rPr lang="en-US" sz="1100" b="0" i="0" dirty="0">
                          <a:latin typeface="Slalom Sans Light" pitchFamily="2" charset="77"/>
                        </a:rPr>
                        <a:t>Deepens &amp; broadens Expertise</a:t>
                      </a:r>
                    </a:p>
                    <a:p>
                      <a:r>
                        <a:rPr lang="en-US" sz="1100" b="0" dirty="0">
                          <a:solidFill>
                            <a:srgbClr val="FF0000"/>
                          </a:solidFill>
                        </a:rPr>
                        <a:t>- Dev Team 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</a:rPr>
                        <a:t>member:  &lt;Team Member 2&gt;</a:t>
                      </a:r>
                      <a:endParaRPr lang="en-US" sz="1100" b="0" dirty="0">
                        <a:solidFill>
                          <a:srgbClr val="FF0000"/>
                        </a:solidFill>
                      </a:endParaRPr>
                    </a:p>
                  </a:txBody>
                  <a:tcPr marL="121920" marR="121920" marT="60960" marB="60960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i="0" dirty="0">
                          <a:latin typeface="Slalom Sans Light" pitchFamily="2" charset="77"/>
                        </a:rPr>
                        <a:t>Built a Data Pipeline to automate movement of data from a source to a destination</a:t>
                      </a:r>
                    </a:p>
                  </a:txBody>
                  <a:tcPr marL="121920" marR="121920" marT="60960" marB="60960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Have a discussion with a Slalom Data Engineering expert to Learn about the tools used, features available and jobs that can be built to Extract, transform and load (ETL) data.</a:t>
                      </a:r>
                    </a:p>
                  </a:txBody>
                  <a:tcPr marL="121920" marR="121920" marT="60960" marB="60960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Set up an hour of discussion time with Data Engineering expert Eric Lagace.</a:t>
                      </a:r>
                    </a:p>
                    <a:p>
                      <a:pPr marL="117475" marR="0" lvl="0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Identify a small ETL test project that I can build to uses the features learnt through discussion.</a:t>
                      </a:r>
                    </a:p>
                    <a:p>
                      <a:pPr marL="117475" marR="0" lvl="0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Use mock data to create a data pipeline in SSIS to test the ETL features.</a:t>
                      </a:r>
                    </a:p>
                  </a:txBody>
                  <a:tcPr marL="121920" marR="121920" marT="60960" marB="60960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716551"/>
                  </a:ext>
                </a:extLst>
              </a:tr>
              <a:tr h="1112614">
                <a:tc>
                  <a:txBody>
                    <a:bodyPr/>
                    <a:lstStyle/>
                    <a:p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Grow Slalom:</a:t>
                      </a:r>
                      <a:r>
                        <a:rPr lang="en-US" sz="1100" b="0" dirty="0">
                          <a:latin typeface="+mj-lt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/>
                        <a:t>Manage Business Operations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dirty="0">
                          <a:solidFill>
                            <a:srgbClr val="FF0000"/>
                          </a:solidFill>
                        </a:rPr>
                        <a:t>- Dev Team </a:t>
                      </a:r>
                      <a:r>
                        <a:rPr lang="en-US" sz="1100" b="0">
                          <a:solidFill>
                            <a:srgbClr val="FF0000"/>
                          </a:solidFill>
                        </a:rPr>
                        <a:t>member: &lt;Team Member 3&gt;</a:t>
                      </a:r>
                      <a:endParaRPr lang="en-US" sz="1100" b="0" dirty="0">
                        <a:solidFill>
                          <a:srgbClr val="FF0000"/>
                        </a:solidFill>
                      </a:endParaRPr>
                    </a:p>
                  </a:txBody>
                  <a:tcPr marL="121920" marR="121920" marT="60960" marB="60960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i="0" dirty="0">
                          <a:latin typeface="Slalom Sans Light" pitchFamily="2" charset="77"/>
                        </a:rPr>
                        <a:t>Proactively managed staffability by implementing strategies learnt to maximize staffability.</a:t>
                      </a:r>
                    </a:p>
                  </a:txBody>
                  <a:tcPr marL="121920" marR="121920" marT="60960" marB="60960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indent="-117475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Have a discussion with a Slalom  expert on best practices for maximizing utilization.</a:t>
                      </a:r>
                    </a:p>
                    <a:p>
                      <a:pPr marL="117475" indent="-117475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Identify a list of next steps to use to maximize chances of getting staffed on projects.</a:t>
                      </a:r>
                    </a:p>
                  </a:txBody>
                  <a:tcPr marL="121920" marR="121920" marT="60960" marB="60960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Set up an hour of discussion time with Senior Principal Swati Marda to learn strategies she uses to maximize staffability of her team members.</a:t>
                      </a:r>
                    </a:p>
                    <a:p>
                      <a:pPr marL="117475" marR="0" lvl="0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Implement items from the list to increase the likelihood of getting staffed.</a:t>
                      </a:r>
                    </a:p>
                  </a:txBody>
                  <a:tcPr marL="121920" marR="121920" marT="60960" marB="60960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5885761"/>
                  </a:ext>
                </a:extLst>
              </a:tr>
              <a:tr h="12897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Grow Slalom</a:t>
                      </a:r>
                      <a:r>
                        <a:rPr lang="en-US" sz="1100" b="1" dirty="0">
                          <a:latin typeface="+mj-lt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dirty="0">
                          <a:latin typeface="+mn-lt"/>
                        </a:rPr>
                        <a:t>Drive Sales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Dev Team member: </a:t>
                      </a:r>
                      <a:r>
                        <a:rPr lang="en-US" sz="1100" b="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&lt;Team Member 4&gt;</a:t>
                      </a:r>
                    </a:p>
                  </a:txBody>
                  <a:tcPr marL="121920" marR="121920" marT="60960" marB="60960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i="0" dirty="0">
                          <a:latin typeface="Slalom Sans Light" pitchFamily="2" charset="77"/>
                        </a:rPr>
                        <a:t>Begin to identify opportunities in client engagements that could drive business. </a:t>
                      </a:r>
                    </a:p>
                  </a:txBody>
                  <a:tcPr marL="121920" marR="121920" marT="60960" marB="60960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18872" indent="-118872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Understand how to identify a sales opportunity for additional business for Slalom.</a:t>
                      </a:r>
                    </a:p>
                    <a:p>
                      <a:pPr marL="118872" indent="-118872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dirty="0">
                          <a:latin typeface="Slalom Sans Light" pitchFamily="2" charset="77"/>
                        </a:rPr>
                        <a:t>Learn the language that needs to be used with clients for driving business opportunity.</a:t>
                      </a:r>
                    </a:p>
                  </a:txBody>
                  <a:tcPr marL="121920" marR="121920" marT="60960" marB="60960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17475" marR="0" lvl="0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dirty="0"/>
                        <a:t>Enroll in the 2 hour training workshop ‘Selling the Slalom Way’ on Workday.</a:t>
                      </a:r>
                    </a:p>
                    <a:p>
                      <a:pPr marL="117475" marR="0" lvl="0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dirty="0"/>
                        <a:t>Identify other resources on Workday that can be used to supplement the Sales Strategies learnt from the above workshop.</a:t>
                      </a:r>
                    </a:p>
                  </a:txBody>
                  <a:tcPr marL="121920" marR="121920" marT="60960" marB="60960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23194165"/>
                  </a:ext>
                </a:extLst>
              </a:tr>
            </a:tbl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B527CA-3FF4-A049-B606-00CB497E8123}"/>
              </a:ext>
            </a:extLst>
          </p:cNvPr>
          <p:cNvSpPr txBox="1">
            <a:spLocks/>
          </p:cNvSpPr>
          <p:nvPr/>
        </p:nvSpPr>
        <p:spPr>
          <a:xfrm>
            <a:off x="471881" y="281777"/>
            <a:ext cx="10962216" cy="49106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None/>
              <a:defRPr lang="en-US" sz="3200" b="1" kern="1200" spc="-93" baseline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789" indent="-201079" algn="l" defTabSz="121917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lang="en-US" sz="1467" b="1" kern="1200" spc="0" baseline="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09585" indent="-177796" algn="l" defTabSz="121917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lang="en-US" sz="1400" b="1" kern="1200" spc="0" baseline="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87380" indent="-177796" algn="l" defTabSz="121917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lang="en-US" sz="1333" b="1" kern="1200" spc="0" baseline="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39777" indent="-148163" algn="l" defTabSz="121917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lang="en-US" sz="1333" b="1" kern="1200" spc="0" baseline="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chemeClr val="tx1"/>
                </a:solidFill>
                <a:latin typeface="Slalom Sans Bold"/>
                <a:cs typeface="Arial"/>
              </a:rPr>
              <a:t>Firstname</a:t>
            </a:r>
            <a:r>
              <a:rPr lang="en-US" sz="2800" dirty="0">
                <a:solidFill>
                  <a:schemeClr val="tx1"/>
                </a:solidFill>
                <a:latin typeface="Slalom Sans Bold"/>
                <a:cs typeface="Arial"/>
              </a:rPr>
              <a:t> Lastname: Promotion Plan to Senior Consultant</a:t>
            </a:r>
            <a:endParaRPr lang="en-US" sz="2800" dirty="0">
              <a:solidFill>
                <a:schemeClr val="tx1"/>
              </a:solidFill>
              <a:latin typeface="Slalom Sans Bold Italic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133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1E1E1E"/>
      </a:dk1>
      <a:lt1>
        <a:srgbClr val="FFFFFF"/>
      </a:lt1>
      <a:dk2>
        <a:srgbClr val="767676"/>
      </a:dk2>
      <a:lt2>
        <a:srgbClr val="F9F9F9"/>
      </a:lt2>
      <a:accent1>
        <a:srgbClr val="0C62FB"/>
      </a:accent1>
      <a:accent2>
        <a:srgbClr val="09091C"/>
      </a:accent2>
      <a:accent3>
        <a:srgbClr val="9B9B9B"/>
      </a:accent3>
      <a:accent4>
        <a:srgbClr val="DBDBDB"/>
      </a:accent4>
      <a:accent5>
        <a:srgbClr val="BEF2FF"/>
      </a:accent5>
      <a:accent6>
        <a:srgbClr val="1BE1F2"/>
      </a:accent6>
      <a:hlink>
        <a:srgbClr val="0C61FB"/>
      </a:hlink>
      <a:folHlink>
        <a:srgbClr val="0C61FB"/>
      </a:folHlink>
    </a:clrScheme>
    <a:fontScheme name="Slalom Build fonts">
      <a:majorFont>
        <a:latin typeface="Slalom Sans Bold"/>
        <a:ea typeface=""/>
        <a:cs typeface=""/>
      </a:majorFont>
      <a:minorFont>
        <a:latin typeface="Slalom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182880" tIns="182880" rIns="91440" rtlCol="0" anchor="t"/>
      <a:lstStyle>
        <a:defPPr>
          <a:defRPr dirty="0" err="1" smtClean="0">
            <a:solidFill>
              <a:schemeClr val="accent2"/>
            </a:solidFill>
            <a:latin typeface="Slalom Sans Light" panose="00000400000000000000" pitchFamily="5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rtlCol="0">
        <a:noAutofit/>
      </a:bodyPr>
      <a:lstStyle>
        <a:defPPr>
          <a:defRPr sz="1600" dirty="0" err="1" smtClean="0">
            <a:latin typeface="Slalom Sans Light" panose="00000400000000000000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stin's Promotion Plan" id="{86F93D1B-DA04-4973-A7E9-D4EC227980BF}" vid="{3CBAA3D9-BBC5-498F-B576-FD823514AF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1ed68a3-87d4-4298-b722-dc55a2768043">
      <UserInfo>
        <DisplayName>Priya Arun</DisplayName>
        <AccountId>383</AccountId>
        <AccountType/>
      </UserInfo>
      <UserInfo>
        <DisplayName>Christine Cheung</DisplayName>
        <AccountId>737</AccountId>
        <AccountType/>
      </UserInfo>
      <UserInfo>
        <DisplayName>Amy Cater</DisplayName>
        <AccountId>49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5D2E345480E74CBA032E619C0F4637" ma:contentTypeVersion="13" ma:contentTypeDescription="Create a new document." ma:contentTypeScope="" ma:versionID="0b48da8bdc51bbf2131102dd5f0cae22">
  <xsd:schema xmlns:xsd="http://www.w3.org/2001/XMLSchema" xmlns:xs="http://www.w3.org/2001/XMLSchema" xmlns:p="http://schemas.microsoft.com/office/2006/metadata/properties" xmlns:ns2="02cea507-2910-40a5-9c4a-12a01cc35098" xmlns:ns3="81ed68a3-87d4-4298-b722-dc55a2768043" targetNamespace="http://schemas.microsoft.com/office/2006/metadata/properties" ma:root="true" ma:fieldsID="2a42722dc0aca7a4694556d8381469b9" ns2:_="" ns3:_="">
    <xsd:import namespace="02cea507-2910-40a5-9c4a-12a01cc35098"/>
    <xsd:import namespace="81ed68a3-87d4-4298-b722-dc55a27680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cea507-2910-40a5-9c4a-12a01cc350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ed68a3-87d4-4298-b722-dc55a276804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5D4DC5-A3E0-4CEE-9563-55726A5DAEAF}">
  <ds:schemaRefs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81ed68a3-87d4-4298-b722-dc55a2768043"/>
    <ds:schemaRef ds:uri="http://purl.org/dc/terms/"/>
    <ds:schemaRef ds:uri="http://schemas.microsoft.com/office/2006/documentManagement/types"/>
    <ds:schemaRef ds:uri="02cea507-2910-40a5-9c4a-12a01cc35098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7253755-6295-414B-B83B-A964004E36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71B796-130B-4BBD-9457-62A70C372EC5}">
  <ds:schemaRefs>
    <ds:schemaRef ds:uri="02cea507-2910-40a5-9c4a-12a01cc35098"/>
    <ds:schemaRef ds:uri="81ed68a3-87d4-4298-b722-dc55a27680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631</TotalTime>
  <Words>474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Sreya Chatterji</dc:creator>
  <cp:lastModifiedBy>Sreya Chatterji</cp:lastModifiedBy>
  <cp:revision>21</cp:revision>
  <dcterms:created xsi:type="dcterms:W3CDTF">2022-07-08T05:58:01Z</dcterms:created>
  <dcterms:modified xsi:type="dcterms:W3CDTF">2026-05-07T00:39:36Z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0x0101002D5D2E345480E74CBA032E619C0F4637</vt:lpwstr>
  </property>
  <property fmtid="{D5CDD505-2E9C-101B-9397-08002B2CF9AE}" pid="3" name="Order">
    <vt:r8>88600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</Properties>
</file>