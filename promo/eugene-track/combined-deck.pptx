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2194560"/>
            <a:ext cx="64008" cy="2103120"/>
          </a:xfrm>
          <a:prstGeom prst="rect">
            <a:avLst/>
          </a:prstGeom>
          <a:solidFill>
            <a:srgbClr val="209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286000"/>
            <a:ext cx="10515600" cy="1645920"/>
          </a:xfrm>
          <a:prstGeom prst="rect">
            <a:avLst/>
          </a:prstGeom>
          <a:noFill/>
        </p:spPr>
        <p:txBody>
          <a:bodyPr wrap="square" anchor="t" lIns="45720" rIns="45720" tIns="18288" bIns="18288">
            <a:spAutoFit/>
          </a:bodyPr>
          <a:lstStyle/>
          <a:p>
            <a:pPr algn="l"/>
            <a:r>
              <a:rPr sz="3400" b="1" i="0">
                <a:solidFill>
                  <a:srgbClr val="FFFFFF"/>
                </a:solidFill>
                <a:latin typeface="Calibri"/>
              </a:rPr>
              <a:t>Building a production RAG pipeline</a:t>
            </a:r>
          </a:p>
          <a:p>
            <a:pPr algn="l"/>
            <a:r>
              <a:rPr sz="3400" b="1" i="0">
                <a:solidFill>
                  <a:srgbClr val="FFFFFF"/>
                </a:solidFill>
                <a:latin typeface="Calibri"/>
              </a:rPr>
              <a:t>and conversational agent on 40 years of field data.</a:t>
            </a:r>
          </a:p>
        </p:txBody>
      </p:sp>
      <p:sp>
        <p:nvSpPr>
          <p:cNvPr id="5" name="TextBox 4"/>
          <p:cNvSpPr txBox="1"/>
          <p:nvPr/>
        </p:nvSpPr>
        <p:spPr>
          <a:xfrm>
            <a:off x="868680" y="4069080"/>
            <a:ext cx="10515600" cy="640080"/>
          </a:xfrm>
          <a:prstGeom prst="rect">
            <a:avLst/>
          </a:prstGeom>
          <a:noFill/>
        </p:spPr>
        <p:txBody>
          <a:bodyPr wrap="square" anchor="t" lIns="45720" rIns="45720" tIns="18288" bIns="18288">
            <a:spAutoFit/>
          </a:bodyPr>
          <a:lstStyle/>
          <a:p>
            <a:pPr algn="l"/>
            <a:r>
              <a:rPr sz="1600" b="0" i="1">
                <a:solidFill>
                  <a:srgbClr val="5FBCD3"/>
                </a:solidFill>
                <a:latin typeface="Calibri"/>
              </a:rPr>
              <a:t>An engagement I designed end-to-end — the architecture, the calls that mattered, and what would carry into the next build.</a:t>
            </a:r>
          </a:p>
        </p:txBody>
      </p:sp>
      <p:sp>
        <p:nvSpPr>
          <p:cNvPr id="6" name="TextBox 5"/>
          <p:cNvSpPr txBox="1"/>
          <p:nvPr/>
        </p:nvSpPr>
        <p:spPr>
          <a:xfrm>
            <a:off x="868680" y="5120640"/>
            <a:ext cx="10515600" cy="365760"/>
          </a:xfrm>
          <a:prstGeom prst="rect">
            <a:avLst/>
          </a:prstGeom>
          <a:noFill/>
        </p:spPr>
        <p:txBody>
          <a:bodyPr wrap="square" anchor="t" lIns="45720" rIns="45720" tIns="18288" bIns="18288">
            <a:spAutoFit/>
          </a:bodyPr>
          <a:lstStyle/>
          <a:p>
            <a:pPr algn="l"/>
            <a:r>
              <a:rPr sz="1400" b="0" i="0">
                <a:solidFill>
                  <a:srgbClr val="FFFFFF"/>
                </a:solidFill>
                <a:latin typeface="Calibri"/>
              </a:rPr>
              <a:t>Madhurima Saxena</a:t>
            </a:r>
          </a:p>
        </p:txBody>
      </p:sp>
      <p:sp>
        <p:nvSpPr>
          <p:cNvPr id="7" name="TextBox 6"/>
          <p:cNvSpPr txBox="1"/>
          <p:nvPr/>
        </p:nvSpPr>
        <p:spPr>
          <a:xfrm>
            <a:off x="868680" y="5486400"/>
            <a:ext cx="10515600" cy="365760"/>
          </a:xfrm>
          <a:prstGeom prst="rect">
            <a:avLst/>
          </a:prstGeom>
          <a:noFill/>
        </p:spPr>
        <p:txBody>
          <a:bodyPr wrap="square" anchor="t" lIns="45720" rIns="45720" tIns="18288" bIns="18288">
            <a:spAutoFit/>
          </a:bodyPr>
          <a:lstStyle/>
          <a:p>
            <a:pPr algn="l"/>
            <a:r>
              <a:rPr sz="1100" b="0" i="1">
                <a:solidFill>
                  <a:srgbClr val="5FBCD3"/>
                </a:solidFill>
                <a:latin typeface="Calibri"/>
              </a:rPr>
              <a:t>Arch-Hive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The problem.</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Decades of operational history. Critical risk signals buried in unstructured reports. Outage planning that gets locked in two years out.</a:t>
            </a:r>
          </a:p>
        </p:txBody>
      </p:sp>
      <p:sp>
        <p:nvSpPr>
          <p:cNvPr id="5" name="TextBox 4"/>
          <p:cNvSpPr txBox="1"/>
          <p:nvPr/>
        </p:nvSpPr>
        <p:spPr>
          <a:xfrm>
            <a:off x="640080" y="1737360"/>
            <a:ext cx="3520440" cy="3566160"/>
          </a:xfrm>
          <a:prstGeom prst="rect">
            <a:avLst/>
          </a:prstGeom>
          <a:noFill/>
        </p:spPr>
        <p:txBody>
          <a:bodyPr wrap="square" lIns="73152">
            <a:spAutoFit/>
          </a:bodyPr>
          <a:lstStyle/>
          <a:p>
            <a:r>
              <a:rPr sz="1400" b="1">
                <a:solidFill>
                  <a:srgbClr val="2095B2"/>
                </a:solidFill>
                <a:latin typeface="Calibri"/>
              </a:rPr>
              <a:t>The business stakes.</a:t>
            </a:r>
          </a:p>
          <a:p>
            <a:pPr>
              <a:spcAft>
                <a:spcPts val="200"/>
              </a:spcAft>
            </a:pPr>
            <a:r>
              <a:rPr sz="1300">
                <a:solidFill>
                  <a:srgbClr val="0E1B2C"/>
                </a:solidFill>
                <a:latin typeface="Calibri"/>
              </a:rPr>
              <a:t>Outage planning runs ~2 years in advance. Taking equipment offline affects the whole grid.</a:t>
            </a:r>
          </a:p>
          <a:p>
            <a:pPr>
              <a:spcAft>
                <a:spcPts val="200"/>
              </a:spcAft>
            </a:pPr>
            <a:r>
              <a:rPr sz="1300">
                <a:solidFill>
                  <a:srgbClr val="0E1B2C"/>
                </a:solidFill>
                <a:latin typeface="Calibri"/>
              </a:rPr>
              <a:t>A missed risk signal in the data → unplanned downtime, safety risk, broken service commitments.</a:t>
            </a:r>
          </a:p>
          <a:p>
            <a:pPr>
              <a:spcAft>
                <a:spcPts val="200"/>
              </a:spcAft>
            </a:pPr>
            <a:r>
              <a:rPr sz="1300">
                <a:solidFill>
                  <a:srgbClr val="0E1B2C"/>
                </a:solidFill>
                <a:latin typeface="Calibri"/>
              </a:rPr>
              <a:t>Today: SMEs spend massive manual hours doing 'crystal-ball' risk assessments by hand.</a:t>
            </a:r>
          </a:p>
        </p:txBody>
      </p:sp>
      <p:sp>
        <p:nvSpPr>
          <p:cNvPr id="6" name="TextBox 5"/>
          <p:cNvSpPr txBox="1"/>
          <p:nvPr/>
        </p:nvSpPr>
        <p:spPr>
          <a:xfrm>
            <a:off x="4343400" y="1737360"/>
            <a:ext cx="3520440" cy="3566160"/>
          </a:xfrm>
          <a:prstGeom prst="rect">
            <a:avLst/>
          </a:prstGeom>
          <a:noFill/>
        </p:spPr>
        <p:txBody>
          <a:bodyPr wrap="square" lIns="73152">
            <a:spAutoFit/>
          </a:bodyPr>
          <a:lstStyle/>
          <a:p>
            <a:r>
              <a:rPr sz="1400" b="1">
                <a:solidFill>
                  <a:srgbClr val="2095B2"/>
                </a:solidFill>
                <a:latin typeface="Calibri"/>
              </a:rPr>
              <a:t>The data reality.</a:t>
            </a:r>
          </a:p>
          <a:p>
            <a:pPr>
              <a:spcAft>
                <a:spcPts val="200"/>
              </a:spcAft>
            </a:pPr>
            <a:r>
              <a:rPr sz="1300">
                <a:solidFill>
                  <a:srgbClr val="0E1B2C"/>
                </a:solidFill>
                <a:latin typeface="Calibri"/>
              </a:rPr>
              <a:t>Power-plant assets running up to 40 years. Decades of field service reports + scattered sources.</a:t>
            </a:r>
          </a:p>
          <a:p>
            <a:pPr>
              <a:spcAft>
                <a:spcPts val="200"/>
              </a:spcAft>
            </a:pPr>
            <a:r>
              <a:rPr sz="1300">
                <a:solidFill>
                  <a:srgbClr val="0E1B2C"/>
                </a:solidFill>
                <a:latin typeface="Calibri"/>
              </a:rPr>
              <a:t>Critical risk indicators live in unstructured PDFs of mixed scan quality.</a:t>
            </a:r>
          </a:p>
          <a:p>
            <a:pPr>
              <a:spcAft>
                <a:spcPts val="200"/>
              </a:spcAft>
            </a:pPr>
            <a:r>
              <a:rPr sz="1300">
                <a:solidFill>
                  <a:srgbClr val="0E1B2C"/>
                </a:solidFill>
                <a:latin typeface="Calibri"/>
              </a:rPr>
              <a:t>MVP scope: ~18K reports from 2010 onward — designed to scale to the full multi-decade corpus and more unit types later.</a:t>
            </a:r>
          </a:p>
        </p:txBody>
      </p:sp>
      <p:sp>
        <p:nvSpPr>
          <p:cNvPr id="7" name="TextBox 6"/>
          <p:cNvSpPr txBox="1"/>
          <p:nvPr/>
        </p:nvSpPr>
        <p:spPr>
          <a:xfrm>
            <a:off x="8046720" y="1737360"/>
            <a:ext cx="3520440" cy="3566160"/>
          </a:xfrm>
          <a:prstGeom prst="rect">
            <a:avLst/>
          </a:prstGeom>
          <a:noFill/>
        </p:spPr>
        <p:txBody>
          <a:bodyPr wrap="square" lIns="73152">
            <a:spAutoFit/>
          </a:bodyPr>
          <a:lstStyle/>
          <a:p>
            <a:r>
              <a:rPr sz="1400" b="1">
                <a:solidFill>
                  <a:srgbClr val="2095B2"/>
                </a:solidFill>
                <a:latin typeface="Calibri"/>
              </a:rPr>
              <a:t>Why RAG fit.</a:t>
            </a:r>
          </a:p>
          <a:p>
            <a:pPr>
              <a:spcAft>
                <a:spcPts val="200"/>
              </a:spcAft>
            </a:pPr>
            <a:r>
              <a:rPr sz="1300">
                <a:solidFill>
                  <a:srgbClr val="0E1B2C"/>
                </a:solidFill>
                <a:latin typeface="Calibri"/>
              </a:rPr>
              <a:t>Important signals often show up as a small note or single sentence in one report — a needle-in-haystack retrieval problem, not a generation one.</a:t>
            </a:r>
          </a:p>
          <a:p>
            <a:pPr>
              <a:spcAft>
                <a:spcPts val="200"/>
              </a:spcAft>
            </a:pPr>
            <a:r>
              <a:rPr sz="1300">
                <a:solidFill>
                  <a:srgbClr val="0E1B2C"/>
                </a:solidFill>
                <a:latin typeface="Calibri"/>
              </a:rPr>
              <a:t>LLM reads what got pulled — engineers stay in the loop, model doesn't invent.</a:t>
            </a:r>
          </a:p>
          <a:p>
            <a:pPr>
              <a:spcAft>
                <a:spcPts val="200"/>
              </a:spcAft>
            </a:pPr>
            <a:r>
              <a:rPr sz="1300">
                <a:solidFill>
                  <a:srgbClr val="0E1B2C"/>
                </a:solidFill>
                <a:latin typeface="Calibri"/>
              </a:rPr>
              <a:t>Hard part: making retrieval reliable across 18K docs and 1.09M chunks.</a:t>
            </a:r>
          </a:p>
        </p:txBody>
      </p:sp>
      <p:sp>
        <p:nvSpPr>
          <p:cNvPr id="8" name="Rounded Rectangle 7"/>
          <p:cNvSpPr/>
          <p:nvPr/>
        </p:nvSpPr>
        <p:spPr>
          <a:xfrm>
            <a:off x="640080" y="5486400"/>
            <a:ext cx="10881360" cy="822960"/>
          </a:xfrm>
          <a:prstGeom prst="roundRect">
            <a:avLst/>
          </a:prstGeom>
          <a:solidFill>
            <a:srgbClr val="EFF4F8"/>
          </a:solidFill>
          <a:ln w="9525">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5486400"/>
            <a:ext cx="73152" cy="822960"/>
          </a:xfrm>
          <a:prstGeom prst="rect">
            <a:avLst/>
          </a:prstGeom>
          <a:solidFill>
            <a:srgbClr val="209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607040" cy="640080"/>
          </a:xfrm>
          <a:prstGeom prst="rect">
            <a:avLst/>
          </a:prstGeom>
          <a:noFill/>
        </p:spPr>
        <p:txBody>
          <a:bodyPr wrap="square">
            <a:spAutoFit/>
          </a:bodyPr>
          <a:lstStyle/>
          <a:p>
            <a:r>
              <a:rPr sz="1300" b="1">
                <a:solidFill>
                  <a:srgbClr val="2095B2"/>
                </a:solidFill>
                <a:latin typeface="Calibri"/>
              </a:rPr>
              <a:t>Phase-1 MVP — narrow on purpose. </a:t>
            </a:r>
            <a:r>
              <a:rPr sz="1300">
                <a:solidFill>
                  <a:srgbClr val="0E1B2C"/>
                </a:solidFill>
                <a:latin typeface="Calibri"/>
              </a:rPr>
              <a:t>One unit at a time, gas turbines and generators first. Prove value before expanding to fleet-level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ounded Rectangle 5"/>
          <p:cNvSpPr/>
          <p:nvPr/>
        </p:nvSpPr>
        <p:spPr>
          <a:xfrm>
            <a:off x="2651760" y="2148840"/>
            <a:ext cx="4206240" cy="2926080"/>
          </a:xfrm>
          <a:prstGeom prst="roundRect">
            <a:avLst>
              <a:gd name="adj" fmla="val 5000"/>
            </a:avLst>
          </a:prstGeom>
          <a:solidFill>
            <a:srgbClr val="DFF1FD"/>
          </a:solidFill>
          <a:ln w="9525">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What got built.</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Two agents sharing one index. Today we walk the pipeline and the QA agent.</a:t>
            </a:r>
          </a:p>
        </p:txBody>
      </p:sp>
      <p:sp>
        <p:nvSpPr>
          <p:cNvPr id="5" name="Can 4"/>
          <p:cNvSpPr/>
          <p:nvPr/>
        </p:nvSpPr>
        <p:spPr>
          <a:xfrm>
            <a:off x="731520" y="3063240"/>
            <a:ext cx="1463040" cy="1097280"/>
          </a:xfrm>
          <a:prstGeom prst="can">
            <a:avLst/>
          </a:prstGeom>
          <a:solidFill>
            <a:srgbClr val="FFFFFF"/>
          </a:solidFill>
          <a:ln w="12700">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1" i="0">
                <a:solidFill>
                  <a:srgbClr val="0E1B2C"/>
                </a:solidFill>
                <a:latin typeface="Calibri"/>
              </a:rPr>
              <a:t>Source PDFs</a:t>
            </a:r>
          </a:p>
          <a:p>
            <a:pPr algn="ctr"/>
            <a:r>
              <a:rPr sz="1000" b="0" i="1">
                <a:solidFill>
                  <a:srgbClr val="4A5D71"/>
                </a:solidFill>
                <a:latin typeface="Calibri"/>
              </a:rPr>
              <a:t>~18K, decades of FSRs</a:t>
            </a:r>
          </a:p>
        </p:txBody>
      </p:sp>
      <p:sp>
        <p:nvSpPr>
          <p:cNvPr id="7" name="TextBox 6"/>
          <p:cNvSpPr txBox="1"/>
          <p:nvPr/>
        </p:nvSpPr>
        <p:spPr>
          <a:xfrm>
            <a:off x="2788920" y="2194560"/>
            <a:ext cx="4206240" cy="274320"/>
          </a:xfrm>
          <a:prstGeom prst="rect">
            <a:avLst/>
          </a:prstGeom>
          <a:noFill/>
        </p:spPr>
        <p:txBody>
          <a:bodyPr wrap="none" lIns="0" tIns="0">
            <a:spAutoFit/>
          </a:bodyPr>
          <a:lstStyle/>
          <a:p>
            <a:pPr algn="l"/>
            <a:r>
              <a:rPr sz="1000" i="1" b="1">
                <a:solidFill>
                  <a:srgbClr val="2095B2"/>
                </a:solidFill>
                <a:latin typeface="Calibri"/>
              </a:rPr>
              <a:t>FSR pipeline  ·  walking through today</a:t>
            </a:r>
          </a:p>
        </p:txBody>
      </p:sp>
      <p:sp>
        <p:nvSpPr>
          <p:cNvPr id="8" name="Rectangle 7"/>
          <p:cNvSpPr/>
          <p:nvPr/>
        </p:nvSpPr>
        <p:spPr>
          <a:xfrm>
            <a:off x="2788920" y="2560320"/>
            <a:ext cx="3931920" cy="685800"/>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Metadata extraction + registration</a:t>
            </a:r>
          </a:p>
        </p:txBody>
      </p:sp>
      <p:cxnSp>
        <p:nvCxnSpPr>
          <p:cNvPr id="9" name="Connector 8"/>
          <p:cNvCxnSpPr/>
          <p:nvPr/>
        </p:nvCxnSpPr>
        <p:spPr>
          <a:xfrm>
            <a:off x="4754880.0" y="3246120.0"/>
            <a:ext cx="0.0" cy="137160.0"/>
          </a:xfrm>
          <a:prstGeom prst="line">
            <a:avLst/>
          </a:prstGeom>
          <a:ln w="15875">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788920" y="3383280"/>
            <a:ext cx="3931920" cy="685800"/>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Chunking + embedding</a:t>
            </a:r>
          </a:p>
        </p:txBody>
      </p:sp>
      <p:cxnSp>
        <p:nvCxnSpPr>
          <p:cNvPr id="11" name="Connector 10"/>
          <p:cNvCxnSpPr/>
          <p:nvPr/>
        </p:nvCxnSpPr>
        <p:spPr>
          <a:xfrm>
            <a:off x="4754880.0" y="4069080.0"/>
            <a:ext cx="0.0" cy="137160.0"/>
          </a:xfrm>
          <a:prstGeom prst="line">
            <a:avLst/>
          </a:prstGeom>
          <a:ln w="15875">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788920" y="4206240"/>
            <a:ext cx="3931920" cy="685800"/>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Status-driven backfill + incremental</a:t>
            </a:r>
          </a:p>
        </p:txBody>
      </p:sp>
      <p:sp>
        <p:nvSpPr>
          <p:cNvPr id="13" name="Can 12"/>
          <p:cNvSpPr/>
          <p:nvPr/>
        </p:nvSpPr>
        <p:spPr>
          <a:xfrm>
            <a:off x="7315200" y="3063240"/>
            <a:ext cx="1554480" cy="1097280"/>
          </a:xfrm>
          <a:prstGeom prst="can">
            <a:avLst/>
          </a:prstGeom>
          <a:solidFill>
            <a:srgbClr val="0E1B2C"/>
          </a:solidFill>
          <a:ln w="2540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1" i="0">
                <a:solidFill>
                  <a:srgbClr val="FFFFFF"/>
                </a:solidFill>
                <a:latin typeface="Calibri"/>
              </a:rPr>
              <a:t>Vector Search</a:t>
            </a:r>
          </a:p>
          <a:p>
            <a:pPr algn="ctr"/>
            <a:r>
              <a:rPr sz="1000" b="0" i="1">
                <a:solidFill>
                  <a:srgbClr val="5FBCD3"/>
                </a:solidFill>
                <a:latin typeface="Calibri"/>
              </a:rPr>
              <a:t>shared index</a:t>
            </a:r>
          </a:p>
        </p:txBody>
      </p:sp>
      <p:sp>
        <p:nvSpPr>
          <p:cNvPr id="14" name="Rectangle 13"/>
          <p:cNvSpPr/>
          <p:nvPr/>
        </p:nvSpPr>
        <p:spPr>
          <a:xfrm>
            <a:off x="9326880" y="2468880"/>
            <a:ext cx="2011680" cy="1051560"/>
          </a:xfrm>
          <a:prstGeom prst="rect">
            <a:avLst/>
          </a:prstGeom>
          <a:solidFill>
            <a:srgbClr val="EFF4F8"/>
          </a:solidFill>
          <a:ln w="2540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1" i="0">
                <a:solidFill>
                  <a:srgbClr val="0E1B2C"/>
                </a:solidFill>
                <a:latin typeface="Calibri"/>
              </a:rPr>
              <a:t>AdHoc QA agent</a:t>
            </a:r>
          </a:p>
          <a:p>
            <a:pPr algn="ctr"/>
            <a:r>
              <a:rPr sz="1000" b="0" i="1">
                <a:solidFill>
                  <a:srgbClr val="4A5D71"/>
                </a:solidFill>
                <a:latin typeface="Calibri"/>
              </a:rPr>
              <a:t>conversational QA</a:t>
            </a:r>
          </a:p>
          <a:p>
            <a:pPr algn="ctr"/>
            <a:r>
              <a:rPr sz="900" b="0" i="1">
                <a:solidFill>
                  <a:srgbClr val="2095B2"/>
                </a:solidFill>
                <a:latin typeface="Calibri"/>
              </a:rPr>
              <a:t>walking through today</a:t>
            </a:r>
          </a:p>
        </p:txBody>
      </p:sp>
      <p:sp>
        <p:nvSpPr>
          <p:cNvPr id="15" name="Rectangle 14"/>
          <p:cNvSpPr/>
          <p:nvPr/>
        </p:nvSpPr>
        <p:spPr>
          <a:xfrm>
            <a:off x="9326880" y="3703320"/>
            <a:ext cx="2011680" cy="1051560"/>
          </a:xfrm>
          <a:prstGeom prst="rect">
            <a:avLst/>
          </a:prstGeom>
          <a:solidFill>
            <a:srgbClr val="F2F2F2"/>
          </a:solidFill>
          <a:ln w="12700">
            <a:solidFill>
              <a:srgbClr val="B0B0B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1" i="0">
                <a:solidFill>
                  <a:srgbClr val="4A5D71"/>
                </a:solidFill>
                <a:latin typeface="Calibri"/>
              </a:rPr>
              <a:t>Unit Risk agent</a:t>
            </a:r>
          </a:p>
          <a:p>
            <a:pPr algn="ctr"/>
            <a:r>
              <a:rPr sz="1000" b="0" i="1">
                <a:solidFill>
                  <a:srgbClr val="4A5D71"/>
                </a:solidFill>
                <a:latin typeface="Calibri"/>
              </a:rPr>
              <a:t>proactive risk signals</a:t>
            </a:r>
          </a:p>
          <a:p>
            <a:pPr algn="ctr"/>
            <a:r>
              <a:rPr sz="900" b="0" i="1">
                <a:solidFill>
                  <a:srgbClr val="4A5D71"/>
                </a:solidFill>
                <a:latin typeface="Calibri"/>
              </a:rPr>
              <a:t>different team · context only</a:t>
            </a:r>
          </a:p>
        </p:txBody>
      </p:sp>
      <p:cxnSp>
        <p:nvCxnSpPr>
          <p:cNvPr id="16" name="Connector 15"/>
          <p:cNvCxnSpPr/>
          <p:nvPr/>
        </p:nvCxnSpPr>
        <p:spPr>
          <a:xfrm>
            <a:off x="2194560" y="3611880.0"/>
            <a:ext cx="457200" cy="0.0"/>
          </a:xfrm>
          <a:prstGeom prst="line">
            <a:avLst/>
          </a:prstGeom>
          <a:ln w="15875">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3611880.0"/>
            <a:ext cx="457200" cy="0.0"/>
          </a:xfrm>
          <a:prstGeom prst="line">
            <a:avLst/>
          </a:prstGeom>
          <a:ln w="22225">
            <a:solidFill>
              <a:srgbClr val="2095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869680" y="2994660.0"/>
            <a:ext cx="457200" cy="617220.0"/>
          </a:xfrm>
          <a:prstGeom prst="line">
            <a:avLst/>
          </a:prstGeom>
          <a:ln w="15875">
            <a:solidFill>
              <a:srgbClr val="2095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69680" y="3611880.0"/>
            <a:ext cx="457200" cy="617220.0"/>
          </a:xfrm>
          <a:prstGeom prst="line">
            <a:avLst/>
          </a:prstGeom>
          <a:ln w="15875">
            <a:solidFill>
              <a:srgbClr val="B0B0B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5760720"/>
            <a:ext cx="10881360" cy="548640"/>
          </a:xfrm>
          <a:prstGeom prst="rect">
            <a:avLst/>
          </a:prstGeom>
          <a:noFill/>
        </p:spPr>
        <p:txBody>
          <a:bodyPr wrap="square" anchor="t" lIns="45720" rIns="45720" tIns="18288" bIns="18288">
            <a:spAutoFit/>
          </a:bodyPr>
          <a:lstStyle/>
          <a:p>
            <a:pPr algn="l"/>
            <a:r>
              <a:rPr sz="1200" b="0" i="1">
                <a:solidFill>
                  <a:srgbClr val="4A5D71"/>
                </a:solidFill>
                <a:latin typeface="Calibri"/>
              </a:rPr>
              <a:t>The risk agent runs on the same index but a different team built it — on the diagram for context, not for a walkthrough of its internals.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The stack — and what shipped it.</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What runs in prod, what built it. Vendor-neutral after this — the rest of the deck is patterns.</a:t>
            </a:r>
          </a:p>
        </p:txBody>
      </p:sp>
      <p:sp>
        <p:nvSpPr>
          <p:cNvPr id="5" name="Rectangle 4"/>
          <p:cNvSpPr/>
          <p:nvPr/>
        </p:nvSpPr>
        <p:spPr>
          <a:xfrm>
            <a:off x="6400800" y="1600200"/>
            <a:ext cx="12700" cy="4754880"/>
          </a:xfrm>
          <a:prstGeom prst="rect">
            <a:avLst/>
          </a:prstGeom>
          <a:solidFill>
            <a:srgbClr val="5FB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5486400" cy="320040"/>
          </a:xfrm>
          <a:prstGeom prst="rect">
            <a:avLst/>
          </a:prstGeom>
          <a:noFill/>
        </p:spPr>
        <p:txBody>
          <a:bodyPr wrap="square" anchor="t" lIns="45720" rIns="45720" tIns="18288" bIns="18288">
            <a:spAutoFit/>
          </a:bodyPr>
          <a:lstStyle/>
          <a:p>
            <a:pPr algn="l"/>
            <a:r>
              <a:rPr sz="1500" b="1" i="0">
                <a:solidFill>
                  <a:srgbClr val="2095B2"/>
                </a:solidFill>
                <a:latin typeface="Calibri"/>
              </a:rPr>
              <a:t>Production stack</a:t>
            </a:r>
          </a:p>
        </p:txBody>
      </p:sp>
      <p:sp>
        <p:nvSpPr>
          <p:cNvPr id="7" name="TextBox 6"/>
          <p:cNvSpPr txBox="1"/>
          <p:nvPr/>
        </p:nvSpPr>
        <p:spPr>
          <a:xfrm>
            <a:off x="640080" y="2011680"/>
            <a:ext cx="5486400" cy="4754880"/>
          </a:xfrm>
          <a:prstGeom prst="rect">
            <a:avLst/>
          </a:prstGeom>
          <a:noFill/>
        </p:spPr>
        <p:txBody>
          <a:bodyPr wrap="square" lIns="45720">
            <a:spAutoFit/>
          </a:bodyPr>
          <a:lstStyle/>
          <a:p>
            <a:pPr>
              <a:spcAft>
                <a:spcPts val="300"/>
              </a:spcAft>
            </a:pPr>
            <a:r>
              <a:rPr sz="1100" b="1">
                <a:solidFill>
                  <a:srgbClr val="0E1B2C"/>
                </a:solidFill>
                <a:latin typeface="Calibri"/>
              </a:rPr>
              <a:t>• Data + pipeline</a:t>
            </a:r>
          </a:p>
          <a:p>
            <a:pPr lvl="1">
              <a:spcAft>
                <a:spcPts val="300"/>
              </a:spcAft>
            </a:pPr>
            <a:r>
              <a:rPr sz="1100" b="0">
                <a:solidFill>
                  <a:srgbClr val="0E1B2C"/>
                </a:solidFill>
                <a:latin typeface="Calibri"/>
              </a:rPr>
              <a:t>  – Databricks — Unity Catalog, Workflows, Delta Lake (Bronze/Silver/Gold), Spark, Databricks Vector Search (DELTA_SYNC TRIGGERED).</a:t>
            </a:r>
          </a:p>
          <a:p>
            <a:pPr>
              <a:spcAft>
                <a:spcPts val="300"/>
              </a:spcAft>
            </a:pPr>
            <a:r>
              <a:rPr sz="1100" b="1">
                <a:solidFill>
                  <a:srgbClr val="0E1B2C"/>
                </a:solidFill>
                <a:latin typeface="Calibri"/>
              </a:rPr>
              <a:t>• Agent runtime + serving</a:t>
            </a:r>
          </a:p>
          <a:p>
            <a:pPr lvl="1">
              <a:spcAft>
                <a:spcPts val="300"/>
              </a:spcAft>
            </a:pPr>
            <a:r>
              <a:rPr sz="1100" b="0">
                <a:solidFill>
                  <a:srgbClr val="0E1B2C"/>
                </a:solidFill>
                <a:latin typeface="Calibri"/>
              </a:rPr>
              <a:t>  – AWS Strands — agentic framework. ReAct loop, tool execution, session-store integration.</a:t>
            </a:r>
          </a:p>
          <a:p>
            <a:pPr lvl="1">
              <a:spcAft>
                <a:spcPts val="300"/>
              </a:spcAft>
            </a:pPr>
            <a:r>
              <a:rPr sz="1100" b="0">
                <a:solidFill>
                  <a:srgbClr val="0E1B2C"/>
                </a:solidFill>
                <a:latin typeface="Calibri"/>
              </a:rPr>
              <a:t>  – LiteLLM — one gateway in front of every frontier model. One proxy, one auth, one observability surface.</a:t>
            </a:r>
          </a:p>
          <a:p>
            <a:pPr lvl="1">
              <a:spcAft>
                <a:spcPts val="300"/>
              </a:spcAft>
            </a:pPr>
            <a:r>
              <a:rPr sz="1100" b="0">
                <a:solidFill>
                  <a:srgbClr val="0E1B2C"/>
                </a:solidFill>
                <a:latin typeface="Calibri"/>
              </a:rPr>
              <a:t>  – MCP — how internal tools and reference-data services are exposed to the agent. Same pattern used build-side.</a:t>
            </a:r>
          </a:p>
          <a:p>
            <a:pPr lvl="1">
              <a:spcAft>
                <a:spcPts val="300"/>
              </a:spcAft>
            </a:pPr>
            <a:r>
              <a:rPr sz="1100" b="0">
                <a:solidFill>
                  <a:srgbClr val="0E1B2C"/>
                </a:solidFill>
                <a:latin typeface="Calibri"/>
              </a:rPr>
              <a:t>  – FastAPI on ECS Fargate — streaming HTTP for the agent service.</a:t>
            </a:r>
          </a:p>
          <a:p>
            <a:pPr lvl="1">
              <a:spcAft>
                <a:spcPts val="300"/>
              </a:spcAft>
            </a:pPr>
            <a:r>
              <a:rPr sz="1100" b="0">
                <a:solidFill>
                  <a:srgbClr val="0E1B2C"/>
                </a:solidFill>
                <a:latin typeface="Calibri"/>
              </a:rPr>
              <a:t>  – Amazon S3 — managed session store, scoped per user.</a:t>
            </a:r>
          </a:p>
          <a:p>
            <a:pPr lvl="1">
              <a:spcAft>
                <a:spcPts val="300"/>
              </a:spcAft>
            </a:pPr>
            <a:r>
              <a:rPr sz="1100" b="0">
                <a:solidFill>
                  <a:srgbClr val="0E1B2C"/>
                </a:solidFill>
                <a:latin typeface="Calibri"/>
              </a:rPr>
              <a:t>  – Amazon CloudWatch — logs + metrics.</a:t>
            </a:r>
          </a:p>
          <a:p>
            <a:pPr>
              <a:spcAft>
                <a:spcPts val="300"/>
              </a:spcAft>
            </a:pPr>
            <a:r>
              <a:rPr sz="1100" b="1">
                <a:solidFill>
                  <a:srgbClr val="0E1B2C"/>
                </a:solidFill>
                <a:latin typeface="Calibri"/>
              </a:rPr>
              <a:t>• Embeddings + retrieval</a:t>
            </a:r>
          </a:p>
          <a:p>
            <a:pPr lvl="1">
              <a:spcAft>
                <a:spcPts val="300"/>
              </a:spcAft>
            </a:pPr>
            <a:r>
              <a:rPr sz="1100" b="0">
                <a:solidFill>
                  <a:srgbClr val="0E1B2C"/>
                </a:solidFill>
                <a:latin typeface="Calibri"/>
              </a:rPr>
              <a:t>  – OpenAI text-embedding-3-large (3072 dims), called through LiteLLM.</a:t>
            </a:r>
          </a:p>
          <a:p>
            <a:pPr lvl="1">
              <a:spcAft>
                <a:spcPts val="300"/>
              </a:spcAft>
            </a:pPr>
            <a:r>
              <a:rPr sz="1100" b="0">
                <a:solidFill>
                  <a:srgbClr val="0E1B2C"/>
                </a:solidFill>
                <a:latin typeface="Calibri"/>
              </a:rPr>
              <a:t>  – Databricks Vector Search with deterministic pre-filtering before semantic ranking.</a:t>
            </a:r>
          </a:p>
        </p:txBody>
      </p:sp>
      <p:sp>
        <p:nvSpPr>
          <p:cNvPr id="8" name="TextBox 7"/>
          <p:cNvSpPr txBox="1"/>
          <p:nvPr/>
        </p:nvSpPr>
        <p:spPr>
          <a:xfrm>
            <a:off x="6675120" y="1600200"/>
            <a:ext cx="5486400" cy="320040"/>
          </a:xfrm>
          <a:prstGeom prst="rect">
            <a:avLst/>
          </a:prstGeom>
          <a:noFill/>
        </p:spPr>
        <p:txBody>
          <a:bodyPr wrap="square" anchor="t" lIns="45720" rIns="45720" tIns="18288" bIns="18288">
            <a:spAutoFit/>
          </a:bodyPr>
          <a:lstStyle/>
          <a:p>
            <a:pPr algn="l"/>
            <a:r>
              <a:rPr sz="1500" b="1" i="0">
                <a:solidFill>
                  <a:srgbClr val="2095B2"/>
                </a:solidFill>
                <a:latin typeface="Calibri"/>
              </a:rPr>
              <a:t>Build-time tooling</a:t>
            </a:r>
          </a:p>
        </p:txBody>
      </p:sp>
      <p:sp>
        <p:nvSpPr>
          <p:cNvPr id="9" name="TextBox 8"/>
          <p:cNvSpPr txBox="1"/>
          <p:nvPr/>
        </p:nvSpPr>
        <p:spPr>
          <a:xfrm>
            <a:off x="6675120" y="2011680"/>
            <a:ext cx="5486400" cy="2011680"/>
          </a:xfrm>
          <a:prstGeom prst="rect">
            <a:avLst/>
          </a:prstGeom>
          <a:noFill/>
        </p:spPr>
        <p:txBody>
          <a:bodyPr wrap="square" lIns="45720">
            <a:spAutoFit/>
          </a:bodyPr>
          <a:lstStyle/>
          <a:p>
            <a:pPr>
              <a:spcAft>
                <a:spcPts val="300"/>
              </a:spcAft>
            </a:pPr>
            <a:r>
              <a:rPr sz="1100" b="0">
                <a:solidFill>
                  <a:srgbClr val="0E1B2C"/>
                </a:solidFill>
                <a:latin typeface="Calibri"/>
              </a:rPr>
              <a:t>• Claude Code — design scaffolds, larger refactors, multi-file edits, PR review passes. Most of the leverage came from here.</a:t>
            </a:r>
          </a:p>
          <a:p>
            <a:pPr>
              <a:spcAft>
                <a:spcPts val="300"/>
              </a:spcAft>
            </a:pPr>
            <a:r>
              <a:rPr sz="1100" b="0">
                <a:solidFill>
                  <a:srgbClr val="0E1B2C"/>
                </a:solidFill>
                <a:latin typeface="Calibri"/>
              </a:rPr>
              <a:t>• GitHub Copilot — in-editor completion, inline edits, smaller refactors.</a:t>
            </a:r>
          </a:p>
          <a:p>
            <a:pPr>
              <a:spcAft>
                <a:spcPts val="300"/>
              </a:spcAft>
            </a:pPr>
            <a:r>
              <a:rPr sz="1100" b="0">
                <a:solidFill>
                  <a:srgbClr val="0E1B2C"/>
                </a:solidFill>
                <a:latin typeface="Calibri"/>
              </a:rPr>
              <a:t>• VS Code + Copilot Chat — the design and review surface.</a:t>
            </a:r>
          </a:p>
        </p:txBody>
      </p:sp>
      <p:sp>
        <p:nvSpPr>
          <p:cNvPr id="10" name="TextBox 9"/>
          <p:cNvSpPr txBox="1"/>
          <p:nvPr/>
        </p:nvSpPr>
        <p:spPr>
          <a:xfrm>
            <a:off x="6675120" y="4069080"/>
            <a:ext cx="5486400" cy="320040"/>
          </a:xfrm>
          <a:prstGeom prst="rect">
            <a:avLst/>
          </a:prstGeom>
          <a:noFill/>
        </p:spPr>
        <p:txBody>
          <a:bodyPr wrap="square" anchor="t" lIns="45720" rIns="45720" tIns="18288" bIns="18288">
            <a:spAutoFit/>
          </a:bodyPr>
          <a:lstStyle/>
          <a:p>
            <a:pPr algn="l"/>
            <a:r>
              <a:rPr sz="1500" b="1" i="0">
                <a:solidFill>
                  <a:srgbClr val="2095B2"/>
                </a:solidFill>
                <a:latin typeface="Calibri"/>
              </a:rPr>
              <a:t>Happy to go deeper on</a:t>
            </a:r>
          </a:p>
        </p:txBody>
      </p:sp>
      <p:sp>
        <p:nvSpPr>
          <p:cNvPr id="11" name="TextBox 10"/>
          <p:cNvSpPr txBox="1"/>
          <p:nvPr/>
        </p:nvSpPr>
        <p:spPr>
          <a:xfrm>
            <a:off x="6675120" y="4480560"/>
            <a:ext cx="5486400" cy="2743200"/>
          </a:xfrm>
          <a:prstGeom prst="rect">
            <a:avLst/>
          </a:prstGeom>
          <a:noFill/>
        </p:spPr>
        <p:txBody>
          <a:bodyPr wrap="square" lIns="45720">
            <a:spAutoFit/>
          </a:bodyPr>
          <a:lstStyle/>
          <a:p>
            <a:pPr>
              <a:spcAft>
                <a:spcPts val="300"/>
              </a:spcAft>
            </a:pPr>
            <a:r>
              <a:rPr sz="1100" b="0">
                <a:solidFill>
                  <a:srgbClr val="0E1B2C"/>
                </a:solidFill>
                <a:latin typeface="Calibri"/>
              </a:rPr>
              <a:t>• End-to-end Databricks RAG (Unity Catalog → Workflows → Delta → Vector Search) at multi-million-chunk scale.</a:t>
            </a:r>
          </a:p>
          <a:p>
            <a:pPr>
              <a:spcAft>
                <a:spcPts val="300"/>
              </a:spcAft>
            </a:pPr>
            <a:r>
              <a:rPr sz="1100" b="0">
                <a:solidFill>
                  <a:srgbClr val="0E1B2C"/>
                </a:solidFill>
                <a:latin typeface="Calibri"/>
              </a:rPr>
              <a:t>• LiteLLM as a single-gateway pattern across multiple frontier-model vendors.</a:t>
            </a:r>
          </a:p>
          <a:p>
            <a:pPr>
              <a:spcAft>
                <a:spcPts val="300"/>
              </a:spcAft>
            </a:pPr>
            <a:r>
              <a:rPr sz="1100" b="0">
                <a:solidFill>
                  <a:srgbClr val="0E1B2C"/>
                </a:solidFill>
                <a:latin typeface="Calibri"/>
              </a:rPr>
              <a:t>• AWS Strands agents in production with MCP-exposed tools, behind streaming FastAPI on Fargate.</a:t>
            </a:r>
          </a:p>
          <a:p>
            <a:pPr>
              <a:spcAft>
                <a:spcPts val="300"/>
              </a:spcAft>
            </a:pPr>
            <a:r>
              <a:rPr sz="1100" b="0">
                <a:solidFill>
                  <a:srgbClr val="0E1B2C"/>
                </a:solidFill>
                <a:latin typeface="Calibri"/>
              </a:rPr>
              <a:t>• Running an engineering team where Claude Code + Copilot are part of the daily SDLC.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8" name="Rounded Rectangle 17"/>
          <p:cNvSpPr/>
          <p:nvPr/>
        </p:nvSpPr>
        <p:spPr>
          <a:xfrm>
            <a:off x="8016240" y="1920240"/>
            <a:ext cx="3505200" cy="3429000"/>
          </a:xfrm>
          <a:prstGeom prst="roundRect">
            <a:avLst>
              <a:gd name="adj" fmla="val 5000"/>
            </a:avLst>
          </a:prstGeom>
          <a:solidFill>
            <a:srgbClr val="C6E5F0"/>
          </a:solidFill>
          <a:ln w="9525">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28160" y="1920240"/>
            <a:ext cx="3505200" cy="3429000"/>
          </a:xfrm>
          <a:prstGeom prst="roundRect">
            <a:avLst>
              <a:gd name="adj" fmla="val 5000"/>
            </a:avLst>
          </a:prstGeom>
          <a:solidFill>
            <a:srgbClr val="DFF1FD"/>
          </a:solidFill>
          <a:ln w="9525">
            <a:solidFill>
              <a:srgbClr val="5FB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3505200" cy="3429000"/>
          </a:xfrm>
          <a:prstGeom prst="roundRect">
            <a:avLst>
              <a:gd name="adj" fmla="val 5000"/>
            </a:avLst>
          </a:prstGeom>
          <a:solidFill>
            <a:srgbClr val="EFF4F8"/>
          </a:solidFill>
          <a:ln w="9525">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FSR pipeline — how it's wired.</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Bronze → Silver → Gold. The metadata table is also the work queue.</a:t>
            </a:r>
          </a:p>
        </p:txBody>
      </p:sp>
      <p:sp>
        <p:nvSpPr>
          <p:cNvPr id="6" name="TextBox 5"/>
          <p:cNvSpPr txBox="1"/>
          <p:nvPr/>
        </p:nvSpPr>
        <p:spPr>
          <a:xfrm>
            <a:off x="777240" y="1645920"/>
            <a:ext cx="3505200" cy="274320"/>
          </a:xfrm>
          <a:prstGeom prst="rect">
            <a:avLst/>
          </a:prstGeom>
          <a:noFill/>
        </p:spPr>
        <p:txBody>
          <a:bodyPr wrap="none" lIns="0" tIns="0">
            <a:spAutoFit/>
          </a:bodyPr>
          <a:lstStyle/>
          <a:p>
            <a:pPr algn="l"/>
            <a:r>
              <a:rPr sz="1000" i="1" b="1">
                <a:solidFill>
                  <a:srgbClr val="4A5D71"/>
                </a:solidFill>
                <a:latin typeface="Calibri"/>
              </a:rPr>
              <a:t>BRONZE  ·  raw source volumes</a:t>
            </a:r>
          </a:p>
        </p:txBody>
      </p:sp>
      <p:sp>
        <p:nvSpPr>
          <p:cNvPr id="7" name="Can 6"/>
          <p:cNvSpPr/>
          <p:nvPr/>
        </p:nvSpPr>
        <p:spPr>
          <a:xfrm>
            <a:off x="777240" y="2240280"/>
            <a:ext cx="3230880" cy="777240"/>
          </a:xfrm>
          <a:prstGeom prst="can">
            <a:avLst/>
          </a:prstGeom>
          <a:solidFill>
            <a:srgbClr val="FFFFFF"/>
          </a:solidFill>
          <a:ln w="12700">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Source PDFs</a:t>
            </a:r>
          </a:p>
          <a:p>
            <a:pPr algn="ctr"/>
            <a:r>
              <a:rPr sz="900" b="0" i="1">
                <a:solidFill>
                  <a:srgbClr val="4A5D71"/>
                </a:solidFill>
                <a:latin typeface="Calibri"/>
              </a:rPr>
              <a:t>2 UC volumes, top-level</a:t>
            </a:r>
          </a:p>
        </p:txBody>
      </p:sp>
      <p:sp>
        <p:nvSpPr>
          <p:cNvPr id="8" name="Can 7"/>
          <p:cNvSpPr/>
          <p:nvPr/>
        </p:nvSpPr>
        <p:spPr>
          <a:xfrm>
            <a:off x="777240" y="3154680"/>
            <a:ext cx="3230880" cy="777240"/>
          </a:xfrm>
          <a:prstGeom prst="can">
            <a:avLst/>
          </a:prstGeom>
          <a:solidFill>
            <a:srgbClr val="FFFFFF"/>
          </a:solidFill>
          <a:ln w="12700">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Reference data sources</a:t>
            </a:r>
          </a:p>
          <a:p>
            <a:pPr algn="ctr"/>
            <a:r>
              <a:rPr sz="900" b="0" i="1">
                <a:solidFill>
                  <a:srgbClr val="4A5D71"/>
                </a:solidFill>
                <a:latin typeface="Calibri"/>
              </a:rPr>
              <a:t>for P1 enrichment</a:t>
            </a:r>
          </a:p>
        </p:txBody>
      </p:sp>
      <p:sp>
        <p:nvSpPr>
          <p:cNvPr id="10" name="TextBox 9"/>
          <p:cNvSpPr txBox="1"/>
          <p:nvPr/>
        </p:nvSpPr>
        <p:spPr>
          <a:xfrm>
            <a:off x="4465320" y="1645920"/>
            <a:ext cx="3505200" cy="274320"/>
          </a:xfrm>
          <a:prstGeom prst="rect">
            <a:avLst/>
          </a:prstGeom>
          <a:noFill/>
        </p:spPr>
        <p:txBody>
          <a:bodyPr wrap="none" lIns="0" tIns="0">
            <a:spAutoFit/>
          </a:bodyPr>
          <a:lstStyle/>
          <a:p>
            <a:pPr algn="l"/>
            <a:r>
              <a:rPr sz="1000" i="1" b="1">
                <a:solidFill>
                  <a:srgbClr val="2095B2"/>
                </a:solidFill>
                <a:latin typeface="Calibri"/>
              </a:rPr>
              <a:t>SILVER  ·  Process 1 — metadata extraction + registration</a:t>
            </a:r>
          </a:p>
        </p:txBody>
      </p:sp>
      <p:sp>
        <p:nvSpPr>
          <p:cNvPr id="11" name="Rectangle 10"/>
          <p:cNvSpPr/>
          <p:nvPr/>
        </p:nvSpPr>
        <p:spPr>
          <a:xfrm>
            <a:off x="4465320" y="2240280"/>
            <a:ext cx="3230880" cy="662940"/>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1A · Discover new PDFs</a:t>
            </a:r>
          </a:p>
          <a:p>
            <a:pPr algn="ctr"/>
            <a:r>
              <a:rPr sz="800" b="0" i="1">
                <a:solidFill>
                  <a:srgbClr val="4A5D71"/>
                </a:solidFill>
                <a:latin typeface="Calibri"/>
              </a:rPr>
              <a:t>left-anti vs registry</a:t>
            </a:r>
          </a:p>
        </p:txBody>
      </p:sp>
      <p:cxnSp>
        <p:nvCxnSpPr>
          <p:cNvPr id="12" name="Connector 11"/>
          <p:cNvCxnSpPr/>
          <p:nvPr/>
        </p:nvCxnSpPr>
        <p:spPr>
          <a:xfrm>
            <a:off x="6080760.0" y="2903220.0"/>
            <a:ext cx="0.0" cy="118872.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465320" y="3040380"/>
            <a:ext cx="3230880" cy="662940"/>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1B · MERGE stub rows</a:t>
            </a:r>
          </a:p>
          <a:p>
            <a:pPr algn="ctr"/>
            <a:r>
              <a:rPr sz="800" b="0" i="1">
                <a:solidFill>
                  <a:srgbClr val="4A5D71"/>
                </a:solidFill>
                <a:latin typeface="Calibri"/>
              </a:rPr>
              <a:t>status = pending</a:t>
            </a:r>
          </a:p>
        </p:txBody>
      </p:sp>
      <p:cxnSp>
        <p:nvCxnSpPr>
          <p:cNvPr id="14" name="Connector 13"/>
          <p:cNvCxnSpPr/>
          <p:nvPr/>
        </p:nvCxnSpPr>
        <p:spPr>
          <a:xfrm>
            <a:off x="6080760.0" y="3703320.0"/>
            <a:ext cx="0.0" cy="118872.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465320" y="3840480"/>
            <a:ext cx="3230880" cy="662940"/>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1C · Extract + LLM normalize + enrich</a:t>
            </a:r>
          </a:p>
          <a:p>
            <a:pPr algn="ctr"/>
            <a:r>
              <a:rPr sz="800" b="0" i="1">
                <a:solidFill>
                  <a:srgbClr val="4A5D71"/>
                </a:solidFill>
                <a:latin typeface="Calibri"/>
              </a:rPr>
              <a:t>reference-data lookup</a:t>
            </a:r>
          </a:p>
        </p:txBody>
      </p:sp>
      <p:cxnSp>
        <p:nvCxnSpPr>
          <p:cNvPr id="16" name="Connector 15"/>
          <p:cNvCxnSpPr/>
          <p:nvPr/>
        </p:nvCxnSpPr>
        <p:spPr>
          <a:xfrm>
            <a:off x="6080760.0" y="4503420.0"/>
            <a:ext cx="0.0" cy="118872.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465320" y="4640580"/>
            <a:ext cx="3230880" cy="662940"/>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1D · Write metadata row per document</a:t>
            </a:r>
          </a:p>
          <a:p>
            <a:pPr algn="ctr"/>
            <a:r>
              <a:rPr sz="800" b="0" i="1">
                <a:solidFill>
                  <a:srgbClr val="4A5D71"/>
                </a:solidFill>
                <a:latin typeface="Calibri"/>
              </a:rPr>
              <a:t>chunk_status = pending</a:t>
            </a:r>
          </a:p>
        </p:txBody>
      </p:sp>
      <p:sp>
        <p:nvSpPr>
          <p:cNvPr id="19" name="TextBox 18"/>
          <p:cNvSpPr txBox="1"/>
          <p:nvPr/>
        </p:nvSpPr>
        <p:spPr>
          <a:xfrm>
            <a:off x="8153400" y="1645920"/>
            <a:ext cx="3505200" cy="274320"/>
          </a:xfrm>
          <a:prstGeom prst="rect">
            <a:avLst/>
          </a:prstGeom>
          <a:noFill/>
        </p:spPr>
        <p:txBody>
          <a:bodyPr wrap="none" lIns="0" tIns="0">
            <a:spAutoFit/>
          </a:bodyPr>
          <a:lstStyle/>
          <a:p>
            <a:pPr algn="l"/>
            <a:r>
              <a:rPr sz="1000" i="1" b="1">
                <a:solidFill>
                  <a:srgbClr val="0E1B2C"/>
                </a:solidFill>
                <a:latin typeface="Calibri"/>
              </a:rPr>
              <a:t>GOLD  ·  Process 2 — chunks + vector index</a:t>
            </a:r>
          </a:p>
        </p:txBody>
      </p:sp>
      <p:sp>
        <p:nvSpPr>
          <p:cNvPr id="20" name="Rectangle 19"/>
          <p:cNvSpPr/>
          <p:nvPr/>
        </p:nvSpPr>
        <p:spPr>
          <a:xfrm>
            <a:off x="8153400" y="2240280"/>
            <a:ext cx="3230880" cy="356616"/>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2A · Select pending from registry</a:t>
            </a:r>
          </a:p>
        </p:txBody>
      </p:sp>
      <p:cxnSp>
        <p:nvCxnSpPr>
          <p:cNvPr id="21" name="Connector 20"/>
          <p:cNvCxnSpPr/>
          <p:nvPr/>
        </p:nvCxnSpPr>
        <p:spPr>
          <a:xfrm>
            <a:off x="9768840.0" y="2596896.0"/>
            <a:ext cx="0.0" cy="73152.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153400" y="2688336"/>
            <a:ext cx="3230880" cy="356616"/>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2B · Load PDFs</a:t>
            </a:r>
          </a:p>
        </p:txBody>
      </p:sp>
      <p:cxnSp>
        <p:nvCxnSpPr>
          <p:cNvPr id="23" name="Connector 22"/>
          <p:cNvCxnSpPr/>
          <p:nvPr/>
        </p:nvCxnSpPr>
        <p:spPr>
          <a:xfrm>
            <a:off x="9768840.0" y="3044952.0"/>
            <a:ext cx="0.0" cy="73152.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153400" y="3136392"/>
            <a:ext cx="3230880" cy="356616"/>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2C · Hierarchical semantic chunking</a:t>
            </a:r>
          </a:p>
        </p:txBody>
      </p:sp>
      <p:cxnSp>
        <p:nvCxnSpPr>
          <p:cNvPr id="25" name="Connector 24"/>
          <p:cNvCxnSpPr/>
          <p:nvPr/>
        </p:nvCxnSpPr>
        <p:spPr>
          <a:xfrm>
            <a:off x="9768840.0" y="3493008.0"/>
            <a:ext cx="0.0" cy="73152.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8153400" y="3584448"/>
            <a:ext cx="3230880" cy="356616"/>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2D · Materialize metadata onto chunks</a:t>
            </a:r>
          </a:p>
        </p:txBody>
      </p:sp>
      <p:cxnSp>
        <p:nvCxnSpPr>
          <p:cNvPr id="27" name="Connector 26"/>
          <p:cNvCxnSpPr/>
          <p:nvPr/>
        </p:nvCxnSpPr>
        <p:spPr>
          <a:xfrm>
            <a:off x="9768840.0" y="3941064.0"/>
            <a:ext cx="0.0" cy="73152.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153400" y="4032504"/>
            <a:ext cx="3230880" cy="356616"/>
          </a:xfrm>
          <a:prstGeom prst="rect">
            <a:avLst/>
          </a:prstGeom>
          <a:solidFill>
            <a:srgbClr val="FFFFFF"/>
          </a:solidFill>
          <a:ln w="12700">
            <a:solidFill>
              <a:srgbClr val="CBD5D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0E1B2C"/>
                </a:solidFill>
                <a:latin typeface="Calibri"/>
              </a:rPr>
              <a:t>2E · Generate embeddings</a:t>
            </a:r>
          </a:p>
          <a:p>
            <a:pPr algn="ctr"/>
            <a:r>
              <a:rPr sz="800" b="0" i="1">
                <a:solidFill>
                  <a:srgbClr val="4A5D71"/>
                </a:solidFill>
                <a:latin typeface="Calibri"/>
              </a:rPr>
              <a:t>parallel workers</a:t>
            </a:r>
          </a:p>
        </p:txBody>
      </p:sp>
      <p:sp>
        <p:nvSpPr>
          <p:cNvPr id="29" name="Rectangle 28"/>
          <p:cNvSpPr/>
          <p:nvPr/>
        </p:nvSpPr>
        <p:spPr>
          <a:xfrm>
            <a:off x="8153400" y="4553712"/>
            <a:ext cx="3230880" cy="411480"/>
          </a:xfrm>
          <a:prstGeom prst="rect">
            <a:avLst/>
          </a:prstGeom>
          <a:solidFill>
            <a:srgbClr val="0E1B2C"/>
          </a:solidFill>
          <a:ln w="1905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FFFFFF"/>
                </a:solidFill>
                <a:latin typeface="Calibri"/>
              </a:rPr>
              <a:t>Chunk table  ·  Vector Search index</a:t>
            </a:r>
          </a:p>
        </p:txBody>
      </p:sp>
      <p:sp>
        <p:nvSpPr>
          <p:cNvPr id="30" name="Rounded Rectangle 29"/>
          <p:cNvSpPr/>
          <p:nvPr/>
        </p:nvSpPr>
        <p:spPr>
          <a:xfrm>
            <a:off x="6827520" y="4434840"/>
            <a:ext cx="2194560" cy="868680"/>
          </a:xfrm>
          <a:prstGeom prst="roundRect">
            <a:avLst/>
          </a:prstGeom>
          <a:solidFill>
            <a:srgbClr val="E65C00"/>
          </a:solidFill>
          <a:ln w="12700">
            <a:solidFill>
              <a:srgbClr val="C04A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REGISTRY  ·  the work queue</a:t>
            </a:r>
          </a:p>
          <a:p>
            <a:pPr algn="ctr"/>
            <a:r>
              <a:rPr sz="900" b="0" i="1">
                <a:solidFill>
                  <a:srgbClr val="5FBCD3"/>
                </a:solidFill>
                <a:latin typeface="Calibri"/>
              </a:rPr>
              <a:t>one row per document</a:t>
            </a:r>
          </a:p>
          <a:p>
            <a:pPr algn="ctr"/>
            <a:r>
              <a:rPr sz="900" b="0" i="1">
                <a:solidFill>
                  <a:srgbClr val="5FBCD3"/>
                </a:solidFill>
                <a:latin typeface="Calibri"/>
              </a:rPr>
              <a:t>metadata_status · chunk_status · retries</a:t>
            </a:r>
          </a:p>
        </p:txBody>
      </p:sp>
      <p:cxnSp>
        <p:nvCxnSpPr>
          <p:cNvPr id="31" name="Connector 30"/>
          <p:cNvCxnSpPr/>
          <p:nvPr/>
        </p:nvCxnSpPr>
        <p:spPr>
          <a:xfrm>
            <a:off x="8153400.0" y="4759452.0"/>
            <a:ext cx="868680.0" cy="109728.0"/>
          </a:xfrm>
          <a:prstGeom prst="line">
            <a:avLst/>
          </a:prstGeom>
          <a:ln w="19050">
            <a:solidFill>
              <a:srgbClr val="C0392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473440.0" y="2286000"/>
            <a:ext cx="1295400.0" cy="2148840"/>
          </a:xfrm>
          <a:prstGeom prst="line">
            <a:avLst/>
          </a:prstGeom>
          <a:ln w="15875">
            <a:solidFill>
              <a:srgbClr val="2095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537960.0" y="4434840"/>
            <a:ext cx="563880.0" cy="868680.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40080" y="5577840"/>
            <a:ext cx="10881360" cy="731520"/>
          </a:xfrm>
          <a:prstGeom prst="rect">
            <a:avLst/>
          </a:prstGeom>
          <a:noFill/>
        </p:spPr>
        <p:txBody>
          <a:bodyPr wrap="square" anchor="t" lIns="45720" rIns="45720" tIns="18288" bIns="18288">
            <a:spAutoFit/>
          </a:bodyPr>
          <a:lstStyle/>
          <a:p>
            <a:pPr algn="l"/>
            <a:r>
              <a:rPr sz="1200" b="0" i="1">
                <a:solidFill>
                  <a:srgbClr val="4A5D71"/>
                </a:solidFill>
                <a:latin typeface="Calibri"/>
              </a:rPr>
              <a:t>Process 2 writes status (completed / failed) back to the registry. The registry is the queue — backfill, incremental, retries, and replays all read the same fields.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Where the design choices paid off.</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Three calls. What they unlocked, not just what they avoided.</a:t>
            </a:r>
          </a:p>
        </p:txBody>
      </p:sp>
      <p:sp>
        <p:nvSpPr>
          <p:cNvPr id="5" name="Rounded Rectangle 4"/>
          <p:cNvSpPr/>
          <p:nvPr/>
        </p:nvSpPr>
        <p:spPr>
          <a:xfrm>
            <a:off x="548640" y="1554480"/>
            <a:ext cx="11064240" cy="1417320"/>
          </a:xfrm>
          <a:prstGeom prst="roundRect">
            <a:avLst/>
          </a:prstGeom>
          <a:solidFill>
            <a:srgbClr val="EFF4F8"/>
          </a:solidFill>
          <a:ln w="12700">
            <a:solidFill>
              <a:srgbClr val="5FB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73152" cy="1417320"/>
          </a:xfrm>
          <a:prstGeom prst="rect">
            <a:avLst/>
          </a:prstGeom>
          <a:solidFill>
            <a:srgbClr val="209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64208"/>
            <a:ext cx="10698480" cy="274320"/>
          </a:xfrm>
          <a:prstGeom prst="rect">
            <a:avLst/>
          </a:prstGeom>
          <a:noFill/>
        </p:spPr>
        <p:txBody>
          <a:bodyPr wrap="square" anchor="t" lIns="45720" rIns="45720" tIns="18288" bIns="18288">
            <a:spAutoFit/>
          </a:bodyPr>
          <a:lstStyle/>
          <a:p>
            <a:pPr algn="l"/>
            <a:r>
              <a:rPr sz="1100" b="1" i="1">
                <a:solidFill>
                  <a:srgbClr val="2095B2"/>
                </a:solidFill>
                <a:latin typeface="Calibri"/>
              </a:rPr>
              <a:t>SCALE  ·  PERFORMANCE</a:t>
            </a:r>
          </a:p>
        </p:txBody>
      </p:sp>
      <p:sp>
        <p:nvSpPr>
          <p:cNvPr id="8" name="TextBox 7"/>
          <p:cNvSpPr txBox="1"/>
          <p:nvPr/>
        </p:nvSpPr>
        <p:spPr>
          <a:xfrm>
            <a:off x="822960" y="1920240"/>
            <a:ext cx="10698480" cy="365760"/>
          </a:xfrm>
          <a:prstGeom prst="rect">
            <a:avLst/>
          </a:prstGeom>
          <a:noFill/>
        </p:spPr>
        <p:txBody>
          <a:bodyPr wrap="square" anchor="t" lIns="45720" rIns="45720" tIns="18288" bIns="18288">
            <a:spAutoFit/>
          </a:bodyPr>
          <a:lstStyle/>
          <a:p>
            <a:pPr algn="l"/>
            <a:r>
              <a:rPr sz="1500" b="1" i="0">
                <a:solidFill>
                  <a:srgbClr val="0E1B2C"/>
                </a:solidFill>
                <a:latin typeface="Calibri"/>
              </a:rPr>
              <a:t>Metadata + chunking are separate processes; metadata is copied onto every chunk.</a:t>
            </a:r>
          </a:p>
        </p:txBody>
      </p:sp>
      <p:sp>
        <p:nvSpPr>
          <p:cNvPr id="9" name="TextBox 8"/>
          <p:cNvSpPr txBox="1"/>
          <p:nvPr/>
        </p:nvSpPr>
        <p:spPr>
          <a:xfrm>
            <a:off x="822960" y="2331720"/>
            <a:ext cx="10698480" cy="594360"/>
          </a:xfrm>
          <a:prstGeom prst="rect">
            <a:avLst/>
          </a:prstGeom>
          <a:noFill/>
        </p:spPr>
        <p:txBody>
          <a:bodyPr wrap="square" anchor="t" lIns="45720" rIns="45720" tIns="18288" bIns="18288">
            <a:spAutoFit/>
          </a:bodyPr>
          <a:lstStyle/>
          <a:p>
            <a:pPr algn="l"/>
            <a:r>
              <a:rPr sz="1200" b="0" i="0">
                <a:solidFill>
                  <a:srgbClr val="0E1B2C"/>
                </a:solidFill>
                <a:latin typeface="Calibri"/>
              </a:rPr>
              <a:t>Two pipelines scale independently. The agent pre-filters at the vector index — exact, fast, and survives at multi-million-chunk size where post-filter would have collapsed.</a:t>
            </a:r>
          </a:p>
        </p:txBody>
      </p:sp>
      <p:sp>
        <p:nvSpPr>
          <p:cNvPr id="10" name="Rounded Rectangle 9"/>
          <p:cNvSpPr/>
          <p:nvPr/>
        </p:nvSpPr>
        <p:spPr>
          <a:xfrm>
            <a:off x="548640" y="3136392"/>
            <a:ext cx="11064240" cy="1417320"/>
          </a:xfrm>
          <a:prstGeom prst="roundRect">
            <a:avLst/>
          </a:prstGeom>
          <a:solidFill>
            <a:srgbClr val="EFF4F8"/>
          </a:solidFill>
          <a:ln w="12700">
            <a:solidFill>
              <a:srgbClr val="5FB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136392"/>
            <a:ext cx="73152" cy="1417320"/>
          </a:xfrm>
          <a:prstGeom prst="rect">
            <a:avLst/>
          </a:prstGeom>
          <a:solidFill>
            <a:srgbClr val="209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246120"/>
            <a:ext cx="10698480" cy="274320"/>
          </a:xfrm>
          <a:prstGeom prst="rect">
            <a:avLst/>
          </a:prstGeom>
          <a:noFill/>
        </p:spPr>
        <p:txBody>
          <a:bodyPr wrap="square" anchor="t" lIns="45720" rIns="45720" tIns="18288" bIns="18288">
            <a:spAutoFit/>
          </a:bodyPr>
          <a:lstStyle/>
          <a:p>
            <a:pPr algn="l"/>
            <a:r>
              <a:rPr sz="1100" b="1" i="1">
                <a:solidFill>
                  <a:srgbClr val="2095B2"/>
                </a:solidFill>
                <a:latin typeface="Calibri"/>
              </a:rPr>
              <a:t>BUSINESS  ·  OPS</a:t>
            </a:r>
          </a:p>
        </p:txBody>
      </p:sp>
      <p:sp>
        <p:nvSpPr>
          <p:cNvPr id="13" name="TextBox 12"/>
          <p:cNvSpPr txBox="1"/>
          <p:nvPr/>
        </p:nvSpPr>
        <p:spPr>
          <a:xfrm>
            <a:off x="822960" y="3502152"/>
            <a:ext cx="10698480" cy="365760"/>
          </a:xfrm>
          <a:prstGeom prst="rect">
            <a:avLst/>
          </a:prstGeom>
          <a:noFill/>
        </p:spPr>
        <p:txBody>
          <a:bodyPr wrap="square" anchor="t" lIns="45720" rIns="45720" tIns="18288" bIns="18288">
            <a:spAutoFit/>
          </a:bodyPr>
          <a:lstStyle/>
          <a:p>
            <a:pPr algn="l"/>
            <a:r>
              <a:rPr sz="1500" b="1" i="0">
                <a:solidFill>
                  <a:srgbClr val="0E1B2C"/>
                </a:solidFill>
                <a:latin typeface="Calibri"/>
              </a:rPr>
              <a:t>Bounded-batch backfill with an automated leadership pulse off the same run-log.</a:t>
            </a:r>
          </a:p>
        </p:txBody>
      </p:sp>
      <p:sp>
        <p:nvSpPr>
          <p:cNvPr id="14" name="TextBox 13"/>
          <p:cNvSpPr txBox="1"/>
          <p:nvPr/>
        </p:nvSpPr>
        <p:spPr>
          <a:xfrm>
            <a:off x="822960" y="3913632"/>
            <a:ext cx="10698480" cy="594360"/>
          </a:xfrm>
          <a:prstGeom prst="rect">
            <a:avLst/>
          </a:prstGeom>
          <a:noFill/>
        </p:spPr>
        <p:txBody>
          <a:bodyPr wrap="square" anchor="t" lIns="45720" rIns="45720" tIns="18288" bIns="18288">
            <a:spAutoFit/>
          </a:bodyPr>
          <a:lstStyle/>
          <a:p>
            <a:pPr algn="l"/>
            <a:r>
              <a:rPr sz="1200" b="0" i="0">
                <a:solidFill>
                  <a:srgbClr val="0E1B2C"/>
                </a:solidFill>
                <a:latin typeface="Calibri"/>
              </a:rPr>
              <a:t>Hit the prod-critical date on a last-minute pipeline rebuild — 18,094 docs in ~3 days at predictable LLM spend. Leadership saw real-time progress through the most-watched window of the engagement; zero manual SQL.</a:t>
            </a:r>
          </a:p>
        </p:txBody>
      </p:sp>
      <p:sp>
        <p:nvSpPr>
          <p:cNvPr id="15" name="Rounded Rectangle 14"/>
          <p:cNvSpPr/>
          <p:nvPr/>
        </p:nvSpPr>
        <p:spPr>
          <a:xfrm>
            <a:off x="548640" y="4718304"/>
            <a:ext cx="11064240" cy="1417320"/>
          </a:xfrm>
          <a:prstGeom prst="roundRect">
            <a:avLst/>
          </a:prstGeom>
          <a:solidFill>
            <a:srgbClr val="EFF4F8"/>
          </a:solidFill>
          <a:ln w="12700">
            <a:solidFill>
              <a:srgbClr val="5FB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718304"/>
            <a:ext cx="73152" cy="1417320"/>
          </a:xfrm>
          <a:prstGeom prst="rect">
            <a:avLst/>
          </a:prstGeom>
          <a:solidFill>
            <a:srgbClr val="2095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828032"/>
            <a:ext cx="10698480" cy="274320"/>
          </a:xfrm>
          <a:prstGeom prst="rect">
            <a:avLst/>
          </a:prstGeom>
          <a:noFill/>
        </p:spPr>
        <p:txBody>
          <a:bodyPr wrap="square" anchor="t" lIns="45720" rIns="45720" tIns="18288" bIns="18288">
            <a:spAutoFit/>
          </a:bodyPr>
          <a:lstStyle/>
          <a:p>
            <a:pPr algn="l"/>
            <a:r>
              <a:rPr sz="1100" b="1" i="1">
                <a:solidFill>
                  <a:srgbClr val="2095B2"/>
                </a:solidFill>
                <a:latin typeface="Calibri"/>
              </a:rPr>
              <a:t>RESILIENCE  ·  TRUST</a:t>
            </a:r>
          </a:p>
        </p:txBody>
      </p:sp>
      <p:sp>
        <p:nvSpPr>
          <p:cNvPr id="18" name="TextBox 17"/>
          <p:cNvSpPr txBox="1"/>
          <p:nvPr/>
        </p:nvSpPr>
        <p:spPr>
          <a:xfrm>
            <a:off x="822960" y="5084064"/>
            <a:ext cx="10698480" cy="365760"/>
          </a:xfrm>
          <a:prstGeom prst="rect">
            <a:avLst/>
          </a:prstGeom>
          <a:noFill/>
        </p:spPr>
        <p:txBody>
          <a:bodyPr wrap="square" anchor="t" lIns="45720" rIns="45720" tIns="18288" bIns="18288">
            <a:spAutoFit/>
          </a:bodyPr>
          <a:lstStyle/>
          <a:p>
            <a:pPr algn="l"/>
            <a:r>
              <a:rPr sz="1500" b="1" i="0">
                <a:solidFill>
                  <a:srgbClr val="0E1B2C"/>
                </a:solidFill>
                <a:latin typeface="Calibri"/>
              </a:rPr>
              <a:t>Equipment IDs verified against a system-of-record at ingest, not extracted by the LLM.</a:t>
            </a:r>
          </a:p>
        </p:txBody>
      </p:sp>
      <p:sp>
        <p:nvSpPr>
          <p:cNvPr id="19" name="TextBox 18"/>
          <p:cNvSpPr txBox="1"/>
          <p:nvPr/>
        </p:nvSpPr>
        <p:spPr>
          <a:xfrm>
            <a:off x="822960" y="5495544"/>
            <a:ext cx="10698480" cy="594360"/>
          </a:xfrm>
          <a:prstGeom prst="rect">
            <a:avLst/>
          </a:prstGeom>
          <a:noFill/>
        </p:spPr>
        <p:txBody>
          <a:bodyPr wrap="square" anchor="t" lIns="45720" rIns="45720" tIns="18288" bIns="18288">
            <a:spAutoFit/>
          </a:bodyPr>
          <a:lstStyle/>
          <a:p>
            <a:pPr algn="l"/>
            <a:r>
              <a:rPr sz="1200" b="0" i="0">
                <a:solidFill>
                  <a:srgbClr val="0E1B2C"/>
                </a:solidFill>
                <a:latin typeface="Calibri"/>
              </a:rPr>
              <a:t>A later model update silently shifted ~1% of LLM-extracted IDs on a routine refresh. The verified path didn't move — and a validation gate built around it now catches the next one before it lands.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ounded Rectangle 10"/>
          <p:cNvSpPr/>
          <p:nvPr/>
        </p:nvSpPr>
        <p:spPr>
          <a:xfrm>
            <a:off x="9418320" y="1645920"/>
            <a:ext cx="2286000" cy="2834640"/>
          </a:xfrm>
          <a:prstGeom prst="roundRect">
            <a:avLst>
              <a:gd name="adj" fmla="val 5000"/>
            </a:avLst>
          </a:prstGeom>
          <a:solidFill>
            <a:srgbClr val="FFFFFF"/>
          </a:solidFill>
          <a:ln w="9525">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74080" y="1645920"/>
            <a:ext cx="3108960" cy="2834640"/>
          </a:xfrm>
          <a:prstGeom prst="roundRect">
            <a:avLst>
              <a:gd name="adj" fmla="val 5000"/>
            </a:avLst>
          </a:prstGeom>
          <a:solidFill>
            <a:srgbClr val="0E1B2C"/>
          </a:solidFill>
          <a:ln w="9525">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169920" y="1645920"/>
            <a:ext cx="2468880" cy="2834640"/>
          </a:xfrm>
          <a:prstGeom prst="roundRect">
            <a:avLst>
              <a:gd name="adj" fmla="val 5000"/>
            </a:avLst>
          </a:prstGeom>
          <a:solidFill>
            <a:srgbClr val="DFF1FD"/>
          </a:solidFill>
          <a:ln w="9525">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645920"/>
            <a:ext cx="2377440" cy="2834640"/>
          </a:xfrm>
          <a:prstGeom prst="roundRect">
            <a:avLst>
              <a:gd name="adj" fmla="val 5000"/>
            </a:avLst>
          </a:prstGeom>
          <a:solidFill>
            <a:srgbClr val="EFF4F8"/>
          </a:solidFill>
          <a:ln w="9525">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AdHoc QA agent — how it's wired.</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Four lanes — data, tools, agent core, chat surface. Same vector index the pipeline built.</a:t>
            </a:r>
          </a:p>
        </p:txBody>
      </p:sp>
      <p:sp>
        <p:nvSpPr>
          <p:cNvPr id="6" name="TextBox 5"/>
          <p:cNvSpPr txBox="1"/>
          <p:nvPr/>
        </p:nvSpPr>
        <p:spPr>
          <a:xfrm>
            <a:off x="594360" y="1371600"/>
            <a:ext cx="2377440" cy="274320"/>
          </a:xfrm>
          <a:prstGeom prst="rect">
            <a:avLst/>
          </a:prstGeom>
          <a:noFill/>
        </p:spPr>
        <p:txBody>
          <a:bodyPr wrap="none" lIns="0" tIns="0">
            <a:spAutoFit/>
          </a:bodyPr>
          <a:lstStyle/>
          <a:p>
            <a:pPr algn="l"/>
            <a:r>
              <a:rPr sz="1000" i="1" b="1">
                <a:solidFill>
                  <a:srgbClr val="4A5D71"/>
                </a:solidFill>
                <a:latin typeface="Calibri"/>
              </a:rPr>
              <a:t>Data layer</a:t>
            </a:r>
          </a:p>
        </p:txBody>
      </p:sp>
      <p:sp>
        <p:nvSpPr>
          <p:cNvPr id="8" name="TextBox 7"/>
          <p:cNvSpPr txBox="1"/>
          <p:nvPr/>
        </p:nvSpPr>
        <p:spPr>
          <a:xfrm>
            <a:off x="3307080" y="1371600"/>
            <a:ext cx="2468880" cy="274320"/>
          </a:xfrm>
          <a:prstGeom prst="rect">
            <a:avLst/>
          </a:prstGeom>
          <a:noFill/>
        </p:spPr>
        <p:txBody>
          <a:bodyPr wrap="none" lIns="0" tIns="0">
            <a:spAutoFit/>
          </a:bodyPr>
          <a:lstStyle/>
          <a:p>
            <a:pPr algn="l"/>
            <a:r>
              <a:rPr sz="1000" i="1" b="1">
                <a:solidFill>
                  <a:srgbClr val="2095B2"/>
                </a:solidFill>
                <a:latin typeface="Calibri"/>
              </a:rPr>
              <a:t>Tools  ·  persona-scoped, fixed at startup</a:t>
            </a:r>
          </a:p>
        </p:txBody>
      </p:sp>
      <p:sp>
        <p:nvSpPr>
          <p:cNvPr id="10" name="TextBox 9"/>
          <p:cNvSpPr txBox="1"/>
          <p:nvPr/>
        </p:nvSpPr>
        <p:spPr>
          <a:xfrm>
            <a:off x="6111240" y="1371600"/>
            <a:ext cx="3108960" cy="274320"/>
          </a:xfrm>
          <a:prstGeom prst="rect">
            <a:avLst/>
          </a:prstGeom>
          <a:noFill/>
        </p:spPr>
        <p:txBody>
          <a:bodyPr wrap="none" lIns="0" tIns="0">
            <a:spAutoFit/>
          </a:bodyPr>
          <a:lstStyle/>
          <a:p>
            <a:pPr algn="l"/>
            <a:r>
              <a:rPr sz="1000" i="1" b="1">
                <a:solidFill>
                  <a:srgbClr val="5FBCD3"/>
                </a:solidFill>
                <a:latin typeface="Calibri"/>
              </a:rPr>
              <a:t>Agent core</a:t>
            </a:r>
          </a:p>
        </p:txBody>
      </p:sp>
      <p:sp>
        <p:nvSpPr>
          <p:cNvPr id="12" name="TextBox 11"/>
          <p:cNvSpPr txBox="1"/>
          <p:nvPr/>
        </p:nvSpPr>
        <p:spPr>
          <a:xfrm>
            <a:off x="9555480" y="1371600"/>
            <a:ext cx="2286000" cy="274320"/>
          </a:xfrm>
          <a:prstGeom prst="rect">
            <a:avLst/>
          </a:prstGeom>
          <a:noFill/>
        </p:spPr>
        <p:txBody>
          <a:bodyPr wrap="none" lIns="0" tIns="0">
            <a:spAutoFit/>
          </a:bodyPr>
          <a:lstStyle/>
          <a:p>
            <a:pPr algn="l"/>
            <a:r>
              <a:rPr sz="1000" i="1" b="1">
                <a:solidFill>
                  <a:srgbClr val="4A5D71"/>
                </a:solidFill>
                <a:latin typeface="Calibri"/>
              </a:rPr>
              <a:t>Chat surface</a:t>
            </a:r>
          </a:p>
        </p:txBody>
      </p:sp>
      <p:sp>
        <p:nvSpPr>
          <p:cNvPr id="13" name="Can 12"/>
          <p:cNvSpPr/>
          <p:nvPr/>
        </p:nvSpPr>
        <p:spPr>
          <a:xfrm>
            <a:off x="594360" y="2011680"/>
            <a:ext cx="2103120" cy="685800"/>
          </a:xfrm>
          <a:prstGeom prst="can">
            <a:avLst/>
          </a:prstGeom>
          <a:solidFill>
            <a:srgbClr val="FFFFFF"/>
          </a:solidFill>
          <a:ln w="2540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Vector Search index</a:t>
            </a:r>
          </a:p>
          <a:p>
            <a:pPr algn="ctr"/>
            <a:r>
              <a:rPr sz="900" b="0" i="1">
                <a:solidFill>
                  <a:srgbClr val="4A5D71"/>
                </a:solidFill>
                <a:latin typeface="Calibri"/>
              </a:rPr>
              <a:t>built by FSR pipeline</a:t>
            </a:r>
          </a:p>
        </p:txBody>
      </p:sp>
      <p:sp>
        <p:nvSpPr>
          <p:cNvPr id="14" name="Can 13"/>
          <p:cNvSpPr/>
          <p:nvPr/>
        </p:nvSpPr>
        <p:spPr>
          <a:xfrm>
            <a:off x="594360" y="2880360"/>
            <a:ext cx="2103120" cy="685800"/>
          </a:xfrm>
          <a:prstGeom prst="can">
            <a:avLst/>
          </a:prstGeom>
          <a:solidFill>
            <a:srgbClr val="FFFFFF"/>
          </a:solidFill>
          <a:ln w="12700">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Reference data</a:t>
            </a:r>
          </a:p>
          <a:p>
            <a:pPr algn="ctr"/>
            <a:r>
              <a:rPr sz="900" b="0" i="1">
                <a:solidFill>
                  <a:srgbClr val="4A5D71"/>
                </a:solidFill>
                <a:latin typeface="Calibri"/>
              </a:rPr>
              <a:t>upstream systems</a:t>
            </a:r>
          </a:p>
        </p:txBody>
      </p:sp>
      <p:sp>
        <p:nvSpPr>
          <p:cNvPr id="15" name="Can 14"/>
          <p:cNvSpPr/>
          <p:nvPr/>
        </p:nvSpPr>
        <p:spPr>
          <a:xfrm>
            <a:off x="594360" y="3749040"/>
            <a:ext cx="2103120" cy="685800"/>
          </a:xfrm>
          <a:prstGeom prst="can">
            <a:avLst/>
          </a:prstGeom>
          <a:solidFill>
            <a:srgbClr val="FFFFFF"/>
          </a:solidFill>
          <a:ln w="12700">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Assessment context</a:t>
            </a:r>
          </a:p>
          <a:p>
            <a:pPr algn="ctr"/>
            <a:r>
              <a:rPr sz="900" b="0" i="1">
                <a:solidFill>
                  <a:srgbClr val="4A5D71"/>
                </a:solidFill>
                <a:latin typeface="Calibri"/>
              </a:rPr>
              <a:t>findings · narrative · history</a:t>
            </a:r>
          </a:p>
        </p:txBody>
      </p:sp>
      <p:sp>
        <p:nvSpPr>
          <p:cNvPr id="16" name="Rectangle 15"/>
          <p:cNvSpPr/>
          <p:nvPr/>
        </p:nvSpPr>
        <p:spPr>
          <a:xfrm>
            <a:off x="3307080" y="2011680"/>
            <a:ext cx="2194560" cy="685800"/>
          </a:xfrm>
          <a:prstGeom prst="rect">
            <a:avLst/>
          </a:prstGeom>
          <a:solidFill>
            <a:srgbClr val="FFFFFF"/>
          </a:solidFill>
          <a:ln w="1270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Retrieval tool</a:t>
            </a:r>
          </a:p>
          <a:p>
            <a:pPr algn="ctr"/>
            <a:r>
              <a:rPr sz="900" b="0" i="1">
                <a:solidFill>
                  <a:srgbClr val="4A5D71"/>
                </a:solidFill>
                <a:latin typeface="Calibri"/>
              </a:rPr>
              <a:t>pre-filtered on equipment ID</a:t>
            </a:r>
          </a:p>
        </p:txBody>
      </p:sp>
      <p:sp>
        <p:nvSpPr>
          <p:cNvPr id="17" name="Rectangle 16"/>
          <p:cNvSpPr/>
          <p:nvPr/>
        </p:nvSpPr>
        <p:spPr>
          <a:xfrm>
            <a:off x="3307080" y="2880360"/>
            <a:ext cx="2194560" cy="685800"/>
          </a:xfrm>
          <a:prstGeom prst="rect">
            <a:avLst/>
          </a:prstGeom>
          <a:solidFill>
            <a:srgbClr val="FFFFFF"/>
          </a:solidFill>
          <a:ln w="1270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Reference-data tools</a:t>
            </a:r>
          </a:p>
          <a:p>
            <a:pPr algn="ctr"/>
            <a:r>
              <a:rPr sz="900" b="0" i="1">
                <a:solidFill>
                  <a:srgbClr val="4A5D71"/>
                </a:solidFill>
                <a:latin typeface="Calibri"/>
              </a:rPr>
              <a:t>thin data-services layer</a:t>
            </a:r>
          </a:p>
        </p:txBody>
      </p:sp>
      <p:sp>
        <p:nvSpPr>
          <p:cNvPr id="18" name="Rectangle 17"/>
          <p:cNvSpPr/>
          <p:nvPr/>
        </p:nvSpPr>
        <p:spPr>
          <a:xfrm>
            <a:off x="3307080" y="3749040"/>
            <a:ext cx="2194560" cy="685800"/>
          </a:xfrm>
          <a:prstGeom prst="rect">
            <a:avLst/>
          </a:prstGeom>
          <a:solidFill>
            <a:srgbClr val="FFFFFF"/>
          </a:solidFill>
          <a:ln w="1270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Assessment-context tools</a:t>
            </a:r>
          </a:p>
          <a:p>
            <a:pPr algn="ctr"/>
            <a:r>
              <a:rPr sz="900" b="0" i="1">
                <a:solidFill>
                  <a:srgbClr val="4A5D71"/>
                </a:solidFill>
                <a:latin typeface="Calibri"/>
              </a:rPr>
              <a:t>per-assessment scoping</a:t>
            </a:r>
          </a:p>
        </p:txBody>
      </p:sp>
      <p:sp>
        <p:nvSpPr>
          <p:cNvPr id="19" name="Rectangle 18"/>
          <p:cNvSpPr/>
          <p:nvPr/>
        </p:nvSpPr>
        <p:spPr>
          <a:xfrm>
            <a:off x="6111240" y="2011680"/>
            <a:ext cx="2834640" cy="1280160"/>
          </a:xfrm>
          <a:prstGeom prst="rect">
            <a:avLst/>
          </a:prstGeom>
          <a:solidFill>
            <a:srgbClr val="0E1B2C"/>
          </a:solidFill>
          <a:ln w="1905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i="0">
                <a:solidFill>
                  <a:srgbClr val="FFFFFF"/>
                </a:solidFill>
                <a:latin typeface="Calibri"/>
              </a:rPr>
              <a:t>ReAct loop</a:t>
            </a:r>
          </a:p>
          <a:p>
            <a:pPr algn="ctr"/>
            <a:r>
              <a:rPr sz="1100" b="0" i="1">
                <a:solidFill>
                  <a:srgbClr val="5FBCD3"/>
                </a:solidFill>
                <a:latin typeface="Calibri"/>
              </a:rPr>
              <a:t>Thought  →  Action  →  Observe</a:t>
            </a:r>
          </a:p>
        </p:txBody>
      </p:sp>
      <p:sp>
        <p:nvSpPr>
          <p:cNvPr id="20" name="Rectangle 19"/>
          <p:cNvSpPr/>
          <p:nvPr/>
        </p:nvSpPr>
        <p:spPr>
          <a:xfrm>
            <a:off x="6111240" y="3611880"/>
            <a:ext cx="1325880" cy="731520"/>
          </a:xfrm>
          <a:prstGeom prst="rect">
            <a:avLst/>
          </a:prstGeom>
          <a:solidFill>
            <a:srgbClr val="0E1B2C"/>
          </a:solidFill>
          <a:ln w="12700">
            <a:solidFill>
              <a:srgbClr val="5FBCD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Frontier LLM</a:t>
            </a:r>
          </a:p>
          <a:p>
            <a:pPr algn="ctr"/>
            <a:r>
              <a:rPr sz="900" b="0" i="1">
                <a:solidFill>
                  <a:srgbClr val="5FBCD3"/>
                </a:solidFill>
                <a:latin typeface="Calibri"/>
              </a:rPr>
              <a:t>reasoning only</a:t>
            </a:r>
          </a:p>
        </p:txBody>
      </p:sp>
      <p:sp>
        <p:nvSpPr>
          <p:cNvPr id="21" name="Rectangle 20"/>
          <p:cNvSpPr/>
          <p:nvPr/>
        </p:nvSpPr>
        <p:spPr>
          <a:xfrm>
            <a:off x="7620000" y="3611880"/>
            <a:ext cx="1325880" cy="731520"/>
          </a:xfrm>
          <a:prstGeom prst="rect">
            <a:avLst/>
          </a:prstGeom>
          <a:solidFill>
            <a:srgbClr val="0E1B2C"/>
          </a:solidFill>
          <a:ln w="12700">
            <a:solidFill>
              <a:srgbClr val="5FBCD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Session memory</a:t>
            </a:r>
          </a:p>
          <a:p>
            <a:pPr algn="ctr"/>
            <a:r>
              <a:rPr sz="900" b="0" i="1">
                <a:solidFill>
                  <a:srgbClr val="5FBCD3"/>
                </a:solidFill>
                <a:latin typeface="Calibri"/>
              </a:rPr>
              <a:t>keyed on assessment_id, per user</a:t>
            </a:r>
          </a:p>
        </p:txBody>
      </p:sp>
      <p:cxnSp>
        <p:nvCxnSpPr>
          <p:cNvPr id="22" name="Connector 21"/>
          <p:cNvCxnSpPr/>
          <p:nvPr/>
        </p:nvCxnSpPr>
        <p:spPr>
          <a:xfrm>
            <a:off x="6774180.0" y="3291840"/>
            <a:ext cx="0.0" cy="320040"/>
          </a:xfrm>
          <a:prstGeom prst="line">
            <a:avLst/>
          </a:prstGeom>
          <a:ln w="12700">
            <a:solidFill>
              <a:srgbClr val="5FBCD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282940.0" y="3291840"/>
            <a:ext cx="0.0" cy="320040"/>
          </a:xfrm>
          <a:prstGeom prst="line">
            <a:avLst/>
          </a:prstGeom>
          <a:ln w="12700">
            <a:solidFill>
              <a:srgbClr val="5FBCD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555480" y="2103120"/>
            <a:ext cx="2011680" cy="1463040"/>
          </a:xfrm>
          <a:prstGeom prst="rect">
            <a:avLst/>
          </a:prstGeom>
          <a:solidFill>
            <a:srgbClr val="EFF4F8"/>
          </a:solidFill>
          <a:ln w="12700">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1" i="0">
                <a:solidFill>
                  <a:srgbClr val="0E1B2C"/>
                </a:solidFill>
                <a:latin typeface="Calibri"/>
              </a:rPr>
              <a:t>Chat panel</a:t>
            </a:r>
          </a:p>
          <a:p>
            <a:pPr algn="ctr"/>
            <a:r>
              <a:rPr sz="1000" b="0" i="1">
                <a:solidFill>
                  <a:srgbClr val="4A5D71"/>
                </a:solidFill>
                <a:latin typeface="Calibri"/>
              </a:rPr>
              <a:t>frontend</a:t>
            </a:r>
          </a:p>
        </p:txBody>
      </p:sp>
      <p:sp>
        <p:nvSpPr>
          <p:cNvPr id="25" name="Rectangle 24"/>
          <p:cNvSpPr/>
          <p:nvPr/>
        </p:nvSpPr>
        <p:spPr>
          <a:xfrm>
            <a:off x="9555480" y="3840480"/>
            <a:ext cx="2011680" cy="914400"/>
          </a:xfrm>
          <a:prstGeom prst="rect">
            <a:avLst/>
          </a:prstGeom>
          <a:solidFill>
            <a:srgbClr val="FFFFFF"/>
          </a:solidFill>
          <a:ln w="12700">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RE / OE engineer</a:t>
            </a:r>
          </a:p>
          <a:p>
            <a:pPr algn="ctr"/>
            <a:r>
              <a:rPr sz="900" b="0" i="1">
                <a:solidFill>
                  <a:srgbClr val="4A5D71"/>
                </a:solidFill>
                <a:latin typeface="Calibri"/>
              </a:rPr>
              <a:t>persona fixed at session start</a:t>
            </a:r>
          </a:p>
        </p:txBody>
      </p:sp>
      <p:cxnSp>
        <p:nvCxnSpPr>
          <p:cNvPr id="26" name="Connector 25"/>
          <p:cNvCxnSpPr/>
          <p:nvPr/>
        </p:nvCxnSpPr>
        <p:spPr>
          <a:xfrm flipV="1">
            <a:off x="10561320.0" y="3566160"/>
            <a:ext cx="0.0" cy="274320"/>
          </a:xfrm>
          <a:prstGeom prst="line">
            <a:avLst/>
          </a:prstGeom>
          <a:ln w="12700">
            <a:solidFill>
              <a:srgbClr val="4A5D7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834640" y="2354580.0"/>
            <a:ext cx="472440.0" cy="0.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834640" y="3223260.0"/>
            <a:ext cx="472440.0" cy="0.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834640" y="4091940.0"/>
            <a:ext cx="472440.0" cy="0.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2430780" y="2052828"/>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30780" y="2052828"/>
            <a:ext cx="1280160" cy="274320"/>
          </a:xfrm>
          <a:prstGeom prst="rect">
            <a:avLst/>
          </a:prstGeom>
          <a:noFill/>
        </p:spPr>
        <p:txBody>
          <a:bodyPr wrap="square" lIns="0" rIns="0" tIns="0" bIns="0">
            <a:spAutoFit/>
          </a:bodyPr>
          <a:lstStyle/>
          <a:p>
            <a:pPr algn="ctr"/>
            <a:r>
              <a:rPr sz="900" i="1">
                <a:solidFill>
                  <a:srgbClr val="4A5D71"/>
                </a:solidFill>
                <a:latin typeface="Calibri"/>
              </a:rPr>
              <a:t>reads</a:t>
            </a:r>
          </a:p>
        </p:txBody>
      </p:sp>
      <p:cxnSp>
        <p:nvCxnSpPr>
          <p:cNvPr id="32" name="Connector 31"/>
          <p:cNvCxnSpPr/>
          <p:nvPr/>
        </p:nvCxnSpPr>
        <p:spPr>
          <a:xfrm flipH="1" flipV="1">
            <a:off x="5501640.0" y="2263140.0"/>
            <a:ext cx="609600.0" cy="251460.0"/>
          </a:xfrm>
          <a:prstGeom prst="line">
            <a:avLst/>
          </a:prstGeom>
          <a:ln w="12700">
            <a:solidFill>
              <a:srgbClr val="5FBCD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5501640.0" y="2514600.0"/>
            <a:ext cx="609600.0" cy="617220.0"/>
          </a:xfrm>
          <a:prstGeom prst="line">
            <a:avLst/>
          </a:prstGeom>
          <a:ln w="12700">
            <a:solidFill>
              <a:srgbClr val="5FBCD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5501640.0" y="2514600.0"/>
            <a:ext cx="609600.0" cy="1485900.0"/>
          </a:xfrm>
          <a:prstGeom prst="line">
            <a:avLst/>
          </a:prstGeom>
          <a:ln w="12700">
            <a:solidFill>
              <a:srgbClr val="5FBCD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166360" y="2148840"/>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66360" y="2148840"/>
            <a:ext cx="1280160" cy="274320"/>
          </a:xfrm>
          <a:prstGeom prst="rect">
            <a:avLst/>
          </a:prstGeom>
          <a:noFill/>
        </p:spPr>
        <p:txBody>
          <a:bodyPr wrap="square" lIns="0" rIns="0" tIns="0" bIns="0">
            <a:spAutoFit/>
          </a:bodyPr>
          <a:lstStyle/>
          <a:p>
            <a:pPr algn="ctr"/>
            <a:r>
              <a:rPr sz="1000" i="1">
                <a:solidFill>
                  <a:srgbClr val="2095B2"/>
                </a:solidFill>
                <a:latin typeface="Calibri"/>
              </a:rPr>
              <a:t>Action</a:t>
            </a:r>
          </a:p>
        </p:txBody>
      </p:sp>
      <p:cxnSp>
        <p:nvCxnSpPr>
          <p:cNvPr id="37" name="Connector 36"/>
          <p:cNvCxnSpPr/>
          <p:nvPr/>
        </p:nvCxnSpPr>
        <p:spPr>
          <a:xfrm>
            <a:off x="5501640.0" y="2446020.0"/>
            <a:ext cx="609600.0" cy="342900.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501640.0" y="2788920.0"/>
            <a:ext cx="609600.0" cy="525780.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501640.0" y="2788920.0"/>
            <a:ext cx="609600.0" cy="1394460.0"/>
          </a:xfrm>
          <a:prstGeom prst="line">
            <a:avLst/>
          </a:prstGeom>
          <a:ln w="12700">
            <a:solidFill>
              <a:srgbClr val="4A5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166360" y="2880360"/>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66360" y="2880360"/>
            <a:ext cx="1280160" cy="274320"/>
          </a:xfrm>
          <a:prstGeom prst="rect">
            <a:avLst/>
          </a:prstGeom>
          <a:noFill/>
        </p:spPr>
        <p:txBody>
          <a:bodyPr wrap="square" lIns="0" rIns="0" tIns="0" bIns="0">
            <a:spAutoFit/>
          </a:bodyPr>
          <a:lstStyle/>
          <a:p>
            <a:pPr algn="ctr"/>
            <a:r>
              <a:rPr sz="1000" i="1">
                <a:solidFill>
                  <a:srgbClr val="4A5D71"/>
                </a:solidFill>
                <a:latin typeface="Calibri"/>
              </a:rPr>
              <a:t>Observe</a:t>
            </a:r>
          </a:p>
        </p:txBody>
      </p:sp>
      <p:cxnSp>
        <p:nvCxnSpPr>
          <p:cNvPr id="42" name="Connector 41"/>
          <p:cNvCxnSpPr/>
          <p:nvPr/>
        </p:nvCxnSpPr>
        <p:spPr>
          <a:xfrm>
            <a:off x="8945880.0" y="2651760.0"/>
            <a:ext cx="609600.0" cy="182880.0"/>
          </a:xfrm>
          <a:prstGeom prst="line">
            <a:avLst/>
          </a:prstGeom>
          <a:ln w="19050">
            <a:solidFill>
              <a:srgbClr val="2095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8610600" y="2468880"/>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10600" y="2468880"/>
            <a:ext cx="1280160" cy="274320"/>
          </a:xfrm>
          <a:prstGeom prst="rect">
            <a:avLst/>
          </a:prstGeom>
          <a:noFill/>
        </p:spPr>
        <p:txBody>
          <a:bodyPr wrap="square" lIns="0" rIns="0" tIns="0" bIns="0">
            <a:spAutoFit/>
          </a:bodyPr>
          <a:lstStyle/>
          <a:p>
            <a:pPr algn="ctr"/>
            <a:r>
              <a:rPr sz="1000" i="1">
                <a:solidFill>
                  <a:srgbClr val="2095B2"/>
                </a:solidFill>
                <a:latin typeface="Calibri"/>
              </a:rPr>
              <a:t>Streaming HTTP</a:t>
            </a:r>
          </a:p>
        </p:txBody>
      </p:sp>
      <p:sp>
        <p:nvSpPr>
          <p:cNvPr id="45" name="TextBox 44"/>
          <p:cNvSpPr txBox="1"/>
          <p:nvPr/>
        </p:nvSpPr>
        <p:spPr>
          <a:xfrm>
            <a:off x="502920" y="4690872"/>
            <a:ext cx="11247120" cy="228600"/>
          </a:xfrm>
          <a:prstGeom prst="rect">
            <a:avLst/>
          </a:prstGeom>
          <a:noFill/>
        </p:spPr>
        <p:txBody>
          <a:bodyPr wrap="none" lIns="0" tIns="0">
            <a:spAutoFit/>
          </a:bodyPr>
          <a:lstStyle/>
          <a:p>
            <a:pPr algn="l"/>
            <a:r>
              <a:rPr sz="1000" i="1" b="1">
                <a:solidFill>
                  <a:srgbClr val="2095B2"/>
                </a:solidFill>
                <a:latin typeface="Calibri"/>
              </a:rPr>
              <a:t>Runtime  ·  how one question gets answered</a:t>
            </a:r>
          </a:p>
        </p:txBody>
      </p:sp>
      <p:sp>
        <p:nvSpPr>
          <p:cNvPr id="46" name="Rectangle 45"/>
          <p:cNvSpPr/>
          <p:nvPr/>
        </p:nvSpPr>
        <p:spPr>
          <a:xfrm>
            <a:off x="457200" y="4937760"/>
            <a:ext cx="2088489" cy="640080"/>
          </a:xfrm>
          <a:prstGeom prst="rect">
            <a:avLst/>
          </a:prstGeom>
          <a:solidFill>
            <a:srgbClr val="EFF4F8"/>
          </a:solidFill>
          <a:ln w="12700">
            <a:solidFill>
              <a:srgbClr val="4A5D71"/>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User query</a:t>
            </a:r>
          </a:p>
          <a:p>
            <a:pPr algn="ctr"/>
            <a:r>
              <a:rPr sz="900" b="0" i="1">
                <a:solidFill>
                  <a:srgbClr val="4A5D71"/>
                </a:solidFill>
                <a:latin typeface="Calibri"/>
              </a:rPr>
              <a:t>RE / OE engineer</a:t>
            </a:r>
          </a:p>
        </p:txBody>
      </p:sp>
      <p:sp>
        <p:nvSpPr>
          <p:cNvPr id="47" name="Rectangle 46"/>
          <p:cNvSpPr/>
          <p:nvPr/>
        </p:nvSpPr>
        <p:spPr>
          <a:xfrm>
            <a:off x="2746857" y="4937760"/>
            <a:ext cx="2088489" cy="640080"/>
          </a:xfrm>
          <a:prstGeom prst="rect">
            <a:avLst/>
          </a:prstGeom>
          <a:solidFill>
            <a:srgbClr val="FFFFFF"/>
          </a:solidFill>
          <a:ln w="1905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Retrieval tool</a:t>
            </a:r>
          </a:p>
          <a:p>
            <a:pPr algn="ctr"/>
            <a:r>
              <a:rPr sz="900" b="0" i="1">
                <a:solidFill>
                  <a:srgbClr val="4A5D71"/>
                </a:solidFill>
                <a:latin typeface="Calibri"/>
              </a:rPr>
              <a:t>filter + top-k</a:t>
            </a:r>
          </a:p>
        </p:txBody>
      </p:sp>
      <p:sp>
        <p:nvSpPr>
          <p:cNvPr id="48" name="Rectangle 47"/>
          <p:cNvSpPr/>
          <p:nvPr/>
        </p:nvSpPr>
        <p:spPr>
          <a:xfrm>
            <a:off x="5036515" y="4937760"/>
            <a:ext cx="2088489" cy="640080"/>
          </a:xfrm>
          <a:prstGeom prst="rect">
            <a:avLst/>
          </a:prstGeom>
          <a:solidFill>
            <a:srgbClr val="FFFFFF"/>
          </a:solidFill>
          <a:ln w="1905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Context + prompt</a:t>
            </a:r>
          </a:p>
          <a:p>
            <a:pPr algn="ctr"/>
            <a:r>
              <a:rPr sz="900" b="0" i="1">
                <a:solidFill>
                  <a:srgbClr val="4A5D71"/>
                </a:solidFill>
                <a:latin typeface="Calibri"/>
              </a:rPr>
              <a:t>assembled in ReAct loop</a:t>
            </a:r>
          </a:p>
        </p:txBody>
      </p:sp>
      <p:sp>
        <p:nvSpPr>
          <p:cNvPr id="49" name="Rectangle 48"/>
          <p:cNvSpPr/>
          <p:nvPr/>
        </p:nvSpPr>
        <p:spPr>
          <a:xfrm>
            <a:off x="7326172" y="4937760"/>
            <a:ext cx="2088489" cy="640080"/>
          </a:xfrm>
          <a:prstGeom prst="rect">
            <a:avLst/>
          </a:prstGeom>
          <a:solidFill>
            <a:srgbClr val="0E1B2C"/>
          </a:solidFill>
          <a:ln w="1905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Frontier LLM</a:t>
            </a:r>
          </a:p>
          <a:p>
            <a:pPr algn="ctr"/>
            <a:r>
              <a:rPr sz="900" b="0" i="1">
                <a:solidFill>
                  <a:srgbClr val="5FBCD3"/>
                </a:solidFill>
                <a:latin typeface="Calibri"/>
              </a:rPr>
              <a:t>via LiteLLM gateway</a:t>
            </a:r>
          </a:p>
        </p:txBody>
      </p:sp>
      <p:sp>
        <p:nvSpPr>
          <p:cNvPr id="50" name="Rectangle 49"/>
          <p:cNvSpPr/>
          <p:nvPr/>
        </p:nvSpPr>
        <p:spPr>
          <a:xfrm>
            <a:off x="9615830" y="4937760"/>
            <a:ext cx="2088489" cy="640080"/>
          </a:xfrm>
          <a:prstGeom prst="rect">
            <a:avLst/>
          </a:prstGeom>
          <a:solidFill>
            <a:srgbClr val="EFF4F8"/>
          </a:solidFill>
          <a:ln w="1905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0E1B2C"/>
                </a:solidFill>
                <a:latin typeface="Calibri"/>
              </a:rPr>
              <a:t>Answer + citations</a:t>
            </a:r>
          </a:p>
          <a:p>
            <a:pPr algn="ctr"/>
            <a:r>
              <a:rPr sz="900" b="0" i="1">
                <a:solidFill>
                  <a:srgbClr val="4A5D71"/>
                </a:solidFill>
                <a:latin typeface="Calibri"/>
              </a:rPr>
              <a:t>streamed to chat panel</a:t>
            </a:r>
          </a:p>
        </p:txBody>
      </p:sp>
      <p:cxnSp>
        <p:nvCxnSpPr>
          <p:cNvPr id="51" name="Connector 50"/>
          <p:cNvCxnSpPr/>
          <p:nvPr/>
        </p:nvCxnSpPr>
        <p:spPr>
          <a:xfrm>
            <a:off x="2545689.6" y="5257800.0"/>
            <a:ext cx="201168.0" cy="0.0"/>
          </a:xfrm>
          <a:prstGeom prst="line">
            <a:avLst/>
          </a:prstGeom>
          <a:ln w="15875">
            <a:solidFill>
              <a:srgbClr val="2095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835347.2" y="5257800.0"/>
            <a:ext cx="201168.0" cy="0.0"/>
          </a:xfrm>
          <a:prstGeom prst="line">
            <a:avLst/>
          </a:prstGeom>
          <a:ln w="15875">
            <a:solidFill>
              <a:srgbClr val="2095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125004.800000001" y="5257800.0"/>
            <a:ext cx="201168.0" cy="0.0"/>
          </a:xfrm>
          <a:prstGeom prst="line">
            <a:avLst/>
          </a:prstGeom>
          <a:ln w="15875">
            <a:solidFill>
              <a:srgbClr val="2095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414662.4" y="5257800.0"/>
            <a:ext cx="201168.0" cy="0.0"/>
          </a:xfrm>
          <a:prstGeom prst="line">
            <a:avLst/>
          </a:prstGeom>
          <a:ln w="15875">
            <a:solidFill>
              <a:srgbClr val="2095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40080" y="5715000"/>
            <a:ext cx="10881360" cy="640080"/>
          </a:xfrm>
          <a:prstGeom prst="rect">
            <a:avLst/>
          </a:prstGeom>
          <a:noFill/>
        </p:spPr>
        <p:txBody>
          <a:bodyPr wrap="square" anchor="t" lIns="45720" rIns="45720" tIns="18288" bIns="18288">
            <a:spAutoFit/>
          </a:bodyPr>
          <a:lstStyle/>
          <a:p>
            <a:pPr algn="l"/>
            <a:r>
              <a:rPr sz="1200" b="0" i="1">
                <a:solidFill>
                  <a:srgbClr val="4A5D71"/>
                </a:solidFill>
                <a:latin typeface="Calibri"/>
              </a:rPr>
              <a:t>Every fact the agent states comes from a tool result. The LLM reasons; it doesn't assert.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Five design calls that held up.</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Same shape as the pipeline slide — each one had a simpler alternative that wouldn't have lasted.</a:t>
            </a:r>
          </a:p>
        </p:txBody>
      </p:sp>
      <p:graphicFrame>
        <p:nvGraphicFramePr>
          <p:cNvPr id="5" name="Table 4"/>
          <p:cNvGraphicFramePr>
            <a:graphicFrameLocks noGrp="1"/>
          </p:cNvGraphicFramePr>
          <p:nvPr/>
        </p:nvGraphicFramePr>
        <p:xfrm>
          <a:off x="548640" y="1554480"/>
          <a:ext cx="11064240" cy="4130040"/>
        </p:xfrm>
        <a:graphic>
          <a:graphicData uri="http://schemas.openxmlformats.org/drawingml/2006/table">
            <a:tbl>
              <a:tblPr firstRow="1" bandRow="1">
                <a:tableStyleId>{5C22544A-7EE6-4342-B048-85BDC9FD1C3A}</a:tableStyleId>
              </a:tblPr>
              <a:tblGrid>
                <a:gridCol w="457200"/>
                <a:gridCol w="4206240"/>
                <a:gridCol w="6400800"/>
              </a:tblGrid>
              <a:tr h="320040">
                <a:tc>
                  <a:txBody>
                    <a:bodyPr wrap="square"/>
                    <a:lstStyle/>
                    <a:p>
                      <a:pPr algn="l"/>
                      <a:r>
                        <a:rPr sz="1200" b="1" i="0">
                          <a:solidFill>
                            <a:srgbClr val="FFFFFF"/>
                          </a:solidFill>
                          <a:latin typeface="Calibri"/>
                        </a:rPr>
                        <a:t>#</a:t>
                      </a:r>
                    </a:p>
                  </a:txBody>
                  <a:tcPr marL="73152" marR="73152" marT="45720" marB="45720" anchor="t">
                    <a:solidFill>
                      <a:srgbClr val="0E1B2C"/>
                    </a:solidFill>
                  </a:tcPr>
                </a:tc>
                <a:tc>
                  <a:txBody>
                    <a:bodyPr wrap="square"/>
                    <a:lstStyle/>
                    <a:p>
                      <a:pPr algn="l"/>
                      <a:r>
                        <a:rPr sz="1200" b="1" i="0">
                          <a:solidFill>
                            <a:srgbClr val="FFFFFF"/>
                          </a:solidFill>
                          <a:latin typeface="Calibri"/>
                        </a:rPr>
                        <a:t>Design call</a:t>
                      </a:r>
                    </a:p>
                  </a:txBody>
                  <a:tcPr marL="73152" marR="73152" marT="45720" marB="45720" anchor="t">
                    <a:solidFill>
                      <a:srgbClr val="0E1B2C"/>
                    </a:solidFill>
                  </a:tcPr>
                </a:tc>
                <a:tc>
                  <a:txBody>
                    <a:bodyPr wrap="square"/>
                    <a:lstStyle/>
                    <a:p>
                      <a:pPr algn="l"/>
                      <a:r>
                        <a:rPr sz="1200" b="1" i="0">
                          <a:solidFill>
                            <a:srgbClr val="FFFFFF"/>
                          </a:solidFill>
                          <a:latin typeface="Calibri"/>
                        </a:rPr>
                        <a:t>Why it lasted</a:t>
                      </a:r>
                    </a:p>
                  </a:txBody>
                  <a:tcPr marL="73152" marR="73152" marT="45720" marB="45720" anchor="t">
                    <a:solidFill>
                      <a:srgbClr val="0E1B2C"/>
                    </a:solidFill>
                  </a:tcPr>
                </a:tc>
              </a:tr>
              <a:tr h="762000">
                <a:tc>
                  <a:txBody>
                    <a:bodyPr wrap="square"/>
                    <a:lstStyle/>
                    <a:p>
                      <a:pPr algn="ctr"/>
                      <a:r>
                        <a:rPr sz="1100" b="1" i="0">
                          <a:solidFill>
                            <a:srgbClr val="0E1B2C"/>
                          </a:solidFill>
                          <a:latin typeface="Calibri"/>
                        </a:rPr>
                        <a:t>1</a:t>
                      </a:r>
                    </a:p>
                  </a:txBody>
                  <a:tcPr marL="73152" marR="73152" marT="45720" marB="45720" anchor="t"/>
                </a:tc>
                <a:tc>
                  <a:txBody>
                    <a:bodyPr wrap="square"/>
                    <a:lstStyle/>
                    <a:p>
                      <a:pPr algn="l"/>
                      <a:r>
                        <a:rPr b="0" sz="1100" i="0">
                          <a:solidFill>
                            <a:srgbClr val="0E1B2C"/>
                          </a:solidFill>
                          <a:latin typeface="Calibri"/>
                        </a:rPr>
                        <a:t>Tools are the grounding line.</a:t>
                      </a:r>
                      <a:r>
                        <a:rPr b="0" sz="1100" i="0">
                          <a:solidFill>
                            <a:srgbClr val="0E1B2C"/>
                          </a:solidFill>
                          <a:latin typeface="Calibri"/>
                        </a:rPr>
                        <a:t> Every fact comes from a tool result. The LLM reasons; it doesn't claim.</a:t>
                      </a:r>
                    </a:p>
                  </a:txBody>
                  <a:tcPr marL="73152" marR="73152" marT="45720" marB="45720" anchor="t"/>
                </a:tc>
                <a:tc>
                  <a:txBody>
                    <a:bodyPr wrap="square"/>
                    <a:lstStyle/>
                    <a:p>
                      <a:pPr algn="l"/>
                      <a:r>
                        <a:rPr sz="1100" b="0" i="0">
                          <a:solidFill>
                            <a:srgbClr val="0E1B2C"/>
                          </a:solidFill>
                          <a:latin typeface="Calibri"/>
                        </a:rPr>
                        <a:t>Letting the LLM answer freely and patching with prompts is a treadmill — engineers spot the wrong answer the second it shows up, and trust never recovers. Tool-result-or-nothing is the only posture that earns trust on day one.</a:t>
                      </a:r>
                    </a:p>
                  </a:txBody>
                  <a:tcPr marL="73152" marR="73152" marT="45720" marB="45720" anchor="t"/>
                </a:tc>
              </a:tr>
              <a:tr h="762000">
                <a:tc>
                  <a:txBody>
                    <a:bodyPr wrap="square"/>
                    <a:lstStyle/>
                    <a:p>
                      <a:pPr algn="ctr"/>
                      <a:r>
                        <a:rPr sz="1100" b="1" i="0">
                          <a:solidFill>
                            <a:srgbClr val="0E1B2C"/>
                          </a:solidFill>
                          <a:latin typeface="Calibri"/>
                        </a:rPr>
                        <a:t>2</a:t>
                      </a:r>
                    </a:p>
                  </a:txBody>
                  <a:tcPr marL="73152" marR="73152" marT="45720" marB="45720" anchor="t">
                    <a:solidFill>
                      <a:srgbClr val="FBFBFC"/>
                    </a:solidFill>
                  </a:tcPr>
                </a:tc>
                <a:tc>
                  <a:txBody>
                    <a:bodyPr wrap="square"/>
                    <a:lstStyle/>
                    <a:p>
                      <a:pPr algn="l"/>
                      <a:r>
                        <a:rPr b="0" sz="1100" i="0">
                          <a:solidFill>
                            <a:srgbClr val="0E1B2C"/>
                          </a:solidFill>
                          <a:latin typeface="Calibri"/>
                        </a:rPr>
                        <a:t>Persona-scoped tool list, fixed at startup.</a:t>
                      </a:r>
                      <a:r>
                        <a:rPr b="0" sz="1100" i="0">
                          <a:solidFill>
                            <a:srgbClr val="0E1B2C"/>
                          </a:solidFill>
                          <a:latin typeface="Calibri"/>
                        </a:rPr>
                        <a:t> Each role gets only the tools relevant to their job.</a:t>
                      </a:r>
                    </a:p>
                  </a:txBody>
                  <a:tcPr marL="73152" marR="73152" marT="45720" marB="45720" anchor="t">
                    <a:solidFill>
                      <a:srgbClr val="FBFBFC"/>
                    </a:solidFill>
                  </a:tcPr>
                </a:tc>
                <a:tc>
                  <a:txBody>
                    <a:bodyPr wrap="square"/>
                    <a:lstStyle/>
                    <a:p>
                      <a:pPr algn="l"/>
                      <a:r>
                        <a:rPr sz="1100" b="0" i="0">
                          <a:solidFill>
                            <a:srgbClr val="0E1B2C"/>
                          </a:solidFill>
                          <a:latin typeface="Calibri"/>
                        </a:rPr>
                        <a:t>A shared tool list with a prompt telling the LLM what to pick puts access control in the wrong place. Fixed at construction means the wrong tool literally can't be called. Smaller list also makes tool selection more reliable.</a:t>
                      </a:r>
                    </a:p>
                  </a:txBody>
                  <a:tcPr marL="73152" marR="73152" marT="45720" marB="45720" anchor="t">
                    <a:solidFill>
                      <a:srgbClr val="FBFBFC"/>
                    </a:solidFill>
                  </a:tcPr>
                </a:tc>
              </a:tr>
              <a:tr h="762000">
                <a:tc>
                  <a:txBody>
                    <a:bodyPr wrap="square"/>
                    <a:lstStyle/>
                    <a:p>
                      <a:pPr algn="ctr"/>
                      <a:r>
                        <a:rPr sz="1100" b="1" i="0">
                          <a:solidFill>
                            <a:srgbClr val="0E1B2C"/>
                          </a:solidFill>
                          <a:latin typeface="Calibri"/>
                        </a:rPr>
                        <a:t>3</a:t>
                      </a:r>
                    </a:p>
                  </a:txBody>
                  <a:tcPr marL="73152" marR="73152" marT="45720" marB="45720" anchor="t"/>
                </a:tc>
                <a:tc>
                  <a:txBody>
                    <a:bodyPr wrap="square"/>
                    <a:lstStyle/>
                    <a:p>
                      <a:pPr algn="l"/>
                      <a:r>
                        <a:rPr b="0" sz="1100" i="0">
                          <a:solidFill>
                            <a:srgbClr val="0E1B2C"/>
                          </a:solidFill>
                          <a:latin typeface="Calibri"/>
                        </a:rPr>
                        <a:t>Per-user session, scoped to the assessment.</a:t>
                      </a:r>
                      <a:r>
                        <a:rPr b="0" sz="1100" i="0">
                          <a:solidFill>
                            <a:srgbClr val="0E1B2C"/>
                          </a:solidFill>
                          <a:latin typeface="Calibri"/>
                        </a:rPr>
                        <a:t> Two engineers on the same assessment get separate transcripts.</a:t>
                      </a:r>
                    </a:p>
                  </a:txBody>
                  <a:tcPr marL="73152" marR="73152" marT="45720" marB="45720" anchor="t"/>
                </a:tc>
                <a:tc>
                  <a:txBody>
                    <a:bodyPr wrap="square"/>
                    <a:lstStyle/>
                    <a:p>
                      <a:pPr algn="l"/>
                      <a:r>
                        <a:rPr sz="1100" b="0" i="0">
                          <a:solidFill>
                            <a:srgbClr val="0E1B2C"/>
                          </a:solidFill>
                          <a:latin typeface="Calibri"/>
                        </a:rPr>
                        <a:t>A shared session would leak one engineer's exploratory questions into another's view. Conversation context is private by default.</a:t>
                      </a:r>
                    </a:p>
                  </a:txBody>
                  <a:tcPr marL="73152" marR="73152" marT="45720" marB="45720" anchor="t"/>
                </a:tc>
              </a:tr>
              <a:tr h="762000">
                <a:tc>
                  <a:txBody>
                    <a:bodyPr wrap="square"/>
                    <a:lstStyle/>
                    <a:p>
                      <a:pPr algn="ctr"/>
                      <a:r>
                        <a:rPr sz="1100" b="1" i="0">
                          <a:solidFill>
                            <a:srgbClr val="0E1B2C"/>
                          </a:solidFill>
                          <a:latin typeface="Calibri"/>
                        </a:rPr>
                        <a:t>4</a:t>
                      </a:r>
                    </a:p>
                  </a:txBody>
                  <a:tcPr marL="73152" marR="73152" marT="45720" marB="45720" anchor="t">
                    <a:solidFill>
                      <a:srgbClr val="FBFBFC"/>
                    </a:solidFill>
                  </a:tcPr>
                </a:tc>
                <a:tc>
                  <a:txBody>
                    <a:bodyPr wrap="square"/>
                    <a:lstStyle/>
                    <a:p>
                      <a:pPr algn="l"/>
                      <a:r>
                        <a:rPr b="0" sz="1100" i="0">
                          <a:solidFill>
                            <a:srgbClr val="0E1B2C"/>
                          </a:solidFill>
                          <a:latin typeface="Calibri"/>
                        </a:rPr>
                        <a:t>Managed framework owns the ReAct loop.</a:t>
                      </a:r>
                      <a:r>
                        <a:rPr b="0" sz="1100" i="0">
                          <a:solidFill>
                            <a:srgbClr val="0E1B2C"/>
                          </a:solidFill>
                          <a:latin typeface="Calibri"/>
                        </a:rPr>
                        <a:t> The build owns tools and prompts — not orchestration code.</a:t>
                      </a:r>
                    </a:p>
                  </a:txBody>
                  <a:tcPr marL="73152" marR="73152" marT="45720" marB="45720" anchor="t">
                    <a:solidFill>
                      <a:srgbClr val="FBFBFC"/>
                    </a:solidFill>
                  </a:tcPr>
                </a:tc>
                <a:tc>
                  <a:txBody>
                    <a:bodyPr wrap="square"/>
                    <a:lstStyle/>
                    <a:p>
                      <a:pPr algn="l"/>
                      <a:r>
                        <a:rPr sz="1100" b="0" i="0">
                          <a:solidFill>
                            <a:srgbClr val="0E1B2C"/>
                          </a:solidFill>
                          <a:latin typeface="Calibri"/>
                        </a:rPr>
                        <a:t>Custom agent loops sound like more control and become where most agent builds burn time and ship bugs. The framework's loop is solved; time better spent on tools and grounding.</a:t>
                      </a:r>
                    </a:p>
                  </a:txBody>
                  <a:tcPr marL="73152" marR="73152" marT="45720" marB="45720" anchor="t">
                    <a:solidFill>
                      <a:srgbClr val="FBFBFC"/>
                    </a:solidFill>
                  </a:tcPr>
                </a:tc>
              </a:tr>
              <a:tr h="762000">
                <a:tc>
                  <a:txBody>
                    <a:bodyPr wrap="square"/>
                    <a:lstStyle/>
                    <a:p>
                      <a:pPr algn="ctr"/>
                      <a:r>
                        <a:rPr sz="1100" b="1" i="0">
                          <a:solidFill>
                            <a:srgbClr val="0E1B2C"/>
                          </a:solidFill>
                          <a:latin typeface="Calibri"/>
                        </a:rPr>
                        <a:t>5</a:t>
                      </a:r>
                    </a:p>
                  </a:txBody>
                  <a:tcPr marL="73152" marR="73152" marT="45720" marB="45720" anchor="t"/>
                </a:tc>
                <a:tc>
                  <a:txBody>
                    <a:bodyPr wrap="square"/>
                    <a:lstStyle/>
                    <a:p>
                      <a:pPr algn="l"/>
                      <a:r>
                        <a:rPr b="0" sz="1100" i="0">
                          <a:solidFill>
                            <a:srgbClr val="0E1B2C"/>
                          </a:solidFill>
                          <a:latin typeface="Calibri"/>
                        </a:rPr>
                        <a:t>Pre-filter on verified, chunk-level metadata.</a:t>
                      </a:r>
                      <a:r>
                        <a:rPr b="0" sz="1100" i="0">
                          <a:solidFill>
                            <a:srgbClr val="0E1B2C"/>
                          </a:solidFill>
                          <a:latin typeface="Calibri"/>
                        </a:rPr>
                        <a:t> Retrieval calls the index with a deterministic filter (verified equipment-ID, matched against a system-of-record at ingest, copied onto every chunk) before semantic ranking runs.</a:t>
                      </a:r>
                    </a:p>
                  </a:txBody>
                  <a:tcPr marL="73152" marR="73152" marT="45720" marB="45720" anchor="t"/>
                </a:tc>
                <a:tc>
                  <a:txBody>
                    <a:bodyPr wrap="square"/>
                    <a:lstStyle/>
                    <a:p>
                      <a:pPr algn="l"/>
                      <a:r>
                        <a:rPr sz="1100" b="0" i="0">
                          <a:solidFill>
                            <a:srgbClr val="0E1B2C"/>
                          </a:solidFill>
                          <a:latin typeface="Calibri"/>
                        </a:rPr>
                        <a:t>LLM-extracted IDs silently shift the day the model updates; metadata only on the parent + join at query time kills pre-filter (the vector index needs the field on the chunk). Verified-and-on-the-chunk is fast, exact, auditable — and survives a model change.</a:t>
                      </a:r>
                    </a:p>
                  </a:txBody>
                  <a:tcPr marL="73152" marR="73152" marT="45720" marB="45720" anchor="t"/>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One bridge, one question.</a:t>
            </a:r>
          </a:p>
        </p:txBody>
      </p:sp>
      <p:sp>
        <p:nvSpPr>
          <p:cNvPr id="4" name="TextBox 3"/>
          <p:cNvSpPr txBox="1"/>
          <p:nvPr/>
        </p:nvSpPr>
        <p:spPr>
          <a:xfrm>
            <a:off x="640080" y="1645920"/>
            <a:ext cx="10881360" cy="1554480"/>
          </a:xfrm>
          <a:prstGeom prst="rect">
            <a:avLst/>
          </a:prstGeom>
          <a:noFill/>
        </p:spPr>
        <p:txBody>
          <a:bodyPr wrap="square" anchor="t" lIns="45720" rIns="45720" tIns="18288" bIns="18288">
            <a:spAutoFit/>
          </a:bodyPr>
          <a:lstStyle/>
          <a:p>
            <a:pPr algn="l"/>
            <a:r>
              <a:rPr sz="1600" b="0" i="0">
                <a:solidFill>
                  <a:srgbClr val="0E1B2C"/>
                </a:solidFill>
                <a:latin typeface="Calibri"/>
              </a:rPr>
              <a:t>That was the architecture cut. The other half of this engagement is the AI-engineering lessons learnt — how the design, review, and operate loop changes when AI is in the build. Five patterns, three artifacts. Ping me afterwards if that's the cut you want.</a:t>
            </a:r>
          </a:p>
        </p:txBody>
      </p:sp>
      <p:sp>
        <p:nvSpPr>
          <p:cNvPr id="5" name="Rounded Rectangle 4"/>
          <p:cNvSpPr/>
          <p:nvPr/>
        </p:nvSpPr>
        <p:spPr>
          <a:xfrm>
            <a:off x="1371600" y="3931920"/>
            <a:ext cx="9418320" cy="1828800"/>
          </a:xfrm>
          <a:prstGeom prst="roundRect">
            <a:avLst/>
          </a:prstGeom>
          <a:solidFill>
            <a:srgbClr val="EFF4F8"/>
          </a:solidFill>
          <a:ln w="19050">
            <a:solidFill>
              <a:srgbClr val="2095B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1">
                <a:solidFill>
                  <a:srgbClr val="0E1B2C"/>
                </a:solidFill>
                <a:latin typeface="Calibri"/>
              </a:rPr>
              <a:t>Which of these calls would your next build use first?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Building with AI: what teams need that the coding tools don't give them.</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Same engagement, broader frame — the calls that mattered on one team kept showing up on the next.</a:t>
            </a:r>
          </a:p>
        </p:txBody>
      </p:sp>
      <p:sp>
        <p:nvSpPr>
          <p:cNvPr id="5" name="TextBox 4"/>
          <p:cNvSpPr txBox="1"/>
          <p:nvPr/>
        </p:nvSpPr>
        <p:spPr>
          <a:xfrm>
            <a:off x="640080" y="1828800"/>
            <a:ext cx="10881360" cy="457200"/>
          </a:xfrm>
          <a:prstGeom prst="rect">
            <a:avLst/>
          </a:prstGeom>
          <a:noFill/>
        </p:spPr>
        <p:txBody>
          <a:bodyPr wrap="square" anchor="t" lIns="45720" rIns="45720" tIns="18288" bIns="18288">
            <a:spAutoFit/>
          </a:bodyPr>
          <a:lstStyle/>
          <a:p>
            <a:pPr algn="l"/>
            <a:r>
              <a:rPr sz="2000" b="1" i="0">
                <a:solidFill>
                  <a:srgbClr val="2095B2"/>
                </a:solidFill>
                <a:latin typeface="Calibri"/>
              </a:rPr>
              <a:t>Zooming out from the engagement.</a:t>
            </a:r>
          </a:p>
        </p:txBody>
      </p:sp>
      <p:sp>
        <p:nvSpPr>
          <p:cNvPr id="6" name="TextBox 5"/>
          <p:cNvSpPr txBox="1"/>
          <p:nvPr/>
        </p:nvSpPr>
        <p:spPr>
          <a:xfrm>
            <a:off x="640080" y="2423160"/>
            <a:ext cx="10881360" cy="2286000"/>
          </a:xfrm>
          <a:prstGeom prst="rect">
            <a:avLst/>
          </a:prstGeom>
          <a:noFill/>
        </p:spPr>
        <p:txBody>
          <a:bodyPr wrap="square" anchor="t" lIns="45720" rIns="45720" tIns="18288" bIns="18288">
            <a:spAutoFit/>
          </a:bodyPr>
          <a:lstStyle/>
          <a:p>
            <a:pPr algn="l"/>
            <a:r>
              <a:rPr sz="1500" b="0" i="0">
                <a:solidFill>
                  <a:srgbClr val="0E1B2C"/>
                </a:solidFill>
                <a:latin typeface="Calibri"/>
              </a:rPr>
              <a:t>The Arch-Hive view was one engagement, end to end — the design calls, the operating defaults, what would carry into the next build.</a:t>
            </a:r>
          </a:p>
        </p:txBody>
      </p:sp>
      <p:sp>
        <p:nvSpPr>
          <p:cNvPr id="7" name="TextBox 6"/>
          <p:cNvSpPr txBox="1"/>
          <p:nvPr/>
        </p:nvSpPr>
        <p:spPr>
          <a:xfrm>
            <a:off x="640080" y="3154680"/>
            <a:ext cx="10881360" cy="2286000"/>
          </a:xfrm>
          <a:prstGeom prst="rect">
            <a:avLst/>
          </a:prstGeom>
          <a:noFill/>
        </p:spPr>
        <p:txBody>
          <a:bodyPr wrap="square" anchor="t" lIns="45720" rIns="45720" tIns="18288" bIns="18288">
            <a:spAutoFit/>
          </a:bodyPr>
          <a:lstStyle/>
          <a:p>
            <a:pPr algn="l"/>
            <a:r>
              <a:rPr sz="1500" b="0" i="0">
                <a:solidFill>
                  <a:srgbClr val="0E1B2C"/>
                </a:solidFill>
                <a:latin typeface="Calibri"/>
              </a:rPr>
              <a:t>Zoom out one level and the same calls kept showing up on other teams. Different stacks, different domains, same shape — a design step skipped, a review posture that misses the way AI bugs cluster, operating defaults that nobody set until production caught them out.</a:t>
            </a:r>
          </a:p>
        </p:txBody>
      </p:sp>
      <p:sp>
        <p:nvSpPr>
          <p:cNvPr id="8" name="TextBox 7"/>
          <p:cNvSpPr txBox="1"/>
          <p:nvPr/>
        </p:nvSpPr>
        <p:spPr>
          <a:xfrm>
            <a:off x="640080" y="4434840"/>
            <a:ext cx="10881360" cy="2286000"/>
          </a:xfrm>
          <a:prstGeom prst="rect">
            <a:avLst/>
          </a:prstGeom>
          <a:noFill/>
        </p:spPr>
        <p:txBody>
          <a:bodyPr wrap="square" anchor="t" lIns="45720" rIns="45720" tIns="18288" bIns="18288">
            <a:spAutoFit/>
          </a:bodyPr>
          <a:lstStyle/>
          <a:p>
            <a:pPr algn="l"/>
            <a:r>
              <a:rPr sz="1500" b="0" i="1">
                <a:solidFill>
                  <a:srgbClr val="4A5D71"/>
                </a:solidFill>
                <a:latin typeface="Calibri"/>
              </a:rPr>
              <a:t>What follows: the patterns that kept repeating — and the artifacts that close the gaps they expose.</a:t>
            </a:r>
          </a:p>
        </p:txBody>
      </p:sp>
      <p:sp>
        <p:nvSpPr>
          <p:cNvPr id="9" name="TextBox 8"/>
          <p:cNvSpPr txBox="1"/>
          <p:nvPr/>
        </p:nvSpPr>
        <p:spPr>
          <a:xfrm>
            <a:off x="640080" y="6446520"/>
            <a:ext cx="10881360" cy="320040"/>
          </a:xfrm>
          <a:prstGeom prst="rect">
            <a:avLst/>
          </a:prstGeom>
          <a:noFill/>
        </p:spPr>
        <p:txBody>
          <a:bodyPr wrap="square" anchor="t" lIns="45720" rIns="45720" tIns="18288" bIns="18288">
            <a:spAutoFit/>
          </a:bodyPr>
          <a:lstStyle/>
          <a:p>
            <a:pPr algn="l"/>
            <a:r>
              <a:rPr sz="1000" b="0" i="1">
                <a:solidFill>
                  <a:srgbClr val="4A5D71"/>
                </a:solidFill>
                <a:latin typeface="Calibri"/>
              </a:rPr>
              <a:t>Eugene track starts 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Where this came from.</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One observation from a recent engagement, repeated across teams the more it gets looked at.</a:t>
            </a:r>
          </a:p>
        </p:txBody>
      </p:sp>
      <p:sp>
        <p:nvSpPr>
          <p:cNvPr id="5" name="TextBox 4"/>
          <p:cNvSpPr txBox="1"/>
          <p:nvPr/>
        </p:nvSpPr>
        <p:spPr>
          <a:xfrm>
            <a:off x="502920" y="1508760"/>
            <a:ext cx="3657600" cy="4572000"/>
          </a:xfrm>
          <a:prstGeom prst="rect">
            <a:avLst/>
          </a:prstGeom>
          <a:noFill/>
        </p:spPr>
        <p:txBody>
          <a:bodyPr wrap="square" lIns="73152">
            <a:spAutoFit/>
          </a:bodyPr>
          <a:lstStyle/>
          <a:p>
            <a:r>
              <a:rPr sz="1400" b="1">
                <a:solidFill>
                  <a:srgbClr val="2095B2"/>
                </a:solidFill>
                <a:latin typeface="Calibri"/>
              </a:rPr>
              <a:t>The setup.</a:t>
            </a:r>
          </a:p>
          <a:p>
            <a:pPr>
              <a:spcAft>
                <a:spcPts val="200"/>
              </a:spcAft>
            </a:pPr>
            <a:r>
              <a:rPr sz="1300">
                <a:solidFill>
                  <a:srgbClr val="0E1B2C"/>
                </a:solidFill>
                <a:latin typeface="Calibri"/>
              </a:rPr>
              <a:t>A ~10-engineer cloud-services team at an industrial-equipment OEM was building an AI-assisted feature on top of a data pipeline our team had shipped.</a:t>
            </a:r>
          </a:p>
          <a:p>
            <a:pPr>
              <a:spcAft>
                <a:spcPts val="200"/>
              </a:spcAft>
            </a:pPr>
            <a:r>
              <a:rPr sz="1300">
                <a:solidFill>
                  <a:srgbClr val="0E1B2C"/>
                </a:solidFill>
                <a:latin typeface="Calibri"/>
              </a:rPr>
              <a:t/>
            </a:r>
          </a:p>
          <a:p>
            <a:pPr>
              <a:spcAft>
                <a:spcPts val="200"/>
              </a:spcAft>
            </a:pPr>
            <a:r>
              <a:rPr sz="1300">
                <a:solidFill>
                  <a:srgbClr val="0E1B2C"/>
                </a:solidFill>
                <a:latin typeface="Calibri"/>
              </a:rPr>
              <a:t>Skilled engineers, current-generation AI tools, a real production target.</a:t>
            </a:r>
          </a:p>
          <a:p>
            <a:pPr>
              <a:spcAft>
                <a:spcPts val="200"/>
              </a:spcAft>
            </a:pPr>
            <a:r>
              <a:rPr sz="1300">
                <a:solidFill>
                  <a:srgbClr val="0E1B2C"/>
                </a:solidFill>
                <a:latin typeface="Calibri"/>
              </a:rPr>
              <a:t/>
            </a:r>
          </a:p>
          <a:p>
            <a:pPr>
              <a:spcAft>
                <a:spcPts val="200"/>
              </a:spcAft>
            </a:pPr>
            <a:r>
              <a:rPr sz="1300">
                <a:solidFill>
                  <a:srgbClr val="0E1B2C"/>
                </a:solidFill>
                <a:latin typeface="Calibri"/>
              </a:rPr>
              <a:t>Customer directive: use AI for everything, ship fast — no guardrails on how.</a:t>
            </a:r>
          </a:p>
        </p:txBody>
      </p:sp>
      <p:sp>
        <p:nvSpPr>
          <p:cNvPr id="6" name="TextBox 5"/>
          <p:cNvSpPr txBox="1"/>
          <p:nvPr/>
        </p:nvSpPr>
        <p:spPr>
          <a:xfrm>
            <a:off x="4297680" y="1508760"/>
            <a:ext cx="3657600" cy="4572000"/>
          </a:xfrm>
          <a:prstGeom prst="rect">
            <a:avLst/>
          </a:prstGeom>
          <a:noFill/>
        </p:spPr>
        <p:txBody>
          <a:bodyPr wrap="square" lIns="73152">
            <a:spAutoFit/>
          </a:bodyPr>
          <a:lstStyle/>
          <a:p>
            <a:r>
              <a:rPr sz="1400" b="1">
                <a:solidFill>
                  <a:srgbClr val="2095B2"/>
                </a:solidFill>
                <a:latin typeface="Calibri"/>
              </a:rPr>
              <a:t>What happened.</a:t>
            </a:r>
          </a:p>
          <a:p>
            <a:pPr>
              <a:spcAft>
                <a:spcPts val="200"/>
              </a:spcAft>
            </a:pPr>
            <a:r>
              <a:rPr sz="1300">
                <a:solidFill>
                  <a:srgbClr val="0E1B2C"/>
                </a:solidFill>
                <a:latin typeface="Calibri"/>
              </a:rPr>
              <a:t>The feature read well in dev.</a:t>
            </a:r>
          </a:p>
          <a:p>
            <a:pPr>
              <a:spcAft>
                <a:spcPts val="200"/>
              </a:spcAft>
            </a:pPr>
            <a:r>
              <a:rPr sz="1300">
                <a:solidFill>
                  <a:srgbClr val="0E1B2C"/>
                </a:solidFill>
                <a:latin typeface="Calibri"/>
              </a:rPr>
              <a:t/>
            </a:r>
          </a:p>
          <a:p>
            <a:pPr>
              <a:spcAft>
                <a:spcPts val="200"/>
              </a:spcAft>
            </a:pPr>
            <a:r>
              <a:rPr sz="1300">
                <a:solidFill>
                  <a:srgbClr val="0E1B2C"/>
                </a:solidFill>
                <a:latin typeface="Calibri"/>
              </a:rPr>
              <a:t>It broke down on real production data — wrong outputs in edge cases, behavior the team couldn't explain when pressed, fixes that introduced new bugs.</a:t>
            </a:r>
          </a:p>
          <a:p>
            <a:pPr>
              <a:spcAft>
                <a:spcPts val="200"/>
              </a:spcAft>
            </a:pPr>
            <a:r>
              <a:rPr sz="1300">
                <a:solidFill>
                  <a:srgbClr val="0E1B2C"/>
                </a:solidFill>
                <a:latin typeface="Calibri"/>
              </a:rPr>
              <a:t/>
            </a:r>
          </a:p>
          <a:p>
            <a:pPr>
              <a:spcAft>
                <a:spcPts val="200"/>
              </a:spcAft>
            </a:pPr>
            <a:r>
              <a:rPr sz="1300">
                <a:solidFill>
                  <a:srgbClr val="0E1B2C"/>
                </a:solidFill>
                <a:latin typeface="Calibri"/>
              </a:rPr>
              <a:t>What looked like progress was mostly rework.</a:t>
            </a:r>
          </a:p>
        </p:txBody>
      </p:sp>
      <p:sp>
        <p:nvSpPr>
          <p:cNvPr id="7" name="TextBox 6"/>
          <p:cNvSpPr txBox="1"/>
          <p:nvPr/>
        </p:nvSpPr>
        <p:spPr>
          <a:xfrm>
            <a:off x="8092440" y="1508760"/>
            <a:ext cx="3657600" cy="4572000"/>
          </a:xfrm>
          <a:prstGeom prst="rect">
            <a:avLst/>
          </a:prstGeom>
          <a:noFill/>
        </p:spPr>
        <p:txBody>
          <a:bodyPr wrap="square" lIns="73152">
            <a:spAutoFit/>
          </a:bodyPr>
          <a:lstStyle/>
          <a:p>
            <a:r>
              <a:rPr sz="1400" b="1">
                <a:solidFill>
                  <a:srgbClr val="2095B2"/>
                </a:solidFill>
                <a:latin typeface="Calibri"/>
              </a:rPr>
              <a:t>What was actually missing.</a:t>
            </a:r>
          </a:p>
          <a:p>
            <a:pPr>
              <a:spcAft>
                <a:spcPts val="200"/>
              </a:spcAft>
            </a:pPr>
            <a:r>
              <a:rPr sz="1300">
                <a:solidFill>
                  <a:srgbClr val="0E1B2C"/>
                </a:solidFill>
                <a:latin typeface="Calibri"/>
              </a:rPr>
              <a:t>The AI tools weren't the problem — they produced plausible code on demand.</a:t>
            </a:r>
          </a:p>
          <a:p>
            <a:pPr>
              <a:spcAft>
                <a:spcPts val="200"/>
              </a:spcAft>
            </a:pPr>
            <a:r>
              <a:rPr sz="1300">
                <a:solidFill>
                  <a:srgbClr val="0E1B2C"/>
                </a:solidFill>
                <a:latin typeface="Calibri"/>
              </a:rPr>
              <a:t/>
            </a:r>
          </a:p>
          <a:p>
            <a:pPr>
              <a:spcAft>
                <a:spcPts val="200"/>
              </a:spcAft>
            </a:pPr>
            <a:r>
              <a:rPr sz="1300">
                <a:solidFill>
                  <a:srgbClr val="0E1B2C"/>
                </a:solidFill>
                <a:latin typeface="Calibri"/>
              </a:rPr>
              <a:t>What was missing was the practice around them: a design step before code started landing, a review posture that catches the way AI bugs cluster, operating defaults that catch the quiet failures these systems show in prod.</a:t>
            </a:r>
          </a:p>
          <a:p>
            <a:pPr>
              <a:spcAft>
                <a:spcPts val="200"/>
              </a:spcAft>
            </a:pPr>
            <a:r>
              <a:rPr sz="1300">
                <a:solidFill>
                  <a:srgbClr val="0E1B2C"/>
                </a:solidFill>
                <a:latin typeface="Calibri"/>
              </a:rPr>
              <a:t/>
            </a:r>
          </a:p>
          <a:p>
            <a:pPr>
              <a:spcAft>
                <a:spcPts val="200"/>
              </a:spcAft>
            </a:pPr>
            <a:r>
              <a:rPr sz="1300">
                <a:solidFill>
                  <a:srgbClr val="0E1B2C"/>
                </a:solidFill>
                <a:latin typeface="Calibri"/>
              </a:rPr>
              <a:t>That's the gap this talk is about.</a:t>
            </a:r>
          </a:p>
        </p:txBody>
      </p:sp>
      <p:sp>
        <p:nvSpPr>
          <p:cNvPr id="8" name="TextBox 7"/>
          <p:cNvSpPr txBox="1"/>
          <p:nvPr/>
        </p:nvSpPr>
        <p:spPr>
          <a:xfrm>
            <a:off x="640080" y="6446520"/>
            <a:ext cx="10881360" cy="320040"/>
          </a:xfrm>
          <a:prstGeom prst="rect">
            <a:avLst/>
          </a:prstGeom>
          <a:noFill/>
        </p:spPr>
        <p:txBody>
          <a:bodyPr wrap="square" anchor="t" lIns="45720" rIns="45720" tIns="18288" bIns="18288">
            <a:spAutoFit/>
          </a:bodyPr>
          <a:lstStyle/>
          <a:p>
            <a:pPr algn="l"/>
            <a:r>
              <a:rPr sz="1000" b="0" i="1">
                <a:solidFill>
                  <a:srgbClr val="4A5D71"/>
                </a:solidFill>
                <a:latin typeface="Calibri"/>
              </a:rPr>
              <a:t>Slide 2 /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Patterns that kept showing up.</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Different teams, same shape. Each one is a different point in the lifecycle — design, build, review, operate.</a:t>
            </a:r>
          </a:p>
        </p:txBody>
      </p:sp>
      <p:graphicFrame>
        <p:nvGraphicFramePr>
          <p:cNvPr id="5" name="Table 4"/>
          <p:cNvGraphicFramePr>
            <a:graphicFrameLocks noGrp="1"/>
          </p:cNvGraphicFramePr>
          <p:nvPr/>
        </p:nvGraphicFramePr>
        <p:xfrm>
          <a:off x="457200" y="1417320"/>
          <a:ext cx="11247119" cy="4130040"/>
        </p:xfrm>
        <a:graphic>
          <a:graphicData uri="http://schemas.openxmlformats.org/drawingml/2006/table">
            <a:tbl>
              <a:tblPr firstRow="1" bandRow="1">
                <a:tableStyleId>{5C22544A-7EE6-4342-B048-85BDC9FD1C3A}</a:tableStyleId>
              </a:tblPr>
              <a:tblGrid>
                <a:gridCol w="2468879"/>
                <a:gridCol w="4114800"/>
                <a:gridCol w="4663440"/>
              </a:tblGrid>
              <a:tr h="320040">
                <a:tc>
                  <a:txBody>
                    <a:bodyPr wrap="square"/>
                    <a:lstStyle/>
                    <a:p>
                      <a:pPr algn="l"/>
                      <a:r>
                        <a:rPr sz="1200" b="1" i="0">
                          <a:solidFill>
                            <a:srgbClr val="FFFFFF"/>
                          </a:solidFill>
                          <a:latin typeface="Calibri"/>
                        </a:rPr>
                        <a:t>Pattern</a:t>
                      </a:r>
                    </a:p>
                  </a:txBody>
                  <a:tcPr marL="73152" marR="73152" marT="45720" marB="45720" anchor="t">
                    <a:solidFill>
                      <a:srgbClr val="0E1B2C"/>
                    </a:solidFill>
                  </a:tcPr>
                </a:tc>
                <a:tc>
                  <a:txBody>
                    <a:bodyPr wrap="square"/>
                    <a:lstStyle/>
                    <a:p>
                      <a:pPr algn="l"/>
                      <a:r>
                        <a:rPr sz="1200" b="1" i="0">
                          <a:solidFill>
                            <a:srgbClr val="FFFFFF"/>
                          </a:solidFill>
                          <a:latin typeface="Calibri"/>
                        </a:rPr>
                        <a:t>The trap</a:t>
                      </a:r>
                    </a:p>
                  </a:txBody>
                  <a:tcPr marL="73152" marR="73152" marT="45720" marB="45720" anchor="t">
                    <a:solidFill>
                      <a:srgbClr val="0E1B2C"/>
                    </a:solidFill>
                  </a:tcPr>
                </a:tc>
                <a:tc>
                  <a:txBody>
                    <a:bodyPr wrap="square"/>
                    <a:lstStyle/>
                    <a:p>
                      <a:pPr algn="l"/>
                      <a:r>
                        <a:rPr sz="1200" b="1" i="0">
                          <a:solidFill>
                            <a:srgbClr val="FFFFFF"/>
                          </a:solidFill>
                          <a:latin typeface="Calibri"/>
                        </a:rPr>
                        <a:t>The move</a:t>
                      </a:r>
                    </a:p>
                  </a:txBody>
                  <a:tcPr marL="73152" marR="73152" marT="45720" marB="45720" anchor="t">
                    <a:solidFill>
                      <a:srgbClr val="0E1B2C"/>
                    </a:solidFill>
                  </a:tcPr>
                </a:tc>
              </a:tr>
              <a:tr h="762000">
                <a:tc>
                  <a:txBody>
                    <a:bodyPr wrap="square"/>
                    <a:lstStyle/>
                    <a:p>
                      <a:pPr algn="l"/>
                      <a:r>
                        <a:rPr sz="1000" b="0" i="0">
                          <a:solidFill>
                            <a:srgbClr val="0E1B2C"/>
                          </a:solidFill>
                          <a:latin typeface="Calibri"/>
                        </a:rPr>
                        <a:t>Skipping design because AI fills the silence</a:t>
                      </a:r>
                    </a:p>
                    <a:p>
                      <a:pPr algn="l"/>
                      <a:r>
                        <a:rPr sz="1000" b="0" i="0">
                          <a:solidFill>
                            <a:srgbClr val="0E1B2C"/>
                          </a:solidFill>
                          <a:latin typeface="Calibri"/>
                        </a:rPr>
                        <a:t>design</a:t>
                      </a:r>
                    </a:p>
                  </a:txBody>
                  <a:tcPr marL="73152" marR="73152" marT="45720" marB="45720" anchor="t"/>
                </a:tc>
                <a:tc>
                  <a:txBody>
                    <a:bodyPr wrap="square"/>
                    <a:lstStyle/>
                    <a:p>
                      <a:pPr algn="l"/>
                      <a:r>
                        <a:rPr sz="1000" b="0" i="0">
                          <a:solidFill>
                            <a:srgbClr val="0E1B2C"/>
                          </a:solidFill>
                          <a:latin typeface="Calibri"/>
                        </a:rPr>
                        <a:t>The friction that used to force a design conversation is gone. Code starts landing before the design exists.</a:t>
                      </a:r>
                    </a:p>
                  </a:txBody>
                  <a:tcPr marL="73152" marR="73152" marT="45720" marB="45720" anchor="t"/>
                </a:tc>
                <a:tc>
                  <a:txBody>
                    <a:bodyPr wrap="square"/>
                    <a:lstStyle/>
                    <a:p>
                      <a:pPr algn="l"/>
                      <a:r>
                        <a:rPr sz="1000" b="0" i="0">
                          <a:solidFill>
                            <a:srgbClr val="0E1B2C"/>
                          </a:solidFill>
                          <a:latin typeface="Calibri"/>
                        </a:rPr>
                        <a:t>One-page design before the assistant writes a line — contract, eval, failure modes, blast radius, what's out of scope.</a:t>
                      </a:r>
                    </a:p>
                  </a:txBody>
                  <a:tcPr marL="73152" marR="73152" marT="45720" marB="45720" anchor="t"/>
                </a:tc>
              </a:tr>
              <a:tr h="762000">
                <a:tc>
                  <a:txBody>
                    <a:bodyPr wrap="square"/>
                    <a:lstStyle/>
                    <a:p>
                      <a:pPr algn="l"/>
                      <a:r>
                        <a:rPr sz="1000" b="0" i="0">
                          <a:solidFill>
                            <a:srgbClr val="0E1B2C"/>
                          </a:solidFill>
                          <a:latin typeface="Calibri"/>
                        </a:rPr>
                        <a:t>The “ask it again” loop</a:t>
                      </a:r>
                    </a:p>
                    <a:p>
                      <a:pPr algn="l"/>
                      <a:r>
                        <a:rPr sz="1000" b="0" i="0">
                          <a:solidFill>
                            <a:srgbClr val="0E1B2C"/>
                          </a:solidFill>
                          <a:latin typeface="Calibri"/>
                        </a:rPr>
                        <a:t>build</a:t>
                      </a:r>
                    </a:p>
                  </a:txBody>
                  <a:tcPr marL="73152" marR="73152" marT="45720" marB="45720" anchor="t">
                    <a:solidFill>
                      <a:srgbClr val="FBFBFC"/>
                    </a:solidFill>
                  </a:tcPr>
                </a:tc>
                <a:tc>
                  <a:txBody>
                    <a:bodyPr wrap="square"/>
                    <a:lstStyle/>
                    <a:p>
                      <a:pPr algn="l"/>
                      <a:r>
                        <a:rPr sz="1000" b="0" i="0">
                          <a:solidFill>
                            <a:srgbClr val="0E1B2C"/>
                          </a:solidFill>
                          <a:latin typeface="Calibri"/>
                        </a:rPr>
                        <a:t>Generated code breaks. Paste the error back. Accept the next version. Two iterations in, the code is structurally incoherent and nobody can explain why it works.</a:t>
                      </a:r>
                    </a:p>
                  </a:txBody>
                  <a:tcPr marL="73152" marR="73152" marT="45720" marB="45720" anchor="t">
                    <a:solidFill>
                      <a:srgbClr val="FBFBFC"/>
                    </a:solidFill>
                  </a:tcPr>
                </a:tc>
                <a:tc>
                  <a:txBody>
                    <a:bodyPr wrap="square"/>
                    <a:lstStyle/>
                    <a:p>
                      <a:pPr algn="l"/>
                      <a:r>
                        <a:rPr sz="1000" b="0" i="0">
                          <a:solidFill>
                            <a:srgbClr val="0E1B2C"/>
                          </a:solidFill>
                          <a:latin typeface="Calibri"/>
                        </a:rPr>
                        <a:t>Grill the first answer, not the third. Make the assistant defend its assumptions before the code lands. The real design conversation belongs at the first pass.</a:t>
                      </a:r>
                    </a:p>
                  </a:txBody>
                  <a:tcPr marL="73152" marR="73152" marT="45720" marB="45720" anchor="t">
                    <a:solidFill>
                      <a:srgbClr val="FBFBFC"/>
                    </a:solidFill>
                  </a:tcPr>
                </a:tc>
              </a:tr>
              <a:tr h="762000">
                <a:tc>
                  <a:txBody>
                    <a:bodyPr wrap="square"/>
                    <a:lstStyle/>
                    <a:p>
                      <a:pPr algn="l"/>
                      <a:r>
                        <a:rPr sz="1000" b="0" i="0">
                          <a:solidFill>
                            <a:srgbClr val="0E1B2C"/>
                          </a:solidFill>
                          <a:latin typeface="Calibri"/>
                        </a:rPr>
                        <a:t>Looks-correct ≠ prod-ready</a:t>
                      </a:r>
                    </a:p>
                    <a:p>
                      <a:pPr algn="l"/>
                      <a:r>
                        <a:rPr sz="1000" b="0" i="0">
                          <a:solidFill>
                            <a:srgbClr val="0E1B2C"/>
                          </a:solidFill>
                          <a:latin typeface="Calibri"/>
                        </a:rPr>
                        <a:t>prod-readiness</a:t>
                      </a:r>
                    </a:p>
                  </a:txBody>
                  <a:tcPr marL="73152" marR="73152" marT="45720" marB="45720" anchor="t"/>
                </a:tc>
                <a:tc>
                  <a:txBody>
                    <a:bodyPr wrap="square"/>
                    <a:lstStyle/>
                    <a:p>
                      <a:pPr algn="l"/>
                      <a:r>
                        <a:rPr sz="1000" b="0" i="0">
                          <a:solidFill>
                            <a:srgbClr val="0E1B2C"/>
                          </a:solidFill>
                          <a:latin typeface="Calibri"/>
                        </a:rPr>
                        <a:t>AI code passes a casual reading. It quietly skips idempotence, error envelopes, secret handling, retry caps, observability — the things that hurt the first time it hits real prod traffic.</a:t>
                      </a:r>
                    </a:p>
                  </a:txBody>
                  <a:tcPr marL="73152" marR="73152" marT="45720" marB="45720" anchor="t"/>
                </a:tc>
                <a:tc>
                  <a:txBody>
                    <a:bodyPr wrap="square"/>
                    <a:lstStyle/>
                    <a:p>
                      <a:pPr algn="l"/>
                      <a:r>
                        <a:rPr sz="1000" b="0" i="0">
                          <a:solidFill>
                            <a:srgbClr val="0E1B2C"/>
                          </a:solidFill>
                          <a:latin typeface="Calibri"/>
                        </a:rPr>
                        <a:t>An author-side prod-readiness pass before the PR goes up. Same checklist every time. Catches the omissions a happy-path test won't.</a:t>
                      </a:r>
                    </a:p>
                  </a:txBody>
                  <a:tcPr marL="73152" marR="73152" marT="45720" marB="45720" anchor="t"/>
                </a:tc>
              </a:tr>
              <a:tr h="762000">
                <a:tc>
                  <a:txBody>
                    <a:bodyPr wrap="square"/>
                    <a:lstStyle/>
                    <a:p>
                      <a:pPr algn="l"/>
                      <a:r>
                        <a:rPr sz="1000" b="0" i="0">
                          <a:solidFill>
                            <a:srgbClr val="0E1B2C"/>
                          </a:solidFill>
                          <a:latin typeface="Calibri"/>
                        </a:rPr>
                        <a:t>Reviewing AI-generated code is a different job</a:t>
                      </a:r>
                    </a:p>
                    <a:p>
                      <a:pPr algn="l"/>
                      <a:r>
                        <a:rPr sz="1000" b="0" i="0">
                          <a:solidFill>
                            <a:srgbClr val="0E1B2C"/>
                          </a:solidFill>
                          <a:latin typeface="Calibri"/>
                        </a:rPr>
                        <a:t>review</a:t>
                      </a:r>
                    </a:p>
                  </a:txBody>
                  <a:tcPr marL="73152" marR="73152" marT="45720" marB="45720" anchor="t">
                    <a:solidFill>
                      <a:srgbClr val="FBFBFC"/>
                    </a:solidFill>
                  </a:tcPr>
                </a:tc>
                <a:tc>
                  <a:txBody>
                    <a:bodyPr wrap="square"/>
                    <a:lstStyle/>
                    <a:p>
                      <a:pPr algn="l"/>
                      <a:r>
                        <a:rPr sz="1000" b="0" i="0">
                          <a:solidFill>
                            <a:srgbClr val="0E1B2C"/>
                          </a:solidFill>
                          <a:latin typeface="Calibri"/>
                        </a:rPr>
                        <a:t>Human bugs cluster around intent. AI bugs cluster around plausibility — hallucinated APIs, fabricated config keys, libraries used the wrong way, patterns shaped like the codebase convention but off by one assumption.</a:t>
                      </a:r>
                    </a:p>
                  </a:txBody>
                  <a:tcPr marL="73152" marR="73152" marT="45720" marB="45720" anchor="t">
                    <a:solidFill>
                      <a:srgbClr val="FBFBFC"/>
                    </a:solidFill>
                  </a:tcPr>
                </a:tc>
                <a:tc>
                  <a:txBody>
                    <a:bodyPr wrap="square"/>
                    <a:lstStyle/>
                    <a:p>
                      <a:pPr algn="l"/>
                      <a:r>
                        <a:rPr sz="1000" b="0" i="0">
                          <a:solidFill>
                            <a:srgbClr val="0E1B2C"/>
                          </a:solidFill>
                          <a:latin typeface="Calibri"/>
                        </a:rPr>
                        <a:t>Shift the review question from “does this look reasonable?” to “does this actually call something that exists, with the contract it actually has?” Run the code path; don't just read it.</a:t>
                      </a:r>
                    </a:p>
                  </a:txBody>
                  <a:tcPr marL="73152" marR="73152" marT="45720" marB="45720" anchor="t">
                    <a:solidFill>
                      <a:srgbClr val="FBFBFC"/>
                    </a:solidFill>
                  </a:tcPr>
                </a:tc>
              </a:tr>
              <a:tr h="762000">
                <a:tc>
                  <a:txBody>
                    <a:bodyPr wrap="square"/>
                    <a:lstStyle/>
                    <a:p>
                      <a:pPr algn="l"/>
                      <a:r>
                        <a:rPr sz="1000" b="0" i="0">
                          <a:solidFill>
                            <a:srgbClr val="0E1B2C"/>
                          </a:solidFill>
                          <a:latin typeface="Calibri"/>
                        </a:rPr>
                        <a:t>AI systems fail quietly in production</a:t>
                      </a:r>
                    </a:p>
                    <a:p>
                      <a:pPr algn="l"/>
                      <a:r>
                        <a:rPr sz="1000" b="0" i="0">
                          <a:solidFill>
                            <a:srgbClr val="0E1B2C"/>
                          </a:solidFill>
                          <a:latin typeface="Calibri"/>
                        </a:rPr>
                        <a:t>operate</a:t>
                      </a:r>
                    </a:p>
                  </a:txBody>
                  <a:tcPr marL="73152" marR="73152" marT="45720" marB="45720" anchor="t"/>
                </a:tc>
                <a:tc>
                  <a:txBody>
                    <a:bodyPr wrap="square"/>
                    <a:lstStyle/>
                    <a:p>
                      <a:pPr algn="l"/>
                      <a:r>
                        <a:rPr sz="1000" b="0" i="0">
                          <a:solidFill>
                            <a:srgbClr val="0E1B2C"/>
                          </a:solidFill>
                          <a:latin typeface="Calibri"/>
                        </a:rPr>
                        <a:t>Model drift, prompt regression, silent extractor change, nulls instead of stack traces. None of these page — they show up later as a consumer complaint.</a:t>
                      </a:r>
                    </a:p>
                  </a:txBody>
                  <a:tcPr marL="73152" marR="73152" marT="45720" marB="45720" anchor="t"/>
                </a:tc>
                <a:tc>
                  <a:txBody>
                    <a:bodyPr wrap="square"/>
                    <a:lstStyle/>
                    <a:p>
                      <a:pPr algn="l"/>
                      <a:r>
                        <a:rPr sz="1000" b="0" i="0">
                          <a:solidFill>
                            <a:srgbClr val="0E1B2C"/>
                          </a:solidFill>
                          <a:latin typeface="Calibri"/>
                        </a:rPr>
                        <a:t>Operating defaults on day one: lifetime retry counters, typed failure-category enums, dry-run defaults, snapshot-before-write, same-notebook revert.</a:t>
                      </a:r>
                    </a:p>
                  </a:txBody>
                  <a:tcPr marL="73152" marR="73152" marT="45720" marB="45720" anchor="t"/>
                </a:tc>
              </a:tr>
            </a:tbl>
          </a:graphicData>
        </a:graphic>
      </p:graphicFrame>
      <p:sp>
        <p:nvSpPr>
          <p:cNvPr id="6" name="TextBox 5"/>
          <p:cNvSpPr txBox="1"/>
          <p:nvPr/>
        </p:nvSpPr>
        <p:spPr>
          <a:xfrm>
            <a:off x="640080" y="6446520"/>
            <a:ext cx="10881360" cy="320040"/>
          </a:xfrm>
          <a:prstGeom prst="rect">
            <a:avLst/>
          </a:prstGeom>
          <a:noFill/>
        </p:spPr>
        <p:txBody>
          <a:bodyPr wrap="square" anchor="t" lIns="45720" rIns="45720" tIns="18288" bIns="18288">
            <a:spAutoFit/>
          </a:bodyPr>
          <a:lstStyle/>
          <a:p>
            <a:pPr algn="l"/>
            <a:r>
              <a:rPr sz="1000" b="0" i="1">
                <a:solidFill>
                  <a:srgbClr val="4A5D71"/>
                </a:solidFill>
                <a:latin typeface="Calibri"/>
              </a:rPr>
              <a:t>Slide 3 /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64592"/>
            <a:ext cx="10881360" cy="594360"/>
          </a:xfrm>
          <a:prstGeom prst="rect">
            <a:avLst/>
          </a:prstGeom>
          <a:noFill/>
        </p:spPr>
        <p:txBody>
          <a:bodyPr wrap="square" anchor="t" lIns="45720" rIns="45720" tIns="18288" bIns="18288">
            <a:spAutoFit/>
          </a:bodyPr>
          <a:lstStyle/>
          <a:p>
            <a:pPr algn="l"/>
            <a:r>
              <a:rPr sz="2600" b="1" i="0">
                <a:solidFill>
                  <a:srgbClr val="FFFFFF"/>
                </a:solidFill>
                <a:latin typeface="Calibri"/>
              </a:rPr>
              <a:t>Closing the loop — and where this can be automated.</a:t>
            </a:r>
          </a:p>
        </p:txBody>
      </p:sp>
      <p:sp>
        <p:nvSpPr>
          <p:cNvPr id="4" name="TextBox 3"/>
          <p:cNvSpPr txBox="1"/>
          <p:nvPr/>
        </p:nvSpPr>
        <p:spPr>
          <a:xfrm>
            <a:off x="640080" y="658368"/>
            <a:ext cx="10881360" cy="365760"/>
          </a:xfrm>
          <a:prstGeom prst="rect">
            <a:avLst/>
          </a:prstGeom>
          <a:noFill/>
        </p:spPr>
        <p:txBody>
          <a:bodyPr wrap="square" anchor="t" lIns="45720" rIns="45720" tIns="18288" bIns="18288">
            <a:spAutoFit/>
          </a:bodyPr>
          <a:lstStyle/>
          <a:p>
            <a:pPr algn="l"/>
            <a:r>
              <a:rPr sz="1400" b="0" i="1">
                <a:solidFill>
                  <a:srgbClr val="5FBCD3"/>
                </a:solidFill>
                <a:latin typeface="Calibri"/>
              </a:rPr>
              <a:t>Three artifacts, one per gap in the lifecycle. v1 is a drop-in template the team can use tomorrow. v2 is an agent that enforces the discipline where the work actually happens — in the IDE, on the PR, on the on-call channel.</a:t>
            </a:r>
          </a:p>
        </p:txBody>
      </p:sp>
      <p:graphicFrame>
        <p:nvGraphicFramePr>
          <p:cNvPr id="5" name="Table 4"/>
          <p:cNvGraphicFramePr>
            <a:graphicFrameLocks noGrp="1"/>
          </p:cNvGraphicFramePr>
          <p:nvPr/>
        </p:nvGraphicFramePr>
        <p:xfrm>
          <a:off x="457200" y="1691640"/>
          <a:ext cx="11247120" cy="3749040"/>
        </p:xfrm>
        <a:graphic>
          <a:graphicData uri="http://schemas.openxmlformats.org/drawingml/2006/table">
            <a:tbl>
              <a:tblPr firstRow="1" bandRow="1">
                <a:tableStyleId>{5C22544A-7EE6-4342-B048-85BDC9FD1C3A}</a:tableStyleId>
              </a:tblPr>
              <a:tblGrid>
                <a:gridCol w="2286000"/>
                <a:gridCol w="4206240"/>
                <a:gridCol w="4754880"/>
              </a:tblGrid>
              <a:tr h="320040">
                <a:tc>
                  <a:txBody>
                    <a:bodyPr wrap="square"/>
                    <a:lstStyle/>
                    <a:p>
                      <a:pPr algn="l"/>
                      <a:r>
                        <a:rPr sz="1200" b="1" i="0">
                          <a:solidFill>
                            <a:srgbClr val="FFFFFF"/>
                          </a:solidFill>
                          <a:latin typeface="Calibri"/>
                        </a:rPr>
                        <a:t>Artifact</a:t>
                      </a:r>
                    </a:p>
                  </a:txBody>
                  <a:tcPr marL="73152" marR="73152" marT="45720" marB="45720" anchor="t">
                    <a:solidFill>
                      <a:srgbClr val="0E1B2C"/>
                    </a:solidFill>
                  </a:tcPr>
                </a:tc>
                <a:tc>
                  <a:txBody>
                    <a:bodyPr wrap="square"/>
                    <a:lstStyle/>
                    <a:p>
                      <a:pPr algn="l"/>
                      <a:r>
                        <a:rPr sz="1200" b="1" i="0">
                          <a:solidFill>
                            <a:srgbClr val="FFFFFF"/>
                          </a:solidFill>
                          <a:latin typeface="Calibri"/>
                        </a:rPr>
                        <a:t>Manual form (v1 — drop-in template)</a:t>
                      </a:r>
                    </a:p>
                  </a:txBody>
                  <a:tcPr marL="73152" marR="73152" marT="45720" marB="45720" anchor="t">
                    <a:solidFill>
                      <a:srgbClr val="0E1B2C"/>
                    </a:solidFill>
                  </a:tcPr>
                </a:tc>
                <a:tc>
                  <a:txBody>
                    <a:bodyPr wrap="square"/>
                    <a:lstStyle/>
                    <a:p>
                      <a:pPr algn="l"/>
                      <a:r>
                        <a:rPr sz="1200" b="1" i="0">
                          <a:solidFill>
                            <a:srgbClr val="FFFFFF"/>
                          </a:solidFill>
                          <a:latin typeface="Calibri"/>
                        </a:rPr>
                        <a:t>Automated form (v2 — agent)</a:t>
                      </a:r>
                    </a:p>
                  </a:txBody>
                  <a:tcPr marL="73152" marR="73152" marT="45720" marB="45720" anchor="t">
                    <a:solidFill>
                      <a:srgbClr val="0E1B2C"/>
                    </a:solidFill>
                  </a:tcPr>
                </a:tc>
              </a:tr>
              <a:tr h="1143000">
                <a:tc>
                  <a:txBody>
                    <a:bodyPr wrap="square"/>
                    <a:lstStyle/>
                    <a:p>
                      <a:pPr algn="l"/>
                      <a:r>
                        <a:rPr sz="1100" b="0" i="0">
                          <a:solidFill>
                            <a:srgbClr val="0E1B2C"/>
                          </a:solidFill>
                          <a:latin typeface="Calibri"/>
                        </a:rPr>
                        <a:t>AI design scaffold</a:t>
                      </a:r>
                    </a:p>
                    <a:p>
                      <a:pPr algn="l"/>
                      <a:r>
                        <a:rPr sz="1100" b="0" i="0">
                          <a:solidFill>
                            <a:srgbClr val="0E1B2C"/>
                          </a:solidFill>
                          <a:latin typeface="Calibri"/>
                        </a:rPr>
                        <a:t>design step</a:t>
                      </a:r>
                    </a:p>
                  </a:txBody>
                  <a:tcPr marL="73152" marR="73152" marT="45720" marB="45720" anchor="t"/>
                </a:tc>
                <a:tc>
                  <a:txBody>
                    <a:bodyPr wrap="square"/>
                    <a:lstStyle/>
                    <a:p>
                      <a:pPr algn="l"/>
                      <a:r>
                        <a:rPr sz="1100" b="0" i="0">
                          <a:solidFill>
                            <a:srgbClr val="0E1B2C"/>
                          </a:solidFill>
                          <a:latin typeface="Calibri"/>
                        </a:rPr>
                        <a:t>One-page design — contract, eval, failure modes, blast radius, scope — the team fills in before the assistant writes a line.</a:t>
                      </a:r>
                    </a:p>
                  </a:txBody>
                  <a:tcPr marL="73152" marR="73152" marT="45720" marB="45720" anchor="t"/>
                </a:tc>
                <a:tc>
                  <a:txBody>
                    <a:bodyPr wrap="square"/>
                    <a:lstStyle/>
                    <a:p>
                      <a:pPr algn="l"/>
                      <a:r>
                        <a:rPr sz="1100" b="0" i="0">
                          <a:solidFill>
                            <a:srgbClr val="0E1B2C"/>
                          </a:solidFill>
                          <a:latin typeface="Calibri"/>
                        </a:rPr>
                        <a:t>Chat-mode agent that interviews the engineer through the fields, won't let any get skipped, and writes the design doc into the repo. Refuses to start code generation until the gaps are closed.</a:t>
                      </a:r>
                    </a:p>
                  </a:txBody>
                  <a:tcPr marL="73152" marR="73152" marT="45720" marB="45720" anchor="t"/>
                </a:tc>
              </a:tr>
              <a:tr h="1143000">
                <a:tc>
                  <a:txBody>
                    <a:bodyPr wrap="square"/>
                    <a:lstStyle/>
                    <a:p>
                      <a:pPr algn="l"/>
                      <a:r>
                        <a:rPr sz="1100" b="0" i="0">
                          <a:solidFill>
                            <a:srgbClr val="0E1B2C"/>
                          </a:solidFill>
                          <a:latin typeface="Calibri"/>
                        </a:rPr>
                        <a:t>AI PR playbook</a:t>
                      </a:r>
                    </a:p>
                    <a:p>
                      <a:pPr algn="l"/>
                      <a:r>
                        <a:rPr sz="1100" b="0" i="0">
                          <a:solidFill>
                            <a:srgbClr val="0E1B2C"/>
                          </a:solidFill>
                          <a:latin typeface="Calibri"/>
                        </a:rPr>
                        <a:t>review step</a:t>
                      </a:r>
                    </a:p>
                  </a:txBody>
                  <a:tcPr marL="73152" marR="73152" marT="45720" marB="45720" anchor="t">
                    <a:solidFill>
                      <a:srgbClr val="FBFBFC"/>
                    </a:solidFill>
                  </a:tcPr>
                </a:tc>
                <a:tc>
                  <a:txBody>
                    <a:bodyPr wrap="square"/>
                    <a:lstStyle/>
                    <a:p>
                      <a:pPr algn="l"/>
                      <a:r>
                        <a:rPr sz="1100" b="0" i="0">
                          <a:solidFill>
                            <a:srgbClr val="0E1B2C"/>
                          </a:solidFill>
                          <a:latin typeface="Calibri"/>
                        </a:rPr>
                        <a:t>Two-half checklist. Author runs the prod-readiness half before pushing. Reviewer runs the plausibility-check half on the PR.</a:t>
                      </a:r>
                    </a:p>
                  </a:txBody>
                  <a:tcPr marL="73152" marR="73152" marT="45720" marB="45720" anchor="t">
                    <a:solidFill>
                      <a:srgbClr val="FBFBFC"/>
                    </a:solidFill>
                  </a:tcPr>
                </a:tc>
                <a:tc>
                  <a:txBody>
                    <a:bodyPr wrap="square"/>
                    <a:lstStyle/>
                    <a:p>
                      <a:pPr algn="l"/>
                      <a:r>
                        <a:rPr sz="1100" b="0" i="0">
                          <a:solidFill>
                            <a:srgbClr val="0E1B2C"/>
                          </a:solidFill>
                          <a:latin typeface="Calibri"/>
                        </a:rPr>
                        <a:t>Paired agents on the PR. Author-side runs prod-readiness checks on the diff at push time. Reviewer-side posts plausibility comments — hallucinated APIs, fabricated config keys, library misuse — before a human ever opens the PR.</a:t>
                      </a:r>
                    </a:p>
                  </a:txBody>
                  <a:tcPr marL="73152" marR="73152" marT="45720" marB="45720" anchor="t">
                    <a:solidFill>
                      <a:srgbClr val="FBFBFC"/>
                    </a:solidFill>
                  </a:tcPr>
                </a:tc>
              </a:tr>
              <a:tr h="1143000">
                <a:tc>
                  <a:txBody>
                    <a:bodyPr wrap="square"/>
                    <a:lstStyle/>
                    <a:p>
                      <a:pPr algn="l"/>
                      <a:r>
                        <a:rPr sz="1100" b="0" i="0">
                          <a:solidFill>
                            <a:srgbClr val="0E1B2C"/>
                          </a:solidFill>
                          <a:latin typeface="Calibri"/>
                        </a:rPr>
                        <a:t>AI ops defaults</a:t>
                      </a:r>
                    </a:p>
                    <a:p>
                      <a:pPr algn="l"/>
                      <a:r>
                        <a:rPr sz="1100" b="0" i="0">
                          <a:solidFill>
                            <a:srgbClr val="0E1B2C"/>
                          </a:solidFill>
                          <a:latin typeface="Calibri"/>
                        </a:rPr>
                        <a:t>operate step</a:t>
                      </a:r>
                    </a:p>
                  </a:txBody>
                  <a:tcPr marL="73152" marR="73152" marT="45720" marB="45720" anchor="t"/>
                </a:tc>
                <a:tc>
                  <a:txBody>
                    <a:bodyPr wrap="square"/>
                    <a:lstStyle/>
                    <a:p>
                      <a:pPr algn="l"/>
                      <a:r>
                        <a:rPr sz="1100" b="0" i="0">
                          <a:solidFill>
                            <a:srgbClr val="0E1B2C"/>
                          </a:solidFill>
                          <a:latin typeface="Calibri"/>
                        </a:rPr>
                        <a:t>One-page set of defaults adopted day one of prod — lifetime retry counters, failure-category enums, dry-run defaults, snapshot-before-write, same-notebook revert.</a:t>
                      </a:r>
                    </a:p>
                  </a:txBody>
                  <a:tcPr marL="73152" marR="73152" marT="45720" marB="45720" anchor="t"/>
                </a:tc>
                <a:tc>
                  <a:txBody>
                    <a:bodyPr wrap="square"/>
                    <a:lstStyle/>
                    <a:p>
                      <a:pPr algn="l"/>
                      <a:r>
                        <a:rPr sz="1100" b="0" i="0">
                          <a:solidFill>
                            <a:srgbClr val="0E1B2C"/>
                          </a:solidFill>
                          <a:latin typeface="Calibri"/>
                        </a:rPr>
                        <a:t>Triage agent that reads the failure-category enum + recent runs and surfaces the matching diagnostic when a quiet failure shows up. The defaults themselves stay a doc — they're code patterns, not agent behavior.</a:t>
                      </a:r>
                    </a:p>
                  </a:txBody>
                  <a:tcPr marL="73152" marR="73152" marT="45720" marB="45720" anchor="t"/>
                </a:tc>
              </a:tr>
            </a:tbl>
          </a:graphicData>
        </a:graphic>
      </p:graphicFrame>
      <p:sp>
        <p:nvSpPr>
          <p:cNvPr id="6" name="TextBox 5"/>
          <p:cNvSpPr txBox="1"/>
          <p:nvPr/>
        </p:nvSpPr>
        <p:spPr>
          <a:xfrm>
            <a:off x="502920" y="5349240"/>
            <a:ext cx="11155680" cy="914400"/>
          </a:xfrm>
          <a:prstGeom prst="rect">
            <a:avLst/>
          </a:prstGeom>
          <a:noFill/>
        </p:spPr>
        <p:txBody>
          <a:bodyPr wrap="square" anchor="t" lIns="45720" rIns="45720" tIns="18288" bIns="18288">
            <a:spAutoFit/>
          </a:bodyPr>
          <a:lstStyle/>
          <a:p>
            <a:pPr algn="l"/>
            <a:r>
              <a:rPr sz="1200" b="0" i="0">
                <a:solidFill>
                  <a:srgbClr val="0E1B2C"/>
                </a:solidFill>
                <a:latin typeface="Calibri"/>
              </a:rPr>
              <a:t>Templates ship first because they're faster to validate on a real engagement. Agents follow wherever templates land — same content, new surface.</a:t>
            </a:r>
          </a:p>
        </p:txBody>
      </p:sp>
      <p:sp>
        <p:nvSpPr>
          <p:cNvPr id="7" name="TextBox 6"/>
          <p:cNvSpPr txBox="1"/>
          <p:nvPr/>
        </p:nvSpPr>
        <p:spPr>
          <a:xfrm>
            <a:off x="502920" y="5806440"/>
            <a:ext cx="11155680" cy="548640"/>
          </a:xfrm>
          <a:prstGeom prst="rect">
            <a:avLst/>
          </a:prstGeom>
          <a:noFill/>
        </p:spPr>
        <p:txBody>
          <a:bodyPr wrap="square" anchor="t" lIns="45720" rIns="45720" tIns="18288" bIns="18288">
            <a:spAutoFit/>
          </a:bodyPr>
          <a:lstStyle/>
          <a:p>
            <a:pPr algn="l"/>
            <a:r>
              <a:rPr sz="1200" b="0" i="1">
                <a:solidFill>
                  <a:srgbClr val="2095B2"/>
                </a:solidFill>
                <a:latin typeface="Calibri"/>
              </a:rPr>
              <a:t>Open question for Eugene: which one has the most pull for the teams you're closest to — and which one is the better first bet for the agent form?</a:t>
            </a:r>
          </a:p>
        </p:txBody>
      </p:sp>
      <p:sp>
        <p:nvSpPr>
          <p:cNvPr id="8" name="TextBox 7"/>
          <p:cNvSpPr txBox="1"/>
          <p:nvPr/>
        </p:nvSpPr>
        <p:spPr>
          <a:xfrm>
            <a:off x="640080" y="6446520"/>
            <a:ext cx="10881360" cy="320040"/>
          </a:xfrm>
          <a:prstGeom prst="rect">
            <a:avLst/>
          </a:prstGeom>
          <a:noFill/>
        </p:spPr>
        <p:txBody>
          <a:bodyPr wrap="square" anchor="t" lIns="45720" rIns="45720" tIns="18288" bIns="18288">
            <a:spAutoFit/>
          </a:bodyPr>
          <a:lstStyle/>
          <a:p>
            <a:pPr algn="l"/>
            <a:r>
              <a:rPr sz="1000" b="0" i="1">
                <a:solidFill>
                  <a:srgbClr val="4A5D71"/>
                </a:solidFill>
                <a:latin typeface="Calibri"/>
              </a:rPr>
              <a:t>Slide 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