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F3D0-096B-8732-C8C7-F0F81D904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9E5C4-0AE8-3BAF-3E10-92905A5E4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B6203-B746-3289-2600-C230C4C2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C0E1B-D6DE-5969-6145-E6B7627F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D59BE-F1B1-DDEA-BB1A-1E749287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2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EF44-2E79-60E4-9B5E-494A92F5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B0D32-372D-C625-2EB6-8EE4F0F6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F89B-C50E-EDE8-C410-6FEBC25F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1AE8-7272-6E98-6F4F-32570194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73BD2-6332-7B54-F479-F694A858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A21B-D143-7CCA-4057-244ED187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B727C-0A39-F445-8037-5F6B54BCE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78A88-6EF0-1742-AB97-8459C4F2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7A755-E228-DEB5-D796-2CA41638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B1495-4556-319F-35A3-DDDC180A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8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F269-061C-A764-29EE-14F496BC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9AED-8D47-4CA9-DC2D-AF5702AAC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80150-1631-900C-BBAD-E42E931C6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C6F24-A39F-4F8D-3B52-081F2667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740AC-CDD0-47D0-55D2-159A3D91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E7770-8AF6-35A3-2CD9-68F8E4DC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A84F-ED6F-1DE7-05DD-E9E048E4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953A9-F1DA-002D-725B-476F01AAA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45144-830A-0546-9F3A-F3C8801D8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DD8B8-834B-A153-2797-BA8E62951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CEA49-1216-EA7F-0546-18B2EA3DD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3B162-75FD-0EF0-49BD-CC00E571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1E159-F8F1-80D9-9822-2199E177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B11E4-787E-09C8-2622-3ED98FEA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2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3EE1-8E9E-74DC-BD84-AA6415B7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04B5D-A77D-B393-82ED-21EEC8FE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69016-3E55-953F-1D6C-4AEBA594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09587-C4B8-58B7-2C32-9110897B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9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FBC1E-DCC3-D3F6-6711-E6676A5D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2034A-B76A-B435-A0BD-9E6F34388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10323-D648-E769-C92A-CFB57A1B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4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F3EA-03CB-3650-A634-8DF38A628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6D3B-8A55-959A-E2AF-2060FEFC6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666AA-9772-FCEA-94B7-698E0AF36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6B69D-5CE0-F193-AB52-3888B7F2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9F1F7-A8B5-B97F-67D2-87F26807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63E56-A021-6090-2924-8A5C2055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01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E973-9F29-D67E-5015-AC48B6D8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26654-73EE-6969-6D53-8B8005176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BCFD-6D7D-D891-35ED-7B9DA78A9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C110E-F281-6967-1A2E-99157287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ECA0C-57CE-6157-64A5-104CCF66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69FD6-F5D1-2C4E-C1F4-ED51E110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4ABC-0C45-2AD6-DA9A-081AC799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7253B-5824-7B9C-BC21-69821AD7B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1AFF-8384-D2C7-3067-69AE4F33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46914-C52E-1D58-4133-DB1FA2A5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509D-47C6-0FE2-2E67-9D381A11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80D56-228C-E9B3-D70A-976138ABF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FE660-A682-7EEA-1285-5DD506944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F93B0-D6A6-FCDE-5F4C-8840EE2C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C14B4-3CA6-CF4C-3264-8EE7C7A5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24DC5-A5A6-5C58-E31C-2A7C69C0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BF626-8C53-EAC6-A185-0422622B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61B6C-8833-8CFF-7B2F-0C398B561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DFE31-569D-033C-429D-43C228F9B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393B5-18F4-411C-88D1-6C925140098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61645-1313-6646-507E-3D2FFB9CF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F789-7578-D416-E7CC-5CEFD3B7A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8264F-34EE-48D4-9D1E-1C5D528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2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5848-9E3F-8C05-D844-0BEC6305FE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FSR v2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9BC20-3996-92DB-BB82-4138883EC8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Improved how FSRs are understood, tagged, chunked, and retrieved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549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0043-844D-A83A-9FA1-952E4D0F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A074D-9DBF-EA52-B409-F44FA4CAA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FSR documents are not structurally uniform:</a:t>
            </a:r>
          </a:p>
          <a:p>
            <a:r>
              <a:rPr lang="en-US" dirty="0"/>
              <a:t>A single document may contain multiple equipment types, multiple ESNs, shared sections, and nested subsections.</a:t>
            </a:r>
          </a:p>
          <a:p>
            <a:pPr lvl="0"/>
            <a:r>
              <a:rPr lang="en-US" dirty="0"/>
              <a:t>Important evidence is not always expressed consistently: the same equipment may appear in a heading, a table, a subsection title, or surrounding context.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1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-apple-system"/>
              </a:rPr>
              <a:t>       Multi-equipment FSRs (Gas Turbine + Generator on same document) have two failure modes:</a:t>
            </a:r>
            <a:br>
              <a:rPr lang="en-US" sz="31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-apple-system"/>
              </a:rPr>
            </a:br>
            <a:endParaRPr lang="en-US" sz="3100" b="1" i="1" dirty="0">
              <a:solidFill>
                <a:schemeClr val="tx2">
                  <a:lumMod val="75000"/>
                  <a:lumOff val="25000"/>
                </a:schemeClr>
              </a:solidFill>
              <a:latin typeface="-apple-system"/>
            </a:endParaRPr>
          </a:p>
          <a:p>
            <a:r>
              <a:rPr lang="en-US" sz="31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-apple-system"/>
              </a:rPr>
              <a:t>Retrieval miss — User queries Generator ESN, but chunks are tagged with GT ESN.</a:t>
            </a:r>
          </a:p>
          <a:p>
            <a:r>
              <a:rPr lang="en-US" sz="31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-apple-system"/>
              </a:rPr>
              <a:t>Wrong label — Generator content (stator, rotor, field) is labeled "Gas Turbine" because the FSR listed the GT ESN first → LLM risk assessment confuses equipment type → wrong remediation recommendation.</a:t>
            </a:r>
          </a:p>
          <a:p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E318F1-6576-F115-D47D-4A17086D34E1}"/>
              </a:ext>
            </a:extLst>
          </p:cNvPr>
          <p:cNvSpPr/>
          <p:nvPr/>
        </p:nvSpPr>
        <p:spPr>
          <a:xfrm>
            <a:off x="1016000" y="3818467"/>
            <a:ext cx="321733" cy="182827"/>
          </a:xfrm>
          <a:prstGeom prst="rightArrow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26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784ADE-0C9F-27A9-D7D7-5F85A7BD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Processor Improvements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C5ADA-4583-3C9B-5978-2E5EE8887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3793" y="5556514"/>
            <a:ext cx="10329335" cy="999067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    FSR v2 treats preprocessing as a structured interpretation problem, not just text splitting. It separates document understanding, metadata extraction, normalization, and chunking so that each stage can be validated and improved independently.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8AB55-47E2-C082-7286-C07C012B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78025"/>
            <a:ext cx="5181600" cy="312737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Fixed subsection context switching, including deeply nested sections, to correctly restore the parent equipment context. </a:t>
            </a:r>
          </a:p>
          <a:p>
            <a:pPr lvl="0"/>
            <a:r>
              <a:rPr lang="en-US" dirty="0"/>
              <a:t>Improved section-header detection at page boundaries across varying page-offset formats. </a:t>
            </a:r>
          </a:p>
          <a:p>
            <a:pPr lvl="0"/>
            <a:r>
              <a:rPr lang="en-US" dirty="0"/>
              <a:t>Added guardrails for unnumbered headers, Generator keywords, IBAT ESN validation/fallback, and TOC-based filtering to reduce false detections.</a:t>
            </a:r>
          </a:p>
          <a:p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9E6B69A-2A4F-AA5A-B666-AA8CEBB138E7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4665133" cy="312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200" dirty="0"/>
              <a:t>Regex-based detection with fast deterministic processing - identifies ESNs, section headers, and equipment regions, with form numbers and keyword density as fallbacks. 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Outputs equipment metadata and region tags so each chunk inherits the correct equipment label.</a:t>
            </a:r>
          </a:p>
          <a:p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2FFBDDA-A835-DEBE-2F38-C4C7D9BA096D}"/>
              </a:ext>
            </a:extLst>
          </p:cNvPr>
          <p:cNvSpPr/>
          <p:nvPr/>
        </p:nvSpPr>
        <p:spPr>
          <a:xfrm>
            <a:off x="5630334" y="3389312"/>
            <a:ext cx="541866" cy="38946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AD83B1D-3B14-6FD7-2F32-42D611B9AF63}"/>
              </a:ext>
            </a:extLst>
          </p:cNvPr>
          <p:cNvSpPr/>
          <p:nvPr/>
        </p:nvSpPr>
        <p:spPr>
          <a:xfrm>
            <a:off x="1193793" y="5624973"/>
            <a:ext cx="321733" cy="182827"/>
          </a:xfrm>
          <a:prstGeom prst="rightArrow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8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9528-2936-CB2D-4E9A-77F6DE10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84" y="503268"/>
            <a:ext cx="10558806" cy="68125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What improved: More Accurate, Reusable Evidence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79E8-782E-8149-E5B1-E3C49A1A1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408795"/>
            <a:ext cx="5181600" cy="38398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400" b="1" dirty="0"/>
              <a:t>More accurate evidence</a:t>
            </a:r>
          </a:p>
          <a:p>
            <a:pPr lvl="0"/>
            <a:r>
              <a:rPr lang="en-US" sz="2900" dirty="0"/>
              <a:t>The new preprocessor improved QA implementation accuracy from the previous baseline and reduced noisy and missing evidence across validated ESN documents.</a:t>
            </a:r>
          </a:p>
          <a:p>
            <a:pPr lvl="0"/>
            <a:r>
              <a:rPr lang="en-US" sz="2900" dirty="0"/>
              <a:t>It distinguishes Steam Turbine, Gas Turbine, Generator, and other equipment contexts more reliably.</a:t>
            </a:r>
          </a:p>
          <a:p>
            <a:pPr lvl="0"/>
            <a:r>
              <a:rPr lang="en-US" sz="2900" dirty="0"/>
              <a:t>Deterministic fixes address difficult hierarchy, section, ESN, and equipment-type cases, and are checked against known regression cases.</a:t>
            </a:r>
          </a:p>
          <a:p>
            <a:pPr lvl="0"/>
            <a:endParaRPr lang="en-US" sz="2900" dirty="0"/>
          </a:p>
          <a:p>
            <a:pPr marL="0" indent="0">
              <a:buNone/>
            </a:pPr>
            <a:r>
              <a:rPr lang="en-US" sz="3400" b="1" dirty="0"/>
              <a:t>More useful metadata</a:t>
            </a:r>
          </a:p>
          <a:p>
            <a:pPr lvl="0"/>
            <a:r>
              <a:rPr lang="en-US" sz="2900" dirty="0"/>
              <a:t>Extracted metadata enables stronger filtering and labeling for retrieval and downstream analysis.</a:t>
            </a:r>
          </a:p>
          <a:p>
            <a:pPr lvl="0"/>
            <a:r>
              <a:rPr lang="en-US" sz="2900" dirty="0"/>
              <a:t>Equipment type, ESN context, section path, source, confidence, and processing status travel with the evidence.</a:t>
            </a:r>
          </a:p>
          <a:p>
            <a:pPr lvl="0"/>
            <a:r>
              <a:rPr lang="en-US" sz="2900" dirty="0"/>
              <a:t>Preprocessor regions preserve document structure, making chunks more interpretable and easier to validate.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9C0B5-A78E-37A3-65EF-053D78F5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1054" y="1408795"/>
            <a:ext cx="5181600" cy="3651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Reusable extracted documents</a:t>
            </a:r>
          </a:p>
          <a:p>
            <a:pPr lvl="0"/>
            <a:r>
              <a:rPr lang="en-US" sz="1400" dirty="0"/>
              <a:t>FSR extraction results are persisted instead of discarded after one processing step.</a:t>
            </a:r>
          </a:p>
          <a:p>
            <a:pPr lvl="0"/>
            <a:r>
              <a:rPr lang="en-US" sz="1400" dirty="0"/>
              <a:t>The same extracted representation is reused by chunking, validation, and future consumers.</a:t>
            </a:r>
          </a:p>
          <a:p>
            <a:pPr lvl="0"/>
            <a:r>
              <a:rPr lang="en-US" sz="1400" dirty="0"/>
              <a:t>Reuse supports replay and troubleshooting and avoids reprocessing the original PDF for every downstream capability.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600" b="1" dirty="0"/>
              <a:t>Measured experimentation and continuous validation</a:t>
            </a:r>
          </a:p>
          <a:p>
            <a:pPr lvl="0"/>
            <a:r>
              <a:rPr lang="en-US" sz="1400" dirty="0" err="1"/>
              <a:t>MLflow</a:t>
            </a:r>
            <a:r>
              <a:rPr lang="en-US" sz="1400" dirty="0"/>
              <a:t> experiments help the data science team compare approaches on larger datasets and make informed decisions.</a:t>
            </a:r>
          </a:p>
          <a:p>
            <a:pPr lvl="0"/>
            <a:r>
              <a:rPr lang="en-US" sz="1400" dirty="0"/>
              <a:t>Validation artifacts turn difficult examples into regression cases, preventing old failures from returning quietly.</a:t>
            </a:r>
          </a:p>
          <a:p>
            <a:pPr lvl="0"/>
            <a:r>
              <a:rPr lang="en-US" sz="1400" dirty="0"/>
              <a:t>Shared and ambiguous sections remain explicit follow-up work rather than hidden assumptions.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D80A1-0B30-1AF8-93C7-EB60917CB4B6}"/>
              </a:ext>
            </a:extLst>
          </p:cNvPr>
          <p:cNvSpPr txBox="1"/>
          <p:nvPr/>
        </p:nvSpPr>
        <p:spPr>
          <a:xfrm>
            <a:off x="711200" y="5665509"/>
            <a:ext cx="108067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-apple-system"/>
              </a:rPr>
              <a:t>    FSR V2 has faster and more precise filtering, less repeated document processing, more efficient experimentation, and a clearer path from a difficult PDF to trustworthy evidence.</a:t>
            </a:r>
          </a:p>
          <a:p>
            <a:endParaRPr lang="en-US" sz="2200" b="1" i="1" dirty="0">
              <a:solidFill>
                <a:schemeClr val="tx2">
                  <a:lumMod val="75000"/>
                  <a:lumOff val="25000"/>
                </a:schemeClr>
              </a:solidFill>
              <a:latin typeface="-apple-system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4C45A15-D26D-290C-9DF6-2CDD8151DF7D}"/>
              </a:ext>
            </a:extLst>
          </p:cNvPr>
          <p:cNvSpPr/>
          <p:nvPr/>
        </p:nvSpPr>
        <p:spPr>
          <a:xfrm>
            <a:off x="711200" y="5800446"/>
            <a:ext cx="321733" cy="182827"/>
          </a:xfrm>
          <a:prstGeom prst="rightArrow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19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A804B3-63AC-3A29-E770-BC302731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FSR v2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7FD40C-D5EC-0147-6310-8E40A0A0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957" y="501499"/>
            <a:ext cx="4547202" cy="617455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0FCF9E-C31B-8BF0-B7E3-5B68B5B59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468" y="1690688"/>
            <a:ext cx="5198532" cy="458094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 How the pipeline works?</a:t>
            </a:r>
            <a:endParaRPr lang="en-US" sz="7200" dirty="0"/>
          </a:p>
          <a:p>
            <a:pPr marL="0" indent="0">
              <a:buNone/>
            </a:pPr>
            <a:endParaRPr lang="en-US" sz="4000" dirty="0"/>
          </a:p>
          <a:p>
            <a:r>
              <a:rPr lang="en-US" sz="6400" dirty="0"/>
              <a:t>We identify the document regions and their context before splitting the text into chunks. This helps keep each chunk connected to the right equipment and section.</a:t>
            </a:r>
          </a:p>
          <a:p>
            <a:r>
              <a:rPr lang="en-US" sz="6400" dirty="0"/>
              <a:t>The extracted FSR is persisted and reused for chunking, validation, analysis, and future applications, so the original document does not need to be processed again for every use.</a:t>
            </a:r>
          </a:p>
          <a:p>
            <a:r>
              <a:rPr lang="en-US" sz="6400" dirty="0"/>
              <a:t>Equipment, ESN, section, and confidence metadata travel with each chunk. This gives downstream retrieval and analysis more useful information to work with.</a:t>
            </a:r>
          </a:p>
          <a:p>
            <a:r>
              <a:rPr lang="en-US" sz="6400" dirty="0"/>
              <a:t>We use difficult documents and known bug cases as regression tests and use evaluation datasets to track quality as the preprocessor changes.</a:t>
            </a:r>
          </a:p>
          <a:p>
            <a:r>
              <a:rPr lang="en-US" sz="6400" dirty="0"/>
              <a:t>Deterministic rules handle the cases we understand well. </a:t>
            </a:r>
            <a:r>
              <a:rPr lang="en-US" sz="6400" dirty="0" err="1"/>
              <a:t>MLflow</a:t>
            </a:r>
            <a:r>
              <a:rPr lang="en-US" sz="6400" dirty="0"/>
              <a:t> experiments help us measure and investigate the cases that remain ambiguous.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68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1C7DA-BE0B-9719-DB6B-7CCE85D9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What's next: close the edge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F7EB-767A-4E2B-7A15-D8ECCEDF4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Measure embedded sub-reports, appendix sections, mid-document tables of contents, unnumbered headings, and repeated Generator sections to identify where deterministic rules are sufficient and where LLM assistance is needed.</a:t>
            </a:r>
          </a:p>
          <a:p>
            <a:r>
              <a:rPr lang="en-US" dirty="0"/>
              <a:t>Complete the remaining deterministic preprocessor work: subsection flip-back, shared and ambiguous section handling, TOC verification, and IBAT validation of detected ESN equipment types.</a:t>
            </a:r>
          </a:p>
          <a:p>
            <a:r>
              <a:rPr lang="en-US" dirty="0"/>
              <a:t>Evaluate LLM parsing and </a:t>
            </a:r>
            <a:r>
              <a:rPr lang="en-US" dirty="0" err="1"/>
              <a:t>Textract</a:t>
            </a:r>
            <a:r>
              <a:rPr lang="en-US" dirty="0"/>
              <a:t>/Databricks AI Parser performance against the same difficult documents.</a:t>
            </a:r>
          </a:p>
          <a:p>
            <a:r>
              <a:rPr lang="en-US" dirty="0"/>
              <a:t>Validate that chunking preserves evidence, section paths, and ESN attribution, then check retrieval quality with targeted ESNs and larger retrieval K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6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782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Office Theme</vt:lpstr>
      <vt:lpstr>FSR v2 </vt:lpstr>
      <vt:lpstr>Problem</vt:lpstr>
      <vt:lpstr>Metadata Processor Improvements</vt:lpstr>
      <vt:lpstr>What improved: More Accurate, Reusable Evidence </vt:lpstr>
      <vt:lpstr>FSR v2 Architecture</vt:lpstr>
      <vt:lpstr>What's next: close the edge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Saxena, Madhurima (GE Vernova, consultant)</dc:creator>
  <cp:lastModifiedBy>Saxena, Madhurima (GE Vernova, consultant)</cp:lastModifiedBy>
  <cp:revision>2</cp:revision>
  <dcterms:created xsi:type="dcterms:W3CDTF">2026-08-16T19:01:19Z</dcterms:created>
  <dcterms:modified xsi:type="dcterms:W3CDTF">2026-08-17T00:58:22Z</dcterms:modified>
</cp:coreProperties>
</file>