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80" r:id="rId5"/>
    <p:sldId id="257" r:id="rId6"/>
    <p:sldId id="258" r:id="rId7"/>
    <p:sldId id="259" r:id="rId8"/>
    <p:sldId id="260" r:id="rId9"/>
    <p:sldId id="261" r:id="rId10"/>
    <p:sldId id="262" r:id="rId11"/>
    <p:sldId id="281" r:id="rId12"/>
    <p:sldId id="263" r:id="rId13"/>
    <p:sldId id="264" r:id="rId14"/>
    <p:sldId id="279"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4116"/>
    <a:srgbClr val="0D39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392F4D-0E1A-4A27-81B2-D8B12EB571F3}"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0970C-3732-403D-B8A4-8557C1DFEE2F}" type="slidenum">
              <a:rPr lang="en-IN" smtClean="0"/>
              <a:t>‹#›</a:t>
            </a:fld>
            <a:endParaRPr lang="en-IN"/>
          </a:p>
        </p:txBody>
      </p:sp>
    </p:spTree>
    <p:extLst>
      <p:ext uri="{BB962C8B-B14F-4D97-AF65-F5344CB8AC3E}">
        <p14:creationId xmlns:p14="http://schemas.microsoft.com/office/powerpoint/2010/main" val="2669347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building a pipeline to ingest about two hundred thousand Field Service Reports and make them AI‑searchable. The key requirement is ESN filtering, since ESN is the most reliable identifier across reports. Each report is long, thirty to forty pages, so we’ll chunk at section or subsection level to preserve context. The architecture is Databricks‑native, using Delta Lake for storage, Vector Search for retrieval, and AI Functions for query assembly. The outcome is interactive search that leadership and engineers can use to quickly find outages, findings, and recommendations, while keeping all data secure inside Databricks.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2</a:t>
            </a:fld>
            <a:endParaRPr lang="en-IN"/>
          </a:p>
        </p:txBody>
      </p:sp>
    </p:spTree>
    <p:extLst>
      <p:ext uri="{BB962C8B-B14F-4D97-AF65-F5344CB8AC3E}">
        <p14:creationId xmlns:p14="http://schemas.microsoft.com/office/powerpoint/2010/main" val="427240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raw PDFs stored in Databricks volumes, a structured table with about ninety‑one thousand records, and reference tables like IBAT and Event Vision. Each FSR is templated, but PDF formatting varies slightly, which makes parsing tricky. Structured fields capture identifiers, outage dates, and site information, while unstructured fields hold narrative sections like executive summaries and recommendations. The challenge is to unify these mixed formats into one dataset and then enable semantic search across the narrative text. ESN filtering is critical, and security is non‑negotiable — embeddings and indexes must remain private within Databricks.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3</a:t>
            </a:fld>
            <a:endParaRPr lang="en-IN"/>
          </a:p>
        </p:txBody>
      </p:sp>
    </p:spTree>
    <p:extLst>
      <p:ext uri="{BB962C8B-B14F-4D97-AF65-F5344CB8AC3E}">
        <p14:creationId xmlns:p14="http://schemas.microsoft.com/office/powerpoint/2010/main" val="4265350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fields include ESN, Equipment Sys ID, Event IDs, outage dates, outage type, intervention type, and operating hours. Unstructured fields are narrative sections like executive summaries and recommendations, usually one to two pages each. In total, we have about ninety‑one thousand structured records and two hundred thousand PDFs. ESN and Equipment Sys ID are consistently present, which makes them reliable anchors for metadata and filtering.</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4</a:t>
            </a:fld>
            <a:endParaRPr lang="en-IN"/>
          </a:p>
        </p:txBody>
      </p:sp>
    </p:spTree>
    <p:extLst>
      <p:ext uri="{BB962C8B-B14F-4D97-AF65-F5344CB8AC3E}">
        <p14:creationId xmlns:p14="http://schemas.microsoft.com/office/powerpoint/2010/main" val="3767556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include variability in PDF formatting, which requires robust parsing. We need to merge structured and unstructured sources into one dataset. Search must support ESN filtering, with fallback to Equipment Sys ID, and retrieval at both whole‑report and section level. Finally, all processing must remain inside Databricks to meet security and compliance requirements.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5</a:t>
            </a:fld>
            <a:endParaRPr lang="en-IN"/>
          </a:p>
        </p:txBody>
      </p:sp>
    </p:spTree>
    <p:extLst>
      <p:ext uri="{BB962C8B-B14F-4D97-AF65-F5344CB8AC3E}">
        <p14:creationId xmlns:p14="http://schemas.microsoft.com/office/powerpoint/2010/main" val="4238247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PDFs, structured tables, and reference data flow into Delta Lake. Preprocessing cleans and normalizes the data, then we chunk reports at section or subsection boundaries. Embeddings are generated for each chunk and stored with metadata. </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6</a:t>
            </a:fld>
            <a:endParaRPr lang="en-IN"/>
          </a:p>
        </p:txBody>
      </p:sp>
    </p:spTree>
    <p:extLst>
      <p:ext uri="{BB962C8B-B14F-4D97-AF65-F5344CB8AC3E}">
        <p14:creationId xmlns:p14="http://schemas.microsoft.com/office/powerpoint/2010/main" val="2772431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Search indexes these embeddings, and the AI Query Layer provides natural language search with ESN filtering. The user interface presents results to leadership and engineers.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7</a:t>
            </a:fld>
            <a:endParaRPr lang="en-IN"/>
          </a:p>
        </p:txBody>
      </p:sp>
    </p:spTree>
    <p:extLst>
      <p:ext uri="{BB962C8B-B14F-4D97-AF65-F5344CB8AC3E}">
        <p14:creationId xmlns:p14="http://schemas.microsoft.com/office/powerpoint/2010/main" val="1503193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shows how we convert raw Field Service Reports and operational data into an AI-powered search experience used by both leadership and engineers.</a:t>
            </a:r>
          </a:p>
          <a:p>
            <a:endParaRPr lang="en-US" dirty="0"/>
          </a:p>
          <a:p>
            <a:r>
              <a:rPr lang="en-US" dirty="0"/>
              <a:t>We begin with multiple data sources:</a:t>
            </a:r>
          </a:p>
          <a:p>
            <a:r>
              <a:rPr lang="en-US" dirty="0"/>
              <a:t>  * Unstructured FSR PDFs containing detailed field narratives</a:t>
            </a:r>
          </a:p>
          <a:p>
            <a:r>
              <a:rPr lang="en-US" dirty="0"/>
              <a:t>  * Structured FSR tables with event and outcome metadata</a:t>
            </a:r>
          </a:p>
          <a:p>
            <a:r>
              <a:rPr lang="en-US" dirty="0"/>
              <a:t>  * Reference systems such as IBAT Equipment Master and Event Vision SOT used for normalization</a:t>
            </a:r>
          </a:p>
          <a:p>
            <a:endParaRPr lang="en-US" dirty="0"/>
          </a:p>
          <a:p>
            <a:r>
              <a:rPr lang="en-US" dirty="0"/>
              <a:t>All data is ingested into Delta Lake, which acts as the unified, source-of-truth storage layer.</a:t>
            </a:r>
          </a:p>
          <a:p>
            <a:r>
              <a:rPr lang="en-US" dirty="0"/>
              <a:t>  * It stores raw data</a:t>
            </a:r>
          </a:p>
          <a:p>
            <a:r>
              <a:rPr lang="en-US" dirty="0"/>
              <a:t>  * Key identifiers such as ESN, equipment system IDs, and event IDs are normalized here</a:t>
            </a:r>
          </a:p>
          <a:p>
            <a:r>
              <a:rPr lang="en-US" dirty="0"/>
              <a:t>  * Delta Lake is storage, not an index</a:t>
            </a:r>
          </a:p>
          <a:p>
            <a:endParaRPr lang="en-US" dirty="0"/>
          </a:p>
          <a:p>
            <a:r>
              <a:rPr lang="en-US" dirty="0"/>
              <a:t>From Delta Lake, an offline processing pipeline prepares the data for search:</a:t>
            </a:r>
          </a:p>
          <a:p>
            <a:r>
              <a:rPr lang="en-US" dirty="0"/>
              <a:t>  * Structured fields are cleaned and aligned</a:t>
            </a:r>
          </a:p>
          <a:p>
            <a:r>
              <a:rPr lang="en-US" dirty="0"/>
              <a:t>  * Text is extracted from PDFs</a:t>
            </a:r>
          </a:p>
          <a:p>
            <a:r>
              <a:rPr lang="en-US" dirty="0"/>
              <a:t>  * Each report is split into logical sections or subsections to enable section-level retrieval</a:t>
            </a:r>
          </a:p>
          <a:p>
            <a:r>
              <a:rPr lang="en-US" dirty="0"/>
              <a:t>  * Embeddings are generated for each chunk using Databricks-hosted models</a:t>
            </a:r>
          </a:p>
          <a:p>
            <a:endParaRPr lang="en-US" dirty="0"/>
          </a:p>
          <a:p>
            <a:r>
              <a:rPr lang="en-US" dirty="0"/>
              <a:t>The embeddings and metadata are written into Databricks Vector Search, which is the actual indexing layer.</a:t>
            </a:r>
          </a:p>
          <a:p>
            <a:r>
              <a:rPr lang="en-US" dirty="0"/>
              <a:t>  * This layer builds and maintains the vector and keyword indexes</a:t>
            </a:r>
          </a:p>
          <a:p>
            <a:r>
              <a:rPr lang="en-US" dirty="0"/>
              <a:t>  * It enables hybrid semantic and keyword search with metadata filtering</a:t>
            </a:r>
          </a:p>
          <a:p>
            <a:endParaRPr lang="en-US" dirty="0"/>
          </a:p>
          <a:p>
            <a:r>
              <a:rPr lang="en-US" dirty="0"/>
              <a:t>At query time, users interact through Databricks AI Functions using natural language.</a:t>
            </a:r>
          </a:p>
          <a:p>
            <a:r>
              <a:rPr lang="en-US" dirty="0"/>
              <a:t>  * Filters such as ESN are applied first to reduce the search space</a:t>
            </a:r>
          </a:p>
          <a:p>
            <a:r>
              <a:rPr lang="en-US" dirty="0"/>
              <a:t>  * The query is then executed against the Vector Search index</a:t>
            </a:r>
          </a:p>
          <a:p>
            <a:r>
              <a:rPr lang="en-US" dirty="0"/>
              <a:t>  * Results can be returned as specific report sections or full FSRs depending on the query</a:t>
            </a:r>
          </a:p>
          <a:p>
            <a:endParaRPr lang="en-US" dirty="0"/>
          </a:p>
          <a:p>
            <a:r>
              <a:rPr lang="en-US" dirty="0"/>
              <a:t>The same retrieval capability supports multiple consumers:</a:t>
            </a:r>
          </a:p>
          <a:p>
            <a:r>
              <a:rPr lang="en-US" dirty="0"/>
              <a:t>  * Leadership and architect dashboards for trends and insights</a:t>
            </a:r>
          </a:p>
          <a:p>
            <a:r>
              <a:rPr lang="en-US" dirty="0"/>
              <a:t>  * Engineer-facing interactive search for outages, findings, and recommendations</a:t>
            </a:r>
          </a:p>
          <a:p>
            <a:endParaRPr lang="en-US" dirty="0"/>
          </a:p>
          <a:p>
            <a:r>
              <a:rPr lang="en-US" dirty="0"/>
              <a:t>Overall, the architecture cleanly separates:</a:t>
            </a:r>
          </a:p>
          <a:p>
            <a:r>
              <a:rPr lang="en-US" dirty="0"/>
              <a:t>  * Storage (Delta Lake)</a:t>
            </a:r>
          </a:p>
          <a:p>
            <a:r>
              <a:rPr lang="en-US" dirty="0"/>
              <a:t>  * Processing and enrichment</a:t>
            </a:r>
          </a:p>
          <a:p>
            <a:r>
              <a:rPr lang="en-US" dirty="0"/>
              <a:t>  * Indexing (Vector Search)</a:t>
            </a:r>
          </a:p>
          <a:p>
            <a:r>
              <a:rPr lang="en-US" dirty="0"/>
              <a:t>  * Retrieval and user interaction (AI Functions)</a:t>
            </a:r>
          </a:p>
          <a:p>
            <a:r>
              <a:rPr lang="en-US" dirty="0"/>
              <a:t>  * While using a single source of truth and a single vector index</a:t>
            </a:r>
          </a:p>
        </p:txBody>
      </p:sp>
      <p:sp>
        <p:nvSpPr>
          <p:cNvPr id="4" name="Slide Number Placeholder 3"/>
          <p:cNvSpPr>
            <a:spLocks noGrp="1"/>
          </p:cNvSpPr>
          <p:nvPr>
            <p:ph type="sldNum" sz="quarter" idx="5"/>
          </p:nvPr>
        </p:nvSpPr>
        <p:spPr/>
        <p:txBody>
          <a:bodyPr/>
          <a:lstStyle/>
          <a:p>
            <a:fld id="{9FD0970C-3732-403D-B8A4-8557C1DFEE2F}" type="slidenum">
              <a:rPr lang="en-IN" smtClean="0"/>
              <a:t>8</a:t>
            </a:fld>
            <a:endParaRPr lang="en-IN"/>
          </a:p>
        </p:txBody>
      </p:sp>
    </p:spTree>
    <p:extLst>
      <p:ext uri="{BB962C8B-B14F-4D97-AF65-F5344CB8AC3E}">
        <p14:creationId xmlns:p14="http://schemas.microsoft.com/office/powerpoint/2010/main" val="259733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Query flow starts when a user enters a query, such as ‘Last five outages for ESN 297837.’ ESN filtering narrows the search space. Vector Search retrieves relevant chunks.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9</a:t>
            </a:fld>
            <a:endParaRPr lang="en-IN"/>
          </a:p>
        </p:txBody>
      </p:sp>
    </p:spTree>
    <p:extLst>
      <p:ext uri="{BB962C8B-B14F-4D97-AF65-F5344CB8AC3E}">
        <p14:creationId xmlns:p14="http://schemas.microsoft.com/office/powerpoint/2010/main" val="807377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 Functions assemble them into a coherent answer. Whole reports are returned for ESN queries, while sections are returned for topical queries. For example, the output might list outages in October 2024, May 2023, and December 2022, with actions like replacing seals and upgrading control systems.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10</a:t>
            </a:fld>
            <a:endParaRPr lang="en-IN"/>
          </a:p>
        </p:txBody>
      </p:sp>
    </p:spTree>
    <p:extLst>
      <p:ext uri="{BB962C8B-B14F-4D97-AF65-F5344CB8AC3E}">
        <p14:creationId xmlns:p14="http://schemas.microsoft.com/office/powerpoint/2010/main" val="3739149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Query flow starts when a user enters a query, such as ‘Last five outages for ESN 297837.’ ESN filtering narrows the search space. Vector Search retrieves relevant chunks, and AI Functions assemble them into a coherent answer. Whole reports are returned for ESN queries, while sections are returned for topical queries. For example, the output might list outages in October 2024, May 2023, and December 2022, with actions like replacing seals and upgrading control systems.</a:t>
            </a:r>
            <a:endParaRPr lang="en-IN" dirty="0"/>
          </a:p>
          <a:p>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11</a:t>
            </a:fld>
            <a:endParaRPr lang="en-IN"/>
          </a:p>
        </p:txBody>
      </p:sp>
    </p:spTree>
    <p:extLst>
      <p:ext uri="{BB962C8B-B14F-4D97-AF65-F5344CB8AC3E}">
        <p14:creationId xmlns:p14="http://schemas.microsoft.com/office/powerpoint/2010/main" val="3607032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starts with extracting text from PDFs and loading structured tables into Delta. Reference tables like IBAT and Event Vision are also brought in. Identifiers such as ESN and Equipment Sys ID are aligned across sources. The output is a unified Delta dataset combining raw and structured FSR data. Initial ingestion will handle about two hundred thousand PDFs and ninety‑one thousand structured records.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12</a:t>
            </a:fld>
            <a:endParaRPr lang="en-IN"/>
          </a:p>
        </p:txBody>
      </p:sp>
    </p:spTree>
    <p:extLst>
      <p:ext uri="{BB962C8B-B14F-4D97-AF65-F5344CB8AC3E}">
        <p14:creationId xmlns:p14="http://schemas.microsoft.com/office/powerpoint/2010/main" val="776685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normalizes identifiers, cleans categorical values, and validates temporal fields. For unstructured text, we extract sections like Executive Summary and Recommendations, remove formatting artifacts, and standardize headers. Metadata enrichment adds site, technology, and outage type, linking to IBAT and Event Vision references. For example, a row might show ESN 297837, outage start October 29, 2024, section Executive Summary, with text describing borescope findings.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13</a:t>
            </a:fld>
            <a:endParaRPr lang="en-IN"/>
          </a:p>
        </p:txBody>
      </p:sp>
    </p:spTree>
    <p:extLst>
      <p:ext uri="{BB962C8B-B14F-4D97-AF65-F5344CB8AC3E}">
        <p14:creationId xmlns:p14="http://schemas.microsoft.com/office/powerpoint/2010/main" val="288028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splits reports at natural section boundaries, typically two to three pages each. Metadata such as ESN, Equipment Sys ID, outage ID, and section name is attached to each chunk. This preserves context and keeps the number of chunks manageable. A forty‑page report yields about fifteen to twenty chunks, which is efficient for indexing and retrieval.</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14</a:t>
            </a:fld>
            <a:endParaRPr lang="en-IN"/>
          </a:p>
        </p:txBody>
      </p:sp>
    </p:spTree>
    <p:extLst>
      <p:ext uri="{BB962C8B-B14F-4D97-AF65-F5344CB8AC3E}">
        <p14:creationId xmlns:p14="http://schemas.microsoft.com/office/powerpoint/2010/main" val="1329000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are generated for each chunk using Databricks‑hosted models. Metadata like ESN, Equipment Sys ID, outage dates, and section name is stored alongside. The outcome is a semantic representation of each section, ready for indexing. With ninety‑one thousand records and about fifteen chunks per report, we expect around 1.3 million embeddings.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15</a:t>
            </a:fld>
            <a:endParaRPr lang="en-IN"/>
          </a:p>
        </p:txBody>
      </p:sp>
    </p:spTree>
    <p:extLst>
      <p:ext uri="{BB962C8B-B14F-4D97-AF65-F5344CB8AC3E}">
        <p14:creationId xmlns:p14="http://schemas.microsoft.com/office/powerpoint/2010/main" val="1750353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Vector Search indexes embeddings and metadata. It supports hybrid search, combining semantic similarity with keyword filters. ESN is the primary filter, with Equipment Sys ID as fallback. Other filters include outage dates, site, and technology. The output is a searchable vector index inside Databricks. For example, a query like ‘Show me all FSRs for ESN 297837 with combustion issues’ would return relevant sections.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16</a:t>
            </a:fld>
            <a:endParaRPr lang="en-IN"/>
          </a:p>
        </p:txBody>
      </p:sp>
    </p:spTree>
    <p:extLst>
      <p:ext uri="{BB962C8B-B14F-4D97-AF65-F5344CB8AC3E}">
        <p14:creationId xmlns:p14="http://schemas.microsoft.com/office/powerpoint/2010/main" val="4243198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Search Layer provides a natural language interface. ESN filtering is applied first, then semantic retrieval. Whole reports are returned for ESN‑specific queries, while section or subsection chunks are returned for topical queries. Ranking combines semantic similarity with metadata filters. For example, the output might be FSR A‑1823120, outage October–November 2024, section Recommendations, with text advising replacement of hydraulic pump seals.</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17</a:t>
            </a:fld>
            <a:endParaRPr lang="en-IN"/>
          </a:p>
        </p:txBody>
      </p:sp>
    </p:spTree>
    <p:extLst>
      <p:ext uri="{BB962C8B-B14F-4D97-AF65-F5344CB8AC3E}">
        <p14:creationId xmlns:p14="http://schemas.microsoft.com/office/powerpoint/2010/main" val="4078185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is critical for filtering and retrieval. Identifiers include ESN, Equipment Sys ID, and Event IDs. Contextual fields include outage dates, site, and technology type. Section labels identify Executive Summary, Recommendations, and Technical Findings. This metadata ensures precise filtering and contextual retrieval. For example, a row might show ESN 297837, section Technical Findings, with text describing combustion chamber wear.</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18</a:t>
            </a:fld>
            <a:endParaRPr lang="en-IN"/>
          </a:p>
        </p:txBody>
      </p:sp>
    </p:spTree>
    <p:extLst>
      <p:ext uri="{BB962C8B-B14F-4D97-AF65-F5344CB8AC3E}">
        <p14:creationId xmlns:p14="http://schemas.microsoft.com/office/powerpoint/2010/main" val="690020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uses section headers or the Table of Contents to detect boundaries. Granularity is at section or subsection level, about two to three pages. Minimal overlap is used to avoid losing context. Each chunk is stored with metadata in Delta. Average chunk size is about 1,200 to 1,500 tokens, which balances context and efficiency.</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19</a:t>
            </a:fld>
            <a:endParaRPr lang="en-IN"/>
          </a:p>
        </p:txBody>
      </p:sp>
    </p:spTree>
    <p:extLst>
      <p:ext uri="{BB962C8B-B14F-4D97-AF65-F5344CB8AC3E}">
        <p14:creationId xmlns:p14="http://schemas.microsoft.com/office/powerpoint/2010/main" val="2009759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are generated using Databricks‑hosted models similar to OpenAI. They are stored in Delta and indexed with Vector Search. Performance is optimized for ESN filtering, with about 1.3 million embeddings indexed. For example, Executive Summary text is converted into a vector like [0.12, 0.87, …], which captures semantic meaning for retrieval.</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20</a:t>
            </a:fld>
            <a:endParaRPr lang="en-IN"/>
          </a:p>
        </p:txBody>
      </p:sp>
    </p:spTree>
    <p:extLst>
      <p:ext uri="{BB962C8B-B14F-4D97-AF65-F5344CB8AC3E}">
        <p14:creationId xmlns:p14="http://schemas.microsoft.com/office/powerpoint/2010/main" val="1106212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FSRs, embeddings, and indexes remain inside Databricks, so nothing leaves the secure environment. Role‑based access ensures only authorized engineers and analysts can query the data, and audit logs provide traceability of who accessed what. Compliance requirements are met by keeping identifiers like ESN and Equipment Sys ID stored securely with metadata. For example, if someone queries ESN 297837, the system records that five chunks were retrieved on a specific date, ensuring accountability.</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21</a:t>
            </a:fld>
            <a:endParaRPr lang="en-IN"/>
          </a:p>
        </p:txBody>
      </p:sp>
    </p:spTree>
    <p:extLst>
      <p:ext uri="{BB962C8B-B14F-4D97-AF65-F5344CB8AC3E}">
        <p14:creationId xmlns:p14="http://schemas.microsoft.com/office/powerpoint/2010/main" val="4085148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is designed for interactive use, with responses in under three seconds. Vector Search is optimized for ESN filtering, so queries remain fast even as the dataset grows. Updates are recommended weekly, which typically adds two to five hundred new FSRs, generating three to seven thousand new chunks and embeddings. This cadence balances freshness with efficiency. The architecture scales beyond ten million embeddings, so we can handle growth without performance degradation.</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22</a:t>
            </a:fld>
            <a:endParaRPr lang="en-IN"/>
          </a:p>
        </p:txBody>
      </p:sp>
    </p:spTree>
    <p:extLst>
      <p:ext uri="{BB962C8B-B14F-4D97-AF65-F5344CB8AC3E}">
        <p14:creationId xmlns:p14="http://schemas.microsoft.com/office/powerpoint/2010/main" val="2022604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enables ESN‑filtered, AI‑searchable reports with section and subsection context. It integrates PDFs, structured tables, and reference data into one unified system. Section/subsection chunking preserves context better than arbitrary token splits, and metadata ensures precise filtering. The roadmap starts with bulk ingestion of historical FSRs, followed by preprocessing and normalization, then chunking and embedding generation. After vector indexing, we roll out the AI search interface, and finally establish continuous updates and monitoring. The outcome is a secure, scalable, Databricks‑native solution ready for leadership approval and implementation.</a:t>
            </a:r>
            <a:endParaRPr lang="en-IN" dirty="0"/>
          </a:p>
        </p:txBody>
      </p:sp>
      <p:sp>
        <p:nvSpPr>
          <p:cNvPr id="4" name="Slide Number Placeholder 3"/>
          <p:cNvSpPr>
            <a:spLocks noGrp="1"/>
          </p:cNvSpPr>
          <p:nvPr>
            <p:ph type="sldNum" sz="quarter" idx="5"/>
          </p:nvPr>
        </p:nvSpPr>
        <p:spPr/>
        <p:txBody>
          <a:bodyPr/>
          <a:lstStyle/>
          <a:p>
            <a:fld id="{9FD0970C-3732-403D-B8A4-8557C1DFEE2F}" type="slidenum">
              <a:rPr lang="en-IN" smtClean="0"/>
              <a:t>23</a:t>
            </a:fld>
            <a:endParaRPr lang="en-IN"/>
          </a:p>
        </p:txBody>
      </p:sp>
    </p:spTree>
    <p:extLst>
      <p:ext uri="{BB962C8B-B14F-4D97-AF65-F5344CB8AC3E}">
        <p14:creationId xmlns:p14="http://schemas.microsoft.com/office/powerpoint/2010/main" val="1489531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217DA-FF1C-E97D-B2CC-313CB34306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22BF1F-1604-4FFD-649D-DAFF1985AF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1C44F7-77F5-ED6D-70C8-4F184C3B5EB2}"/>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5" name="Footer Placeholder 4">
            <a:extLst>
              <a:ext uri="{FF2B5EF4-FFF2-40B4-BE49-F238E27FC236}">
                <a16:creationId xmlns:a16="http://schemas.microsoft.com/office/drawing/2014/main" id="{BFCB1751-5CE5-BD4B-3DEF-AE09AE7CA8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C0ECF6-5A95-A35C-67EF-E50D7728795B}"/>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649052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F43AD-6679-9408-D9EA-05C87C8649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F00865-9DE2-0589-4F1E-15DDA2B080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909A0A-F57C-1416-DD53-D1ACABB5DD2F}"/>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5" name="Footer Placeholder 4">
            <a:extLst>
              <a:ext uri="{FF2B5EF4-FFF2-40B4-BE49-F238E27FC236}">
                <a16:creationId xmlns:a16="http://schemas.microsoft.com/office/drawing/2014/main" id="{86022ACB-6C45-2445-3B7A-24FC2EC3AE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F557FC-22E4-4EFC-12DE-C9DA1438EDB6}"/>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2898528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2FE28-D54E-63AE-AC83-AD66E8F2BD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FD9959-6548-9B2E-F44F-CB253A95D4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72198E-EA47-4D08-4472-671F3A3218C0}"/>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5" name="Footer Placeholder 4">
            <a:extLst>
              <a:ext uri="{FF2B5EF4-FFF2-40B4-BE49-F238E27FC236}">
                <a16:creationId xmlns:a16="http://schemas.microsoft.com/office/drawing/2014/main" id="{721B499B-FD0F-7C93-E8B7-89AA437862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6706C3-FFDA-3ED3-07D0-DAC504D26D40}"/>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1345956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BE28-5D33-38BF-2BE0-F4FC143D3C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59BDC4-8DF6-2F86-B301-DF9839396B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93007E0-3C09-DC47-E88A-36F46955C0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78017A4-A7D5-E2DA-E77F-0775E2C9CBCD}"/>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6" name="Footer Placeholder 5">
            <a:extLst>
              <a:ext uri="{FF2B5EF4-FFF2-40B4-BE49-F238E27FC236}">
                <a16:creationId xmlns:a16="http://schemas.microsoft.com/office/drawing/2014/main" id="{922B48A4-E882-109F-8051-B53625AB55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DE09EC-1D16-7214-D937-05A89F44D5DA}"/>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2477468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A0BAE-526C-DC08-3BAC-46826F3A21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9DE3B4-8418-52B9-8EAB-544CCD73AE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B1DEBB-C51A-B0A7-D23A-631B7B5910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5072A3F-331B-3ADE-6989-338C8DA7CC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F4E064-A6C0-29C6-71AB-C52EEBDF94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C52FBB-F014-EAA4-B3A4-BF61423C7FEB}"/>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8" name="Footer Placeholder 7">
            <a:extLst>
              <a:ext uri="{FF2B5EF4-FFF2-40B4-BE49-F238E27FC236}">
                <a16:creationId xmlns:a16="http://schemas.microsoft.com/office/drawing/2014/main" id="{2E5CC13D-CA71-2F5F-7DB0-52CF9AC2CA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A0074F-B6BD-6BCD-2689-76175F2DE397}"/>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1706892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634EC-880A-D5BA-E9BA-F5401ED2A1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1B24AE3-F56F-F332-9A15-5E1AE9E2B2CE}"/>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4" name="Footer Placeholder 3">
            <a:extLst>
              <a:ext uri="{FF2B5EF4-FFF2-40B4-BE49-F238E27FC236}">
                <a16:creationId xmlns:a16="http://schemas.microsoft.com/office/drawing/2014/main" id="{2E4EE371-6F29-FE4E-A1FA-1A96D359C1B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E68BB18-6BC6-1B19-B4C8-67265CB28C5E}"/>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2791139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935889-78D7-5790-A329-E52EDF2A7A7A}"/>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3" name="Footer Placeholder 2">
            <a:extLst>
              <a:ext uri="{FF2B5EF4-FFF2-40B4-BE49-F238E27FC236}">
                <a16:creationId xmlns:a16="http://schemas.microsoft.com/office/drawing/2014/main" id="{AF26732B-DC68-93C1-6666-2BD2073FC4F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382A20-D637-774C-1AEB-54508B3F1079}"/>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242074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E447A-AC2D-57C4-C8E2-E405BE8F95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D9C6B4-762F-B341-D16A-79BBA7E3E7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F2623F-0420-CBDB-C7B6-DBC502AECB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24A09-8A58-06BC-D4DC-A4D1441C39B4}"/>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6" name="Footer Placeholder 5">
            <a:extLst>
              <a:ext uri="{FF2B5EF4-FFF2-40B4-BE49-F238E27FC236}">
                <a16:creationId xmlns:a16="http://schemas.microsoft.com/office/drawing/2014/main" id="{776446AD-99C5-A52A-6F7C-6CA7C15DCD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26CC79-BC2B-3818-68E0-22303916D5C8}"/>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735213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BFCD3-B875-73E8-B0F4-2BF96D0124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619D27-4746-DE00-E603-65392726B4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DCACEFC-FFBA-55FB-D05C-A34A5EE1A5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5AA263-A700-1FF7-622E-AE8B3448EA3B}"/>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6" name="Footer Placeholder 5">
            <a:extLst>
              <a:ext uri="{FF2B5EF4-FFF2-40B4-BE49-F238E27FC236}">
                <a16:creationId xmlns:a16="http://schemas.microsoft.com/office/drawing/2014/main" id="{7D89FD2E-736B-5D98-F004-389DB7A864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AA930C-9299-BF46-E128-7D0C4756B3E5}"/>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1291675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F30DA-94D5-AB34-E627-A19C8982CAD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6419F5-EB2E-2A74-7BD0-87DDCF93A5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5FEA1E-0868-EFF1-CFEB-4DBDB53E64E9}"/>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5" name="Footer Placeholder 4">
            <a:extLst>
              <a:ext uri="{FF2B5EF4-FFF2-40B4-BE49-F238E27FC236}">
                <a16:creationId xmlns:a16="http://schemas.microsoft.com/office/drawing/2014/main" id="{D0E35C11-7112-4D05-15A2-386036A618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6AD3A5-51F2-C658-6239-57D42E858270}"/>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3569031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F538B0-76D4-139A-68B9-329B4820AA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DE9C2E9-8412-6D73-B0BB-1385546949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F3F72E-570B-B2D3-CAFB-27D96DFF2244}"/>
              </a:ext>
            </a:extLst>
          </p:cNvPr>
          <p:cNvSpPr>
            <a:spLocks noGrp="1"/>
          </p:cNvSpPr>
          <p:nvPr>
            <p:ph type="dt" sz="half" idx="10"/>
          </p:nvPr>
        </p:nvSpPr>
        <p:spPr/>
        <p:txBody>
          <a:bodyPr/>
          <a:lstStyle/>
          <a:p>
            <a:fld id="{12A6B285-9D8B-4784-ABA3-DCEB22889303}" type="datetimeFigureOut">
              <a:rPr lang="en-IN" smtClean="0"/>
              <a:t>13-03-2026</a:t>
            </a:fld>
            <a:endParaRPr lang="en-IN"/>
          </a:p>
        </p:txBody>
      </p:sp>
      <p:sp>
        <p:nvSpPr>
          <p:cNvPr id="5" name="Footer Placeholder 4">
            <a:extLst>
              <a:ext uri="{FF2B5EF4-FFF2-40B4-BE49-F238E27FC236}">
                <a16:creationId xmlns:a16="http://schemas.microsoft.com/office/drawing/2014/main" id="{C2DCADF7-57F3-D44C-18A2-BA16909C82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D6DAF1-0057-F229-B878-6D13A9A4FAB8}"/>
              </a:ext>
            </a:extLst>
          </p:cNvPr>
          <p:cNvSpPr>
            <a:spLocks noGrp="1"/>
          </p:cNvSpPr>
          <p:nvPr>
            <p:ph type="sldNum" sz="quarter" idx="12"/>
          </p:nvPr>
        </p:nvSpPr>
        <p:spPr/>
        <p:txBody>
          <a:bodyPr/>
          <a:lstStyle/>
          <a:p>
            <a:fld id="{461C3610-F5CE-46A3-B468-ECE94DBA5994}" type="slidenum">
              <a:rPr lang="en-IN" smtClean="0"/>
              <a:t>‹#›</a:t>
            </a:fld>
            <a:endParaRPr lang="en-IN"/>
          </a:p>
        </p:txBody>
      </p:sp>
    </p:spTree>
    <p:extLst>
      <p:ext uri="{BB962C8B-B14F-4D97-AF65-F5344CB8AC3E}">
        <p14:creationId xmlns:p14="http://schemas.microsoft.com/office/powerpoint/2010/main" val="5982197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Intro slide – blue">
    <p:bg>
      <p:bgPr>
        <a:solidFill>
          <a:srgbClr val="005E60"/>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1EDA6804-5DFF-0F47-9799-B370D29E52FF}"/>
              </a:ext>
            </a:extLst>
          </p:cNvPr>
          <p:cNvSpPr txBox="1">
            <a:spLocks/>
          </p:cNvSpPr>
          <p:nvPr userDrawn="1"/>
        </p:nvSpPr>
        <p:spPr>
          <a:xfrm>
            <a:off x="515938" y="758457"/>
            <a:ext cx="8361498" cy="2915786"/>
          </a:xfrm>
          <a:prstGeom prst="rect">
            <a:avLst/>
          </a:prstGeom>
        </p:spPr>
        <p:txBody>
          <a:bodyPr vert="horz" wrap="square" lIns="0" tIns="45720" rIns="90000" bIns="45720" rtlCol="0" anchor="t">
            <a:noAutofit/>
          </a:bodyPr>
          <a:lstStyle>
            <a:lvl1pPr algn="l" defTabSz="914400" rtl="0" eaLnBrk="1" latinLnBrk="0" hangingPunct="1">
              <a:lnSpc>
                <a:spcPts val="7200"/>
              </a:lnSpc>
              <a:spcBef>
                <a:spcPct val="0"/>
              </a:spcBef>
              <a:buNone/>
              <a:defRPr sz="5400" b="0" i="0" kern="1200" spc="-100" baseline="0">
                <a:solidFill>
                  <a:schemeClr val="bg1"/>
                </a:solidFill>
                <a:latin typeface="GE Inspira Sans" panose="020B0503060000000003" pitchFamily="34" charset="77"/>
                <a:ea typeface="+mj-ea"/>
                <a:cs typeface="+mj-cs"/>
              </a:defRPr>
            </a:lvl1pPr>
          </a:lstStyle>
          <a:p>
            <a:endParaRPr lang="en-GB" dirty="0"/>
          </a:p>
        </p:txBody>
      </p:sp>
      <p:sp>
        <p:nvSpPr>
          <p:cNvPr id="9" name="Title 1">
            <a:extLst>
              <a:ext uri="{FF2B5EF4-FFF2-40B4-BE49-F238E27FC236}">
                <a16:creationId xmlns:a16="http://schemas.microsoft.com/office/drawing/2014/main" id="{20D18F0A-223D-F547-ADDC-6825C59AE2B2}"/>
              </a:ext>
            </a:extLst>
          </p:cNvPr>
          <p:cNvSpPr>
            <a:spLocks noGrp="1"/>
          </p:cNvSpPr>
          <p:nvPr>
            <p:ph type="ctrTitle"/>
          </p:nvPr>
        </p:nvSpPr>
        <p:spPr>
          <a:xfrm>
            <a:off x="519248" y="2180896"/>
            <a:ext cx="10972800" cy="2686539"/>
          </a:xfrm>
        </p:spPr>
        <p:txBody>
          <a:bodyPr wrap="square" lIns="0" rIns="90000" anchor="t">
            <a:noAutofit/>
          </a:bodyPr>
          <a:lstStyle>
            <a:lvl1pPr algn="l">
              <a:lnSpc>
                <a:spcPct val="100000"/>
              </a:lnSpc>
              <a:defRPr sz="5400" b="0" i="0" spc="0" baseline="0">
                <a:solidFill>
                  <a:schemeClr val="tx1"/>
                </a:solidFill>
                <a:latin typeface="+mj-lt"/>
              </a:defRPr>
            </a:lvl1pPr>
          </a:lstStyle>
          <a:p>
            <a:r>
              <a:rPr lang="en-US"/>
              <a:t>Click to edit Master title style</a:t>
            </a:r>
            <a:endParaRPr lang="en-GB" dirty="0"/>
          </a:p>
        </p:txBody>
      </p:sp>
      <p:sp>
        <p:nvSpPr>
          <p:cNvPr id="6" name="Date Placeholder 3">
            <a:extLst>
              <a:ext uri="{FF2B5EF4-FFF2-40B4-BE49-F238E27FC236}">
                <a16:creationId xmlns:a16="http://schemas.microsoft.com/office/drawing/2014/main" id="{83F3B338-5105-7246-A780-988027D86655}"/>
              </a:ext>
            </a:extLst>
          </p:cNvPr>
          <p:cNvSpPr>
            <a:spLocks noGrp="1"/>
          </p:cNvSpPr>
          <p:nvPr>
            <p:ph type="dt" sz="half" idx="2"/>
          </p:nvPr>
        </p:nvSpPr>
        <p:spPr>
          <a:xfrm>
            <a:off x="519248" y="1847351"/>
            <a:ext cx="10972800" cy="169277"/>
          </a:xfrm>
          <a:prstGeom prst="rect">
            <a:avLst/>
          </a:prstGeom>
        </p:spPr>
        <p:txBody>
          <a:bodyPr vert="horz" lIns="0" tIns="0" rIns="0" bIns="0" rtlCol="0" anchor="ctr"/>
          <a:lstStyle>
            <a:lvl1pPr algn="l">
              <a:defRPr sz="1100" b="1" i="0" cap="none" spc="0" baseline="0">
                <a:solidFill>
                  <a:schemeClr val="tx1"/>
                </a:solidFill>
                <a:latin typeface="+mn-lt"/>
              </a:defRPr>
            </a:lvl1pPr>
          </a:lstStyle>
          <a:p>
            <a:r>
              <a:rPr lang="en-GB"/>
              <a:t>Presentation Name | Month Year</a:t>
            </a:r>
            <a:endParaRPr lang="en-GB" dirty="0"/>
          </a:p>
        </p:txBody>
      </p:sp>
      <p:sp>
        <p:nvSpPr>
          <p:cNvPr id="7" name="Date Placeholder 3">
            <a:extLst>
              <a:ext uri="{FF2B5EF4-FFF2-40B4-BE49-F238E27FC236}">
                <a16:creationId xmlns:a16="http://schemas.microsoft.com/office/drawing/2014/main" id="{DB28689C-8291-4F69-9944-E11F5BA76D8C}"/>
              </a:ext>
            </a:extLst>
          </p:cNvPr>
          <p:cNvSpPr txBox="1">
            <a:spLocks/>
          </p:cNvSpPr>
          <p:nvPr userDrawn="1"/>
        </p:nvSpPr>
        <p:spPr>
          <a:xfrm>
            <a:off x="519248" y="6498313"/>
            <a:ext cx="7315200" cy="130805"/>
          </a:xfrm>
          <a:prstGeom prst="rect">
            <a:avLst/>
          </a:prstGeom>
        </p:spPr>
        <p:txBody>
          <a:bodyPr vert="horz" wrap="square" lIns="0" tIns="0" rIns="0" bIns="0" rtlCol="0" anchor="ctr">
            <a:spAutoFit/>
          </a:bodyPr>
          <a:lstStyle>
            <a:defPPr>
              <a:defRPr lang="en-US"/>
            </a:defPPr>
            <a:lvl1pPr marL="0" algn="l" defTabSz="914400" rtl="0" eaLnBrk="1" latinLnBrk="0" hangingPunct="1">
              <a:defRPr sz="1100" b="1" i="0" kern="1200" cap="none" spc="0"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9388" indent="-179388">
              <a:defRPr/>
            </a:pPr>
            <a:r>
              <a:rPr lang="en-US" sz="850" b="0"/>
              <a:t>Placeholder confidentiality disclosure. To edit or delete from the master &gt; menu &gt; bar ‘view’ &gt; ‘slide master’</a:t>
            </a:r>
          </a:p>
        </p:txBody>
      </p:sp>
      <p:pic>
        <p:nvPicPr>
          <p:cNvPr id="3" name="Picture 2">
            <a:extLst>
              <a:ext uri="{FF2B5EF4-FFF2-40B4-BE49-F238E27FC236}">
                <a16:creationId xmlns:a16="http://schemas.microsoft.com/office/drawing/2014/main" id="{D5DE53EC-7C0D-4639-24DE-9E051D0C3FBC}"/>
              </a:ext>
            </a:extLst>
          </p:cNvPr>
          <p:cNvPicPr>
            <a:picLocks noChangeAspect="1"/>
          </p:cNvPicPr>
          <p:nvPr userDrawn="1"/>
        </p:nvPicPr>
        <p:blipFill>
          <a:blip r:embed="rId2"/>
          <a:stretch>
            <a:fillRect/>
          </a:stretch>
        </p:blipFill>
        <p:spPr>
          <a:xfrm>
            <a:off x="8240940" y="180603"/>
            <a:ext cx="3778812" cy="1280160"/>
          </a:xfrm>
          <a:prstGeom prst="rect">
            <a:avLst/>
          </a:prstGeom>
        </p:spPr>
      </p:pic>
    </p:spTree>
    <p:extLst>
      <p:ext uri="{BB962C8B-B14F-4D97-AF65-F5344CB8AC3E}">
        <p14:creationId xmlns:p14="http://schemas.microsoft.com/office/powerpoint/2010/main" val="258709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DBE91A-D82D-8657-B2E4-AD8688FBD4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6197DA-68F7-180D-1F6D-044F1D3B54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521DA1-E432-CE65-5BC2-B4E6DF1DCA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A6B285-9D8B-4784-ABA3-DCEB22889303}" type="datetimeFigureOut">
              <a:rPr lang="en-IN" smtClean="0"/>
              <a:t>13-03-2026</a:t>
            </a:fld>
            <a:endParaRPr lang="en-IN"/>
          </a:p>
        </p:txBody>
      </p:sp>
      <p:sp>
        <p:nvSpPr>
          <p:cNvPr id="5" name="Footer Placeholder 4">
            <a:extLst>
              <a:ext uri="{FF2B5EF4-FFF2-40B4-BE49-F238E27FC236}">
                <a16:creationId xmlns:a16="http://schemas.microsoft.com/office/drawing/2014/main" id="{72D24E4A-D14C-43B1-BA09-359BFBD129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1B301DF-D509-73D7-D3BF-21F33B1CCD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1C3610-F5CE-46A3-B468-ECE94DBA5994}" type="slidenum">
              <a:rPr lang="en-IN" smtClean="0"/>
              <a:t>‹#›</a:t>
            </a:fld>
            <a:endParaRPr lang="en-IN"/>
          </a:p>
        </p:txBody>
      </p:sp>
    </p:spTree>
    <p:extLst>
      <p:ext uri="{BB962C8B-B14F-4D97-AF65-F5344CB8AC3E}">
        <p14:creationId xmlns:p14="http://schemas.microsoft.com/office/powerpoint/2010/main" val="2542388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9E10C-3372-4D6E-B839-1171DB026F26}"/>
              </a:ext>
            </a:extLst>
          </p:cNvPr>
          <p:cNvSpPr>
            <a:spLocks noGrp="1"/>
          </p:cNvSpPr>
          <p:nvPr>
            <p:ph type="ctrTitle"/>
          </p:nvPr>
        </p:nvSpPr>
        <p:spPr>
          <a:xfrm>
            <a:off x="519953" y="2131633"/>
            <a:ext cx="11152094" cy="1830768"/>
          </a:xfrm>
        </p:spPr>
        <p:txBody>
          <a:bodyPr/>
          <a:lstStyle/>
          <a:p>
            <a:pPr algn="ctr"/>
            <a:r>
              <a:rPr lang="en-US" cap="all" dirty="0">
                <a:solidFill>
                  <a:srgbClr val="C8FF08"/>
                </a:solidFill>
                <a:latin typeface="Sons Condensed Extrabold" panose="02060906060206060203" pitchFamily="18" charset="0"/>
              </a:rPr>
              <a:t>FSR : INGESTION AND AI – SEARCHABLE </a:t>
            </a:r>
            <a:br>
              <a:rPr lang="en-US" cap="all" dirty="0">
                <a:solidFill>
                  <a:srgbClr val="C8FF08"/>
                </a:solidFill>
                <a:latin typeface="Sons Condensed Extrabold" panose="02060906060206060203" pitchFamily="18" charset="0"/>
              </a:rPr>
            </a:br>
            <a:r>
              <a:rPr lang="en-US" cap="all" dirty="0">
                <a:solidFill>
                  <a:srgbClr val="C8FF08"/>
                </a:solidFill>
                <a:latin typeface="Sons Condensed Extrabold" panose="02060906060206060203" pitchFamily="18" charset="0"/>
              </a:rPr>
              <a:t>DATA ARCHITECTURE</a:t>
            </a:r>
            <a:br>
              <a:rPr lang="en-US" cap="all" dirty="0">
                <a:solidFill>
                  <a:srgbClr val="C8FF08"/>
                </a:solidFill>
                <a:latin typeface="Sons Condensed Extrabold" panose="02060906060206060203" pitchFamily="18" charset="0"/>
              </a:rPr>
            </a:br>
            <a:br>
              <a:rPr lang="en-US" sz="2800" dirty="0"/>
            </a:br>
            <a:endParaRPr lang="en-US" sz="3000" i="1" dirty="0"/>
          </a:p>
        </p:txBody>
      </p:sp>
    </p:spTree>
    <p:extLst>
      <p:ext uri="{BB962C8B-B14F-4D97-AF65-F5344CB8AC3E}">
        <p14:creationId xmlns:p14="http://schemas.microsoft.com/office/powerpoint/2010/main" val="3778339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3299778-4833-8B3E-ECB6-1CA884842303}"/>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D2E410B2-A6F8-4900-56D6-C38C3F289B4C}"/>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EXECUTIVE SUMMARY</a:t>
            </a:r>
          </a:p>
        </p:txBody>
      </p:sp>
      <p:sp>
        <p:nvSpPr>
          <p:cNvPr id="8" name="Rectangle 2">
            <a:extLst>
              <a:ext uri="{FF2B5EF4-FFF2-40B4-BE49-F238E27FC236}">
                <a16:creationId xmlns:a16="http://schemas.microsoft.com/office/drawing/2014/main" id="{6A55F3C7-9F30-3A5E-59A3-0B9AE6F2CEAE}"/>
              </a:ext>
            </a:extLst>
          </p:cNvPr>
          <p:cNvSpPr>
            <a:spLocks noChangeArrowheads="1"/>
          </p:cNvSpPr>
          <p:nvPr/>
        </p:nvSpPr>
        <p:spPr bwMode="auto">
          <a:xfrm>
            <a:off x="228251" y="1084174"/>
            <a:ext cx="11735498"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
            </a:pPr>
            <a:r>
              <a:rPr lang="en-US" altLang="en-US" sz="2000" b="1" dirty="0"/>
              <a:t>Objective</a:t>
            </a:r>
            <a:endParaRPr lang="en-US" altLang="en-US" sz="2000"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Build an end‑to‑end pipeline to ingest ~200K Field Service Reports (FSRs) and transform them into an AI‑searchable format.</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Enable ESN‑filtered retrieval with section/subsection context for outages, findings, and recommendations.</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US" altLang="en-US" sz="2000" b="1" dirty="0"/>
              <a:t>Scope</a:t>
            </a:r>
            <a:endParaRPr lang="en-US" altLang="en-US" sz="2000" dirty="0"/>
          </a:p>
          <a:p>
            <a:pPr marL="742950" lvl="1" indent="-285750" eaLnBrk="0" fontAlgn="base" hangingPunct="0">
              <a:spcBef>
                <a:spcPct val="0"/>
              </a:spcBef>
              <a:spcAft>
                <a:spcPct val="0"/>
              </a:spcAft>
              <a:buFont typeface="Courier New" panose="02070309020205020404" pitchFamily="49" charset="0"/>
              <a:buChar char="o"/>
            </a:pPr>
            <a:r>
              <a:rPr lang="en-US" sz="2000" dirty="0"/>
              <a:t>Temporal Filter: Focus on FSRs opened after January 1, 2016</a:t>
            </a:r>
            <a:endParaRPr lang="en-US" altLang="en-US" sz="2000"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FSR Data sources: ~91K records in field_vision_fsr_report_data and PDFs stored in DBFS volumes.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FSR Reports: 30–40 pages, with sections like Executive Summary, EHS, Quality, Technical Findings.</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US" altLang="en-US" sz="2000" b="1" dirty="0"/>
              <a:t>Approach</a:t>
            </a:r>
            <a:endParaRPr lang="en-US" altLang="en-US" sz="2000"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Databricks‑native architecture: Delta Lake, Vector Search, AI Functions.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Section/subsection chunking strategy to preserve natural context.</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US" altLang="en-US" sz="2000" b="1" dirty="0"/>
              <a:t>Outcome</a:t>
            </a:r>
            <a:endParaRPr lang="en-US" altLang="en-US" sz="2000"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Interactive search with ESN filtering, secure </a:t>
            </a:r>
            <a:r>
              <a:rPr lang="en-US" altLang="en-US" sz="2000"/>
              <a:t>and scalable.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11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6BDD3-AAA8-86A7-8DE7-F22355EF259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38876F-7C00-82BC-06D0-38E1AEFE5185}"/>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AD1F22A5-BE87-B67B-72B8-C08BD59B0D3F}"/>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CURRENT STATE ANALYSIS</a:t>
            </a:r>
          </a:p>
        </p:txBody>
      </p:sp>
      <p:sp>
        <p:nvSpPr>
          <p:cNvPr id="8" name="Rectangle 2">
            <a:extLst>
              <a:ext uri="{FF2B5EF4-FFF2-40B4-BE49-F238E27FC236}">
                <a16:creationId xmlns:a16="http://schemas.microsoft.com/office/drawing/2014/main" id="{E0BCC995-7019-6C07-7916-22CDC10CB56C}"/>
              </a:ext>
            </a:extLst>
          </p:cNvPr>
          <p:cNvSpPr>
            <a:spLocks noChangeArrowheads="1"/>
          </p:cNvSpPr>
          <p:nvPr/>
        </p:nvSpPr>
        <p:spPr bwMode="auto">
          <a:xfrm>
            <a:off x="228251" y="1108694"/>
            <a:ext cx="11735498"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
            </a:pPr>
            <a:r>
              <a:rPr lang="en-IN" sz="2000" b="1" dirty="0"/>
              <a:t>Data Sources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Raw PDFs: /Volumes/</a:t>
            </a:r>
            <a:r>
              <a:rPr lang="en-US" altLang="en-US" sz="2000" dirty="0" err="1"/>
              <a:t>vgpd</a:t>
            </a:r>
            <a:r>
              <a:rPr lang="en-US" altLang="en-US" sz="2000" dirty="0"/>
              <a:t>/</a:t>
            </a:r>
            <a:r>
              <a:rPr lang="en-US" altLang="en-US" sz="2000" dirty="0" err="1"/>
              <a:t>fsr_std_views</a:t>
            </a:r>
            <a:r>
              <a:rPr lang="en-US" altLang="en-US" sz="2000" dirty="0"/>
              <a:t>/</a:t>
            </a:r>
            <a:r>
              <a:rPr lang="en-US" altLang="en-US" sz="2000" dirty="0" err="1"/>
              <a:t>fsr_std_vol</a:t>
            </a:r>
            <a:r>
              <a:rPr lang="en-US" altLang="en-US" sz="2000" dirty="0"/>
              <a:t>/....</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Structured table: </a:t>
            </a:r>
            <a:r>
              <a:rPr lang="en-US" altLang="en-US" sz="2000" dirty="0" err="1"/>
              <a:t>vgpd.fsr_std_views.field_vision_fsr_report_data</a:t>
            </a:r>
            <a:r>
              <a:rPr lang="en-US" altLang="en-US" sz="2000" dirty="0"/>
              <a:t>.</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Reference tables: IBAT Equipment Master, Event Vision SOT.</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IN" sz="2000" b="1" dirty="0"/>
              <a:t>Data Characteristics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Structured fields: identifiers, outage dates, event IDs, site info.</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Unstructured fields: executive summary, work scope, recommendations.</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IN" sz="2000" b="1" dirty="0"/>
              <a:t>Challenges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Mixed formats (PDF + Delta).</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Large narrative sections requiring semantic search.</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ESN filtering essential for precision.</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IN" sz="2000" b="1" dirty="0"/>
              <a:t>Details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Structured table holds ~91K records with </a:t>
            </a:r>
            <a:r>
              <a:rPr lang="en-US" sz="2000"/>
              <a:t>72 columns</a:t>
            </a:r>
            <a:r>
              <a:rPr lang="en-US" altLang="en-US" sz="2000"/>
              <a:t>.</a:t>
            </a:r>
            <a:endParaRPr lang="en-US" altLang="en-US" sz="2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4170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43184-163B-9FD3-4381-93744C8DDE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3DF63DF-0BA1-1C45-17C3-61AD2ABFD9FB}"/>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1205AD6D-E048-04AB-B3FA-781DBC1077E8}"/>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DATA LANDSCAPE</a:t>
            </a:r>
          </a:p>
        </p:txBody>
      </p:sp>
      <p:sp>
        <p:nvSpPr>
          <p:cNvPr id="8" name="Rectangle 2">
            <a:extLst>
              <a:ext uri="{FF2B5EF4-FFF2-40B4-BE49-F238E27FC236}">
                <a16:creationId xmlns:a16="http://schemas.microsoft.com/office/drawing/2014/main" id="{B4094C16-9453-BD19-E313-07CA40A9F48C}"/>
              </a:ext>
            </a:extLst>
          </p:cNvPr>
          <p:cNvSpPr>
            <a:spLocks noChangeArrowheads="1"/>
          </p:cNvSpPr>
          <p:nvPr/>
        </p:nvSpPr>
        <p:spPr bwMode="auto">
          <a:xfrm>
            <a:off x="228251" y="1080500"/>
            <a:ext cx="11735498"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Wingdings" panose="05000000000000000000" pitchFamily="2" charset="2"/>
              <a:buChar char="§"/>
            </a:pPr>
            <a:r>
              <a:rPr lang="en-IN" sz="2000" b="1" dirty="0"/>
              <a:t>Structured Fields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Identifiers: ESN, Equipment Sys ID, Event IDs.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Temporal: outage start/end, submitted date.</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Categorical: outage type, intervention type, technology type.</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Numerical: operating hours, starts, trips.</a:t>
            </a:r>
          </a:p>
          <a:p>
            <a:pPr lvl="1" eaLnBrk="0" fontAlgn="base" hangingPunct="0">
              <a:spcBef>
                <a:spcPct val="0"/>
              </a:spcBef>
              <a:spcAft>
                <a:spcPct val="0"/>
              </a:spcAft>
            </a:pPr>
            <a:endParaRPr lang="en-US" altLang="en-US"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
            </a:pPr>
            <a:r>
              <a:rPr lang="en-IN" sz="2000" b="1" dirty="0"/>
              <a:t>Unstructured Fields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Executive summary, quality notes, work scope, recommendations — typically 1–2 pages each.</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IN" sz="2000" b="1" dirty="0"/>
              <a:t>Volume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~91k structured records and ~200k PDFs.</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IN" sz="2000" b="1" dirty="0"/>
              <a:t>Consistency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ESN and Equipment Sys ID present in most reports, reliable for filtering.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6629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53CDD-6E36-28DA-37A3-F9B29A2FBC6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5A99211-66CF-6EB3-1EC0-087DB931500F}"/>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DCEB4A34-D256-30E8-CC6A-6813E4E05553}"/>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CHALLENGES</a:t>
            </a:r>
          </a:p>
        </p:txBody>
      </p:sp>
      <p:sp>
        <p:nvSpPr>
          <p:cNvPr id="8" name="Rectangle 2">
            <a:extLst>
              <a:ext uri="{FF2B5EF4-FFF2-40B4-BE49-F238E27FC236}">
                <a16:creationId xmlns:a16="http://schemas.microsoft.com/office/drawing/2014/main" id="{5A571B3D-C3F6-CF4F-C935-642F241550EF}"/>
              </a:ext>
            </a:extLst>
          </p:cNvPr>
          <p:cNvSpPr>
            <a:spLocks noChangeArrowheads="1"/>
          </p:cNvSpPr>
          <p:nvPr/>
        </p:nvSpPr>
        <p:spPr bwMode="auto">
          <a:xfrm>
            <a:off x="228251" y="1403666"/>
            <a:ext cx="11735498"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
            </a:pPr>
            <a:r>
              <a:rPr lang="en-IN" sz="2000" b="1" dirty="0"/>
              <a:t>Format Variability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PDFs vary slightly in layout, requiring robust parsing logic.</a:t>
            </a:r>
          </a:p>
          <a:p>
            <a:pPr lvl="1" eaLnBrk="0" fontAlgn="base" hangingPunct="0">
              <a:spcBef>
                <a:spcPct val="0"/>
              </a:spcBef>
              <a:spcAft>
                <a:spcPct val="0"/>
              </a:spcAft>
            </a:pPr>
            <a:endParaRPr lang="en-US" altLang="en-US"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
            </a:pPr>
            <a:r>
              <a:rPr lang="en-IN" sz="2000" b="1" dirty="0"/>
              <a:t>Integration Needs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Structured and unstructured sources must be unified into a single Delta dataset.</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IN" sz="2000" b="1" dirty="0"/>
              <a:t>Search Requirements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Queries must support ESN filtering, fallback to Equipment Sys ID, and retrieval at whole‑report or section/subsection level.</a:t>
            </a:r>
          </a:p>
          <a:p>
            <a:pPr lvl="1" eaLnBrk="0" fontAlgn="base" hangingPunct="0">
              <a:spcBef>
                <a:spcPct val="0"/>
              </a:spcBef>
              <a:spcAft>
                <a:spcPct val="0"/>
              </a:spcAft>
            </a:pPr>
            <a:endParaRPr lang="en-US" altLang="en-US" sz="2000" dirty="0"/>
          </a:p>
          <a:p>
            <a:pPr marL="285750" lvl="0" indent="-285750" eaLnBrk="0" fontAlgn="base" hangingPunct="0">
              <a:spcBef>
                <a:spcPct val="0"/>
              </a:spcBef>
              <a:spcAft>
                <a:spcPct val="0"/>
              </a:spcAft>
              <a:buFont typeface="Wingdings" panose="05000000000000000000" pitchFamily="2" charset="2"/>
              <a:buChar char="§"/>
            </a:pPr>
            <a:r>
              <a:rPr lang="en-IN" sz="2000" b="1" dirty="0"/>
              <a:t>Security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All processing, embedding, and indexing must remain inside Databricks.</a:t>
            </a:r>
            <a:endParaRPr lang="en-US" altLang="en-US" sz="2000" dirty="0"/>
          </a:p>
        </p:txBody>
      </p:sp>
    </p:spTree>
    <p:extLst>
      <p:ext uri="{BB962C8B-B14F-4D97-AF65-F5344CB8AC3E}">
        <p14:creationId xmlns:p14="http://schemas.microsoft.com/office/powerpoint/2010/main" val="417028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C65DC-DE39-CF40-8598-0B6FA459E1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4D9F64-3B81-26B6-D789-2F4A7133011B}"/>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42ACC419-C8A3-5363-63AA-1433BDA66758}"/>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HIGH LEVEL ARCHITECTURE OVERVIEW</a:t>
            </a:r>
          </a:p>
        </p:txBody>
      </p:sp>
      <p:sp>
        <p:nvSpPr>
          <p:cNvPr id="8" name="Rectangle 2">
            <a:extLst>
              <a:ext uri="{FF2B5EF4-FFF2-40B4-BE49-F238E27FC236}">
                <a16:creationId xmlns:a16="http://schemas.microsoft.com/office/drawing/2014/main" id="{360DB277-1AC1-2AB0-27D4-E6082085AF65}"/>
              </a:ext>
            </a:extLst>
          </p:cNvPr>
          <p:cNvSpPr>
            <a:spLocks noChangeArrowheads="1"/>
          </p:cNvSpPr>
          <p:nvPr/>
        </p:nvSpPr>
        <p:spPr bwMode="auto">
          <a:xfrm>
            <a:off x="228251" y="1064007"/>
            <a:ext cx="11735498"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
            </a:pPr>
            <a:r>
              <a:rPr lang="en-US" sz="2400" b="1" dirty="0"/>
              <a:t>FSR AI Search – High‑Level Architecture</a:t>
            </a:r>
            <a:endParaRPr lang="en-IN" sz="2400" b="1" dirty="0"/>
          </a:p>
          <a:p>
            <a:pPr lvl="0" eaLnBrk="0" fontAlgn="base" hangingPunct="0">
              <a:spcBef>
                <a:spcPct val="0"/>
              </a:spcBef>
              <a:spcAft>
                <a:spcPct val="0"/>
              </a:spcAft>
            </a:pPr>
            <a:endParaRPr lang="en-IN" sz="2000" b="1" dirty="0"/>
          </a:p>
          <a:p>
            <a:pPr marL="742950" lvl="1" indent="-285750" eaLnBrk="0" fontAlgn="base" hangingPunct="0">
              <a:spcBef>
                <a:spcPct val="0"/>
              </a:spcBef>
              <a:spcAft>
                <a:spcPct val="0"/>
              </a:spcAft>
              <a:buFont typeface="Wingdings" panose="05000000000000000000" pitchFamily="2" charset="2"/>
              <a:buChar char="§"/>
            </a:pPr>
            <a:r>
              <a:rPr lang="en-IN" sz="2000" b="1" dirty="0"/>
              <a:t>Data Sources</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altLang="en-US" sz="2000" dirty="0"/>
              <a:t>Raw FSR PDFs (~200K reports, 30–40 pages each).</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Structured FSR table (~91K records, 72 columns).</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Reference tables (IBAT Equipment Master, Event Vision SOT).</a:t>
            </a:r>
          </a:p>
          <a:p>
            <a:pPr lvl="1" eaLnBrk="0" fontAlgn="base" hangingPunct="0">
              <a:spcBef>
                <a:spcPct val="0"/>
              </a:spcBef>
              <a:spcAft>
                <a:spcPct val="0"/>
              </a:spcAft>
            </a:pPr>
            <a:endParaRPr lang="en-US" altLang="en-US" dirty="0">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lang="en-IN" sz="2000" b="1" dirty="0"/>
              <a:t>Data Lake Layer</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altLang="en-US" sz="2000" dirty="0"/>
              <a:t>All sources ingested into Delta Lake for unified storage.</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Metadata normalized (ESN, Equipment Sys ID, Event IDs).</a:t>
            </a:r>
          </a:p>
          <a:p>
            <a:pPr lvl="1" eaLnBrk="0" fontAlgn="base" hangingPunct="0">
              <a:spcBef>
                <a:spcPct val="0"/>
              </a:spcBef>
              <a:spcAft>
                <a:spcPct val="0"/>
              </a:spcAft>
            </a:pPr>
            <a:endParaRPr lang="en-US" altLang="en-US" sz="2000" dirty="0"/>
          </a:p>
          <a:p>
            <a:pPr marL="742950" lvl="1" indent="-285750" eaLnBrk="0" fontAlgn="base" hangingPunct="0">
              <a:spcBef>
                <a:spcPct val="0"/>
              </a:spcBef>
              <a:spcAft>
                <a:spcPct val="0"/>
              </a:spcAft>
              <a:buFont typeface="Wingdings" panose="05000000000000000000" pitchFamily="2" charset="2"/>
              <a:buChar char="§"/>
            </a:pPr>
            <a:r>
              <a:rPr lang="en-IN" sz="2000" b="1" dirty="0"/>
              <a:t>Processing Layer</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altLang="en-US" sz="2000" dirty="0"/>
              <a:t>Preprocessing: clean structured fields, extract unstructured text.</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Chunking: split reports into section/subsection units (~15–20 chunks per report).</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Embedding generation: ~1.3M embeddings created using Databricks‑hosted models.</a:t>
            </a:r>
          </a:p>
          <a:p>
            <a:pPr lvl="1" eaLnBrk="0" fontAlgn="base" hangingPunct="0">
              <a:spcBef>
                <a:spcPct val="0"/>
              </a:spcBef>
              <a:spcAft>
                <a:spcPct val="0"/>
              </a:spcAft>
            </a:pPr>
            <a:endParaRPr lang="en-US" altLang="en-US" sz="2000" dirty="0"/>
          </a:p>
        </p:txBody>
      </p:sp>
    </p:spTree>
    <p:extLst>
      <p:ext uri="{BB962C8B-B14F-4D97-AF65-F5344CB8AC3E}">
        <p14:creationId xmlns:p14="http://schemas.microsoft.com/office/powerpoint/2010/main" val="2657758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7BDD7-AF4C-85AE-6FE4-E955404D85E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5F29251-6F2D-17AF-D9C4-D19EB58E63BA}"/>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8E97E9DE-587D-1943-057D-4F8F5D06391C}"/>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HIGH LEVEL ARCHITECTURE OVERVIEW</a:t>
            </a:r>
          </a:p>
        </p:txBody>
      </p:sp>
      <p:sp>
        <p:nvSpPr>
          <p:cNvPr id="8" name="Rectangle 2">
            <a:extLst>
              <a:ext uri="{FF2B5EF4-FFF2-40B4-BE49-F238E27FC236}">
                <a16:creationId xmlns:a16="http://schemas.microsoft.com/office/drawing/2014/main" id="{19AC680B-DF98-82A3-8F1C-C87E2EB9735F}"/>
              </a:ext>
            </a:extLst>
          </p:cNvPr>
          <p:cNvSpPr>
            <a:spLocks noChangeArrowheads="1"/>
          </p:cNvSpPr>
          <p:nvPr/>
        </p:nvSpPr>
        <p:spPr bwMode="auto">
          <a:xfrm>
            <a:off x="228251" y="1059120"/>
            <a:ext cx="11735498"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
            </a:pPr>
            <a:r>
              <a:rPr lang="en-US" sz="2400" b="1" dirty="0"/>
              <a:t>FSR AI Search – High‑Level Architecture </a:t>
            </a:r>
            <a:r>
              <a:rPr lang="en-US" sz="1600" b="1" dirty="0"/>
              <a:t>contd.</a:t>
            </a:r>
            <a:endParaRPr lang="en-IN" sz="1600" b="1" dirty="0"/>
          </a:p>
          <a:p>
            <a:pPr marL="285750" lvl="0" indent="-285750" eaLnBrk="0" fontAlgn="base" hangingPunct="0">
              <a:spcBef>
                <a:spcPct val="0"/>
              </a:spcBef>
              <a:spcAft>
                <a:spcPct val="0"/>
              </a:spcAft>
              <a:buFont typeface="Wingdings" panose="05000000000000000000" pitchFamily="2" charset="2"/>
              <a:buChar char="§"/>
            </a:pPr>
            <a:endParaRPr lang="en-IN" sz="2000" b="1" dirty="0"/>
          </a:p>
          <a:p>
            <a:pPr marL="742950" lvl="1" indent="-285750" eaLnBrk="0" fontAlgn="base" hangingPunct="0">
              <a:spcBef>
                <a:spcPct val="0"/>
              </a:spcBef>
              <a:spcAft>
                <a:spcPct val="0"/>
              </a:spcAft>
              <a:buFont typeface="Wingdings" panose="05000000000000000000" pitchFamily="2" charset="2"/>
              <a:buChar char="§"/>
            </a:pPr>
            <a:r>
              <a:rPr lang="en-IN" sz="2000" b="1" dirty="0"/>
              <a:t>Indexing Layer</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altLang="en-US" sz="2000" dirty="0"/>
              <a:t>Databricks Vector Search indexes embeddings + metadata.</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Supports hybrid search (semantic + keyword) with ESN filtering.</a:t>
            </a:r>
          </a:p>
          <a:p>
            <a:pPr marL="742950" lvl="1" indent="-285750" eaLnBrk="0" fontAlgn="base" hangingPunct="0">
              <a:spcBef>
                <a:spcPct val="0"/>
              </a:spcBef>
              <a:spcAft>
                <a:spcPct val="0"/>
              </a:spcAft>
              <a:buFont typeface="Wingdings" panose="05000000000000000000" pitchFamily="2" charset="2"/>
              <a:buChar char="§"/>
            </a:pPr>
            <a:endParaRPr lang="en-IN" sz="2000" b="1" dirty="0"/>
          </a:p>
          <a:p>
            <a:pPr marL="742950" lvl="1" indent="-285750" eaLnBrk="0" fontAlgn="base" hangingPunct="0">
              <a:spcBef>
                <a:spcPct val="0"/>
              </a:spcBef>
              <a:spcAft>
                <a:spcPct val="0"/>
              </a:spcAft>
              <a:buFont typeface="Wingdings" panose="05000000000000000000" pitchFamily="2" charset="2"/>
              <a:buChar char="§"/>
            </a:pPr>
            <a:r>
              <a:rPr lang="en-IN" sz="2000" b="1" dirty="0"/>
              <a:t>AI Query Layer</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altLang="en-US" sz="2000" dirty="0"/>
              <a:t>Natural language interface via Databricks AI Functions.</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ESN filter applied first, semantic retrieval second.</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Returns whole FSR or specific sections depending on query.</a:t>
            </a:r>
          </a:p>
          <a:p>
            <a:pPr lvl="1" eaLnBrk="0" fontAlgn="base" hangingPunct="0">
              <a:spcBef>
                <a:spcPct val="0"/>
              </a:spcBef>
              <a:spcAft>
                <a:spcPct val="0"/>
              </a:spcAft>
            </a:pPr>
            <a:endParaRPr lang="en-US" altLang="en-US" dirty="0">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lang="en-IN" sz="2000" b="1" dirty="0"/>
              <a:t>Consumption Layer</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sz="2000" dirty="0"/>
              <a:t>Leadership/architect dashboards.</a:t>
            </a:r>
          </a:p>
          <a:p>
            <a:pPr marL="1200150" lvl="2" indent="-285750" eaLnBrk="0" fontAlgn="base" hangingPunct="0">
              <a:spcBef>
                <a:spcPct val="0"/>
              </a:spcBef>
              <a:spcAft>
                <a:spcPct val="0"/>
              </a:spcAft>
              <a:buFont typeface="Courier New" panose="02070309020205020404" pitchFamily="49" charset="0"/>
              <a:buChar char="o"/>
            </a:pPr>
            <a:r>
              <a:rPr lang="en-US" sz="2000" dirty="0"/>
              <a:t>Engineers use interactive search for outages, findings, recommendations.</a:t>
            </a:r>
          </a:p>
          <a:p>
            <a:pPr lvl="1" eaLnBrk="0" fontAlgn="base" hangingPunct="0">
              <a:spcBef>
                <a:spcPct val="0"/>
              </a:spcBef>
              <a:spcAft>
                <a:spcPct val="0"/>
              </a:spcAft>
            </a:pPr>
            <a:endParaRPr lang="en-US" altLang="en-US" sz="2000" dirty="0"/>
          </a:p>
        </p:txBody>
      </p:sp>
    </p:spTree>
    <p:extLst>
      <p:ext uri="{BB962C8B-B14F-4D97-AF65-F5344CB8AC3E}">
        <p14:creationId xmlns:p14="http://schemas.microsoft.com/office/powerpoint/2010/main" val="2289477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 name="Group 112">
            <a:extLst>
              <a:ext uri="{FF2B5EF4-FFF2-40B4-BE49-F238E27FC236}">
                <a16:creationId xmlns:a16="http://schemas.microsoft.com/office/drawing/2014/main" id="{15EA8F26-AB4A-7A81-E5AB-0FC04464E757}"/>
              </a:ext>
            </a:extLst>
          </p:cNvPr>
          <p:cNvGrpSpPr/>
          <p:nvPr/>
        </p:nvGrpSpPr>
        <p:grpSpPr>
          <a:xfrm>
            <a:off x="468995" y="272021"/>
            <a:ext cx="11276331" cy="6256983"/>
            <a:chOff x="468995" y="272021"/>
            <a:chExt cx="11276331" cy="6256983"/>
          </a:xfrm>
        </p:grpSpPr>
        <p:grpSp>
          <p:nvGrpSpPr>
            <p:cNvPr id="109" name="Group 108">
              <a:extLst>
                <a:ext uri="{FF2B5EF4-FFF2-40B4-BE49-F238E27FC236}">
                  <a16:creationId xmlns:a16="http://schemas.microsoft.com/office/drawing/2014/main" id="{8FEE5BA9-81A4-ECA1-3D02-9F905D54A8C1}"/>
                </a:ext>
              </a:extLst>
            </p:cNvPr>
            <p:cNvGrpSpPr/>
            <p:nvPr/>
          </p:nvGrpSpPr>
          <p:grpSpPr>
            <a:xfrm>
              <a:off x="468995" y="272021"/>
              <a:ext cx="11276331" cy="6256983"/>
              <a:chOff x="529955" y="211061"/>
              <a:chExt cx="11276331" cy="6256983"/>
            </a:xfrm>
          </p:grpSpPr>
          <p:grpSp>
            <p:nvGrpSpPr>
              <p:cNvPr id="107" name="Group 106">
                <a:extLst>
                  <a:ext uri="{FF2B5EF4-FFF2-40B4-BE49-F238E27FC236}">
                    <a16:creationId xmlns:a16="http://schemas.microsoft.com/office/drawing/2014/main" id="{DB7AE827-8E05-8C88-AC4B-7C76E41FB0F3}"/>
                  </a:ext>
                </a:extLst>
              </p:cNvPr>
              <p:cNvGrpSpPr/>
              <p:nvPr/>
            </p:nvGrpSpPr>
            <p:grpSpPr>
              <a:xfrm>
                <a:off x="529955" y="211061"/>
                <a:ext cx="11276331" cy="6256983"/>
                <a:chOff x="529955" y="211061"/>
                <a:chExt cx="11276331" cy="6256983"/>
              </a:xfrm>
            </p:grpSpPr>
            <p:pic>
              <p:nvPicPr>
                <p:cNvPr id="5" name="Graphic 4" descr="Document with solid fill">
                  <a:extLst>
                    <a:ext uri="{FF2B5EF4-FFF2-40B4-BE49-F238E27FC236}">
                      <a16:creationId xmlns:a16="http://schemas.microsoft.com/office/drawing/2014/main" id="{D0253332-A923-A133-C31A-7AAFD4BA0D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6664" y="1196340"/>
                  <a:ext cx="914400" cy="914400"/>
                </a:xfrm>
                <a:prstGeom prst="rect">
                  <a:avLst/>
                </a:prstGeom>
              </p:spPr>
            </p:pic>
            <p:grpSp>
              <p:nvGrpSpPr>
                <p:cNvPr id="15" name="Group 14">
                  <a:extLst>
                    <a:ext uri="{FF2B5EF4-FFF2-40B4-BE49-F238E27FC236}">
                      <a16:creationId xmlns:a16="http://schemas.microsoft.com/office/drawing/2014/main" id="{213B3D96-A184-62B5-411D-F2499B8AFFE1}"/>
                    </a:ext>
                  </a:extLst>
                </p:cNvPr>
                <p:cNvGrpSpPr/>
                <p:nvPr/>
              </p:nvGrpSpPr>
              <p:grpSpPr>
                <a:xfrm>
                  <a:off x="706663" y="2741221"/>
                  <a:ext cx="1164772" cy="1088572"/>
                  <a:chOff x="1696720" y="2971800"/>
                  <a:chExt cx="1164772" cy="1088572"/>
                </a:xfrm>
              </p:grpSpPr>
              <p:pic>
                <p:nvPicPr>
                  <p:cNvPr id="7" name="Graphic 6" descr="Table with solid fill">
                    <a:extLst>
                      <a:ext uri="{FF2B5EF4-FFF2-40B4-BE49-F238E27FC236}">
                        <a16:creationId xmlns:a16="http://schemas.microsoft.com/office/drawing/2014/main" id="{618E189C-AF13-C451-0DEE-32345C863D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7092" y="3145972"/>
                    <a:ext cx="914400" cy="914400"/>
                  </a:xfrm>
                  <a:prstGeom prst="rect">
                    <a:avLst/>
                  </a:prstGeom>
                </p:spPr>
              </p:pic>
              <p:pic>
                <p:nvPicPr>
                  <p:cNvPr id="9" name="Graphic 8" descr="Table outline">
                    <a:extLst>
                      <a:ext uri="{FF2B5EF4-FFF2-40B4-BE49-F238E27FC236}">
                        <a16:creationId xmlns:a16="http://schemas.microsoft.com/office/drawing/2014/main" id="{F0F21BBA-22BE-9B6B-19C2-7AE0270F78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96720" y="2971800"/>
                    <a:ext cx="914400" cy="914400"/>
                  </a:xfrm>
                  <a:prstGeom prst="rect">
                    <a:avLst/>
                  </a:prstGeom>
                </p:spPr>
              </p:pic>
            </p:grpSp>
            <p:grpSp>
              <p:nvGrpSpPr>
                <p:cNvPr id="14" name="Group 13">
                  <a:extLst>
                    <a:ext uri="{FF2B5EF4-FFF2-40B4-BE49-F238E27FC236}">
                      <a16:creationId xmlns:a16="http://schemas.microsoft.com/office/drawing/2014/main" id="{C38A2994-8C87-6C2C-C8FD-090173731B78}"/>
                    </a:ext>
                  </a:extLst>
                </p:cNvPr>
                <p:cNvGrpSpPr/>
                <p:nvPr/>
              </p:nvGrpSpPr>
              <p:grpSpPr>
                <a:xfrm>
                  <a:off x="631665" y="4586350"/>
                  <a:ext cx="1458685" cy="1023252"/>
                  <a:chOff x="902063" y="4436292"/>
                  <a:chExt cx="1458685" cy="1023252"/>
                </a:xfrm>
              </p:grpSpPr>
              <p:pic>
                <p:nvPicPr>
                  <p:cNvPr id="11" name="Graphic 10" descr="Database outline">
                    <a:extLst>
                      <a:ext uri="{FF2B5EF4-FFF2-40B4-BE49-F238E27FC236}">
                        <a16:creationId xmlns:a16="http://schemas.microsoft.com/office/drawing/2014/main" id="{ED9BE266-F21B-C86C-A9D6-27F7FB87D4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46348" y="4545144"/>
                    <a:ext cx="914400" cy="914400"/>
                  </a:xfrm>
                  <a:prstGeom prst="rect">
                    <a:avLst/>
                  </a:prstGeom>
                </p:spPr>
              </p:pic>
              <p:pic>
                <p:nvPicPr>
                  <p:cNvPr id="13" name="Graphic 12" descr="Document outline">
                    <a:extLst>
                      <a:ext uri="{FF2B5EF4-FFF2-40B4-BE49-F238E27FC236}">
                        <a16:creationId xmlns:a16="http://schemas.microsoft.com/office/drawing/2014/main" id="{F597F128-49C5-17FB-7843-30CAE0D47B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2063" y="4436292"/>
                    <a:ext cx="914400" cy="914400"/>
                  </a:xfrm>
                  <a:prstGeom prst="rect">
                    <a:avLst/>
                  </a:prstGeom>
                </p:spPr>
              </p:pic>
            </p:grpSp>
            <p:grpSp>
              <p:nvGrpSpPr>
                <p:cNvPr id="20" name="Group 19">
                  <a:extLst>
                    <a:ext uri="{FF2B5EF4-FFF2-40B4-BE49-F238E27FC236}">
                      <a16:creationId xmlns:a16="http://schemas.microsoft.com/office/drawing/2014/main" id="{D561F3D9-462B-AD34-76BA-C89C0C65694F}"/>
                    </a:ext>
                  </a:extLst>
                </p:cNvPr>
                <p:cNvGrpSpPr/>
                <p:nvPr/>
              </p:nvGrpSpPr>
              <p:grpSpPr>
                <a:xfrm>
                  <a:off x="3233366" y="2549607"/>
                  <a:ext cx="1366520" cy="1366520"/>
                  <a:chOff x="4043680" y="2595880"/>
                  <a:chExt cx="1366520" cy="1366520"/>
                </a:xfrm>
              </p:grpSpPr>
              <p:pic>
                <p:nvPicPr>
                  <p:cNvPr id="17" name="Graphic 16" descr="Cylinder outline">
                    <a:extLst>
                      <a:ext uri="{FF2B5EF4-FFF2-40B4-BE49-F238E27FC236}">
                        <a16:creationId xmlns:a16="http://schemas.microsoft.com/office/drawing/2014/main" id="{21D9ADF2-CB0F-FEF0-6710-D1A763B1ADD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43680" y="2595880"/>
                    <a:ext cx="1366520" cy="1366520"/>
                  </a:xfrm>
                  <a:prstGeom prst="rect">
                    <a:avLst/>
                  </a:prstGeom>
                </p:spPr>
              </p:pic>
              <p:pic>
                <p:nvPicPr>
                  <p:cNvPr id="19" name="Graphic 18" descr="Blockchain outline">
                    <a:extLst>
                      <a:ext uri="{FF2B5EF4-FFF2-40B4-BE49-F238E27FC236}">
                        <a16:creationId xmlns:a16="http://schemas.microsoft.com/office/drawing/2014/main" id="{DC5395AA-2C44-96FA-3EAD-77AC2594576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98340" y="3050540"/>
                    <a:ext cx="457200" cy="457200"/>
                  </a:xfrm>
                  <a:prstGeom prst="rect">
                    <a:avLst/>
                  </a:prstGeom>
                </p:spPr>
              </p:pic>
            </p:grpSp>
            <p:pic>
              <p:nvPicPr>
                <p:cNvPr id="22" name="Graphic 21" descr="Chat bubble outline">
                  <a:extLst>
                    <a:ext uri="{FF2B5EF4-FFF2-40B4-BE49-F238E27FC236}">
                      <a16:creationId xmlns:a16="http://schemas.microsoft.com/office/drawing/2014/main" id="{F74F7880-FCFE-72DC-BEF1-14E48025B1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076656" y="2773465"/>
                  <a:ext cx="914400" cy="914400"/>
                </a:xfrm>
                <a:prstGeom prst="rect">
                  <a:avLst/>
                </a:prstGeom>
              </p:spPr>
            </p:pic>
            <p:grpSp>
              <p:nvGrpSpPr>
                <p:cNvPr id="66" name="Group 65">
                  <a:extLst>
                    <a:ext uri="{FF2B5EF4-FFF2-40B4-BE49-F238E27FC236}">
                      <a16:creationId xmlns:a16="http://schemas.microsoft.com/office/drawing/2014/main" id="{F479C8AA-D3A2-F922-007F-3BB21E762FCC}"/>
                    </a:ext>
                  </a:extLst>
                </p:cNvPr>
                <p:cNvGrpSpPr/>
                <p:nvPr/>
              </p:nvGrpSpPr>
              <p:grpSpPr>
                <a:xfrm>
                  <a:off x="9682762" y="4261966"/>
                  <a:ext cx="1484992" cy="1141730"/>
                  <a:chOff x="9682762" y="4107675"/>
                  <a:chExt cx="1484992" cy="1141730"/>
                </a:xfrm>
              </p:grpSpPr>
              <p:pic>
                <p:nvPicPr>
                  <p:cNvPr id="24" name="Graphic 23" descr="Computer outline">
                    <a:extLst>
                      <a:ext uri="{FF2B5EF4-FFF2-40B4-BE49-F238E27FC236}">
                        <a16:creationId xmlns:a16="http://schemas.microsoft.com/office/drawing/2014/main" id="{E4D50D09-308E-18E3-FEF0-B29B7C141EF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253354" y="4107675"/>
                    <a:ext cx="914400" cy="914400"/>
                  </a:xfrm>
                  <a:prstGeom prst="rect">
                    <a:avLst/>
                  </a:prstGeom>
                </p:spPr>
              </p:pic>
              <p:pic>
                <p:nvPicPr>
                  <p:cNvPr id="26" name="Graphic 25" descr="Person in wheelchair outline">
                    <a:extLst>
                      <a:ext uri="{FF2B5EF4-FFF2-40B4-BE49-F238E27FC236}">
                        <a16:creationId xmlns:a16="http://schemas.microsoft.com/office/drawing/2014/main" id="{1F84CF5A-9F86-0556-56E5-D4C45EDF66F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682762" y="4335005"/>
                    <a:ext cx="914400" cy="914400"/>
                  </a:xfrm>
                  <a:prstGeom prst="rect">
                    <a:avLst/>
                  </a:prstGeom>
                </p:spPr>
              </p:pic>
            </p:grpSp>
            <p:pic>
              <p:nvPicPr>
                <p:cNvPr id="28" name="Graphic 27" descr="Presentation with bar chart with solid fill">
                  <a:extLst>
                    <a:ext uri="{FF2B5EF4-FFF2-40B4-BE49-F238E27FC236}">
                      <a16:creationId xmlns:a16="http://schemas.microsoft.com/office/drawing/2014/main" id="{C79B764C-78B3-F607-DF61-31B310DBE39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911797" y="1123224"/>
                  <a:ext cx="1290525" cy="1290525"/>
                </a:xfrm>
                <a:prstGeom prst="rect">
                  <a:avLst/>
                </a:prstGeom>
              </p:spPr>
            </p:pic>
            <p:sp>
              <p:nvSpPr>
                <p:cNvPr id="30" name="Rectangle: Rounded Corners 29">
                  <a:extLst>
                    <a:ext uri="{FF2B5EF4-FFF2-40B4-BE49-F238E27FC236}">
                      <a16:creationId xmlns:a16="http://schemas.microsoft.com/office/drawing/2014/main" id="{34F61D32-17B7-552E-F6EC-FA8ACB431573}"/>
                    </a:ext>
                  </a:extLst>
                </p:cNvPr>
                <p:cNvSpPr/>
                <p:nvPr/>
              </p:nvSpPr>
              <p:spPr>
                <a:xfrm>
                  <a:off x="2871904" y="1377977"/>
                  <a:ext cx="1650728" cy="38156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tx1"/>
                      </a:solidFill>
                    </a:rPr>
                    <a:t>Preprocessing</a:t>
                  </a:r>
                </a:p>
              </p:txBody>
            </p:sp>
            <p:sp>
              <p:nvSpPr>
                <p:cNvPr id="32" name="Rectangle: Rounded Corners 31">
                  <a:extLst>
                    <a:ext uri="{FF2B5EF4-FFF2-40B4-BE49-F238E27FC236}">
                      <a16:creationId xmlns:a16="http://schemas.microsoft.com/office/drawing/2014/main" id="{6B80FF5B-4C3A-531C-5E58-317C03A26E5B}"/>
                    </a:ext>
                  </a:extLst>
                </p:cNvPr>
                <p:cNvSpPr/>
                <p:nvPr/>
              </p:nvSpPr>
              <p:spPr>
                <a:xfrm>
                  <a:off x="6263973" y="3212406"/>
                  <a:ext cx="1853928" cy="49812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tx1"/>
                      </a:solidFill>
                    </a:rPr>
                    <a:t>Databricks </a:t>
                  </a:r>
                </a:p>
                <a:p>
                  <a:pPr algn="ctr"/>
                  <a:r>
                    <a:rPr lang="en-IN" sz="1600" b="1" dirty="0">
                      <a:solidFill>
                        <a:schemeClr val="tx1"/>
                      </a:solidFill>
                    </a:rPr>
                    <a:t>Vector Search</a:t>
                  </a:r>
                </a:p>
              </p:txBody>
            </p:sp>
            <p:pic>
              <p:nvPicPr>
                <p:cNvPr id="34" name="Picture 33">
                  <a:extLst>
                    <a:ext uri="{FF2B5EF4-FFF2-40B4-BE49-F238E27FC236}">
                      <a16:creationId xmlns:a16="http://schemas.microsoft.com/office/drawing/2014/main" id="{78C62966-E0DD-AEA0-440D-736B79698405}"/>
                    </a:ext>
                  </a:extLst>
                </p:cNvPr>
                <p:cNvPicPr>
                  <a:picLocks noChangeAspect="1"/>
                </p:cNvPicPr>
                <p:nvPr/>
              </p:nvPicPr>
              <p:blipFill>
                <a:blip r:embed="rId14"/>
                <a:stretch>
                  <a:fillRect/>
                </a:stretch>
              </p:blipFill>
              <p:spPr>
                <a:xfrm>
                  <a:off x="3443852" y="4892358"/>
                  <a:ext cx="1020361" cy="805548"/>
                </a:xfrm>
                <a:prstGeom prst="rect">
                  <a:avLst/>
                </a:prstGeom>
              </p:spPr>
            </p:pic>
            <p:sp>
              <p:nvSpPr>
                <p:cNvPr id="35" name="TextBox 34">
                  <a:extLst>
                    <a:ext uri="{FF2B5EF4-FFF2-40B4-BE49-F238E27FC236}">
                      <a16:creationId xmlns:a16="http://schemas.microsoft.com/office/drawing/2014/main" id="{3EF9AA28-2097-EE33-EF8B-AF1B3B39FF9C}"/>
                    </a:ext>
                  </a:extLst>
                </p:cNvPr>
                <p:cNvSpPr txBox="1"/>
                <p:nvPr/>
              </p:nvSpPr>
              <p:spPr>
                <a:xfrm>
                  <a:off x="544630" y="854948"/>
                  <a:ext cx="1435201" cy="338554"/>
                </a:xfrm>
                <a:prstGeom prst="rect">
                  <a:avLst/>
                </a:prstGeom>
                <a:noFill/>
              </p:spPr>
              <p:txBody>
                <a:bodyPr wrap="none" rtlCol="0">
                  <a:spAutoFit/>
                </a:bodyPr>
                <a:lstStyle/>
                <a:p>
                  <a:pPr algn="ctr"/>
                  <a:r>
                    <a:rPr lang="en-IN" sz="1600" b="1" dirty="0"/>
                    <a:t>Data Sources</a:t>
                  </a:r>
                </a:p>
              </p:txBody>
            </p:sp>
            <p:sp>
              <p:nvSpPr>
                <p:cNvPr id="36" name="TextBox 35">
                  <a:extLst>
                    <a:ext uri="{FF2B5EF4-FFF2-40B4-BE49-F238E27FC236}">
                      <a16:creationId xmlns:a16="http://schemas.microsoft.com/office/drawing/2014/main" id="{426AC88E-1B01-F414-AAED-153BF92EA851}"/>
                    </a:ext>
                  </a:extLst>
                </p:cNvPr>
                <p:cNvSpPr txBox="1"/>
                <p:nvPr/>
              </p:nvSpPr>
              <p:spPr>
                <a:xfrm>
                  <a:off x="544630" y="2083154"/>
                  <a:ext cx="1632755" cy="584775"/>
                </a:xfrm>
                <a:prstGeom prst="rect">
                  <a:avLst/>
                </a:prstGeom>
                <a:noFill/>
              </p:spPr>
              <p:txBody>
                <a:bodyPr wrap="none" rtlCol="0">
                  <a:spAutoFit/>
                </a:bodyPr>
                <a:lstStyle/>
                <a:p>
                  <a:pPr algn="ctr"/>
                  <a:r>
                    <a:rPr lang="en-IN" sz="1600" b="1" dirty="0"/>
                    <a:t>Raw FSR PDFs</a:t>
                  </a:r>
                  <a:br>
                    <a:rPr lang="en-IN" sz="1600" b="1" dirty="0"/>
                  </a:br>
                  <a:r>
                    <a:rPr lang="en-IN" sz="1600" b="1" dirty="0"/>
                    <a:t>(~200 K reports)</a:t>
                  </a:r>
                </a:p>
              </p:txBody>
            </p:sp>
            <p:sp>
              <p:nvSpPr>
                <p:cNvPr id="37" name="TextBox 36">
                  <a:extLst>
                    <a:ext uri="{FF2B5EF4-FFF2-40B4-BE49-F238E27FC236}">
                      <a16:creationId xmlns:a16="http://schemas.microsoft.com/office/drawing/2014/main" id="{C26889E9-63F8-F9A8-C2ED-6C0BFC57DF56}"/>
                    </a:ext>
                  </a:extLst>
                </p:cNvPr>
                <p:cNvSpPr txBox="1"/>
                <p:nvPr/>
              </p:nvSpPr>
              <p:spPr>
                <a:xfrm>
                  <a:off x="529955" y="3671950"/>
                  <a:ext cx="1632755" cy="584775"/>
                </a:xfrm>
                <a:prstGeom prst="rect">
                  <a:avLst/>
                </a:prstGeom>
                <a:noFill/>
              </p:spPr>
              <p:txBody>
                <a:bodyPr wrap="none" rtlCol="0">
                  <a:spAutoFit/>
                </a:bodyPr>
                <a:lstStyle/>
                <a:p>
                  <a:pPr algn="ctr"/>
                  <a:r>
                    <a:rPr lang="en-IN" sz="1600" b="1" dirty="0"/>
                    <a:t>Structured FSR</a:t>
                  </a:r>
                  <a:br>
                    <a:rPr lang="en-IN" sz="1600" b="1" dirty="0"/>
                  </a:br>
                  <a:r>
                    <a:rPr lang="en-IN" sz="1600" b="1" dirty="0"/>
                    <a:t>(~91 K records)</a:t>
                  </a:r>
                </a:p>
              </p:txBody>
            </p:sp>
            <p:sp>
              <p:nvSpPr>
                <p:cNvPr id="38" name="TextBox 37">
                  <a:extLst>
                    <a:ext uri="{FF2B5EF4-FFF2-40B4-BE49-F238E27FC236}">
                      <a16:creationId xmlns:a16="http://schemas.microsoft.com/office/drawing/2014/main" id="{CA7CAB31-6597-BC5B-46CC-2C18C6161F5B}"/>
                    </a:ext>
                  </a:extLst>
                </p:cNvPr>
                <p:cNvSpPr txBox="1"/>
                <p:nvPr/>
              </p:nvSpPr>
              <p:spPr>
                <a:xfrm>
                  <a:off x="544630" y="5637047"/>
                  <a:ext cx="1817550" cy="830997"/>
                </a:xfrm>
                <a:prstGeom prst="rect">
                  <a:avLst/>
                </a:prstGeom>
                <a:noFill/>
              </p:spPr>
              <p:txBody>
                <a:bodyPr wrap="square" rtlCol="0">
                  <a:spAutoFit/>
                </a:bodyPr>
                <a:lstStyle/>
                <a:p>
                  <a:pPr algn="ctr"/>
                  <a:r>
                    <a:rPr lang="en-IN" sz="1600" b="1" dirty="0"/>
                    <a:t>Reference Tables</a:t>
                  </a:r>
                </a:p>
                <a:p>
                  <a:pPr algn="ctr"/>
                  <a:r>
                    <a:rPr lang="en-IN" sz="1600" b="1" dirty="0"/>
                    <a:t>IBAT </a:t>
                  </a:r>
                </a:p>
                <a:p>
                  <a:pPr algn="ctr"/>
                  <a:r>
                    <a:rPr lang="en-IN" sz="1600" b="1" dirty="0"/>
                    <a:t>Event Vision SOT</a:t>
                  </a:r>
                </a:p>
              </p:txBody>
            </p:sp>
            <p:sp>
              <p:nvSpPr>
                <p:cNvPr id="39" name="Rectangle: Rounded Corners 38">
                  <a:extLst>
                    <a:ext uri="{FF2B5EF4-FFF2-40B4-BE49-F238E27FC236}">
                      <a16:creationId xmlns:a16="http://schemas.microsoft.com/office/drawing/2014/main" id="{2B244F7C-1C85-33C9-D048-5F8DD7030E70}"/>
                    </a:ext>
                  </a:extLst>
                </p:cNvPr>
                <p:cNvSpPr/>
                <p:nvPr/>
              </p:nvSpPr>
              <p:spPr>
                <a:xfrm>
                  <a:off x="4840540" y="1377977"/>
                  <a:ext cx="1650728" cy="38156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tx1"/>
                      </a:solidFill>
                    </a:rPr>
                    <a:t>Chunking</a:t>
                  </a:r>
                </a:p>
              </p:txBody>
            </p:sp>
            <p:sp>
              <p:nvSpPr>
                <p:cNvPr id="40" name="Rectangle: Rounded Corners 39">
                  <a:extLst>
                    <a:ext uri="{FF2B5EF4-FFF2-40B4-BE49-F238E27FC236}">
                      <a16:creationId xmlns:a16="http://schemas.microsoft.com/office/drawing/2014/main" id="{AB206C54-BCF3-344D-953F-29278EBAC391}"/>
                    </a:ext>
                  </a:extLst>
                </p:cNvPr>
                <p:cNvSpPr/>
                <p:nvPr/>
              </p:nvSpPr>
              <p:spPr>
                <a:xfrm>
                  <a:off x="6906762" y="1319696"/>
                  <a:ext cx="1650728" cy="49812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chemeClr val="tx1"/>
                      </a:solidFill>
                    </a:rPr>
                    <a:t>Embedding Generation</a:t>
                  </a:r>
                </a:p>
              </p:txBody>
            </p:sp>
            <p:sp>
              <p:nvSpPr>
                <p:cNvPr id="46" name="TextBox 45">
                  <a:extLst>
                    <a:ext uri="{FF2B5EF4-FFF2-40B4-BE49-F238E27FC236}">
                      <a16:creationId xmlns:a16="http://schemas.microsoft.com/office/drawing/2014/main" id="{30F2CFB7-A832-B2AD-C3AA-0D5410E6BDFE}"/>
                    </a:ext>
                  </a:extLst>
                </p:cNvPr>
                <p:cNvSpPr txBox="1"/>
                <p:nvPr/>
              </p:nvSpPr>
              <p:spPr>
                <a:xfrm>
                  <a:off x="3214169" y="3820292"/>
                  <a:ext cx="1489382" cy="584775"/>
                </a:xfrm>
                <a:prstGeom prst="rect">
                  <a:avLst/>
                </a:prstGeom>
                <a:noFill/>
              </p:spPr>
              <p:txBody>
                <a:bodyPr wrap="none" rtlCol="0">
                  <a:spAutoFit/>
                </a:bodyPr>
                <a:lstStyle/>
                <a:p>
                  <a:pPr algn="ctr"/>
                  <a:r>
                    <a:rPr lang="en-IN" sz="1600" b="1" dirty="0"/>
                    <a:t>Databricks </a:t>
                  </a:r>
                </a:p>
                <a:p>
                  <a:pPr algn="ctr"/>
                  <a:r>
                    <a:rPr lang="en-IN" sz="1600" b="1" dirty="0"/>
                    <a:t>Vector Search</a:t>
                  </a:r>
                </a:p>
              </p:txBody>
            </p:sp>
            <p:sp>
              <p:nvSpPr>
                <p:cNvPr id="47" name="Rectangle: Rounded Corners 46">
                  <a:extLst>
                    <a:ext uri="{FF2B5EF4-FFF2-40B4-BE49-F238E27FC236}">
                      <a16:creationId xmlns:a16="http://schemas.microsoft.com/office/drawing/2014/main" id="{30EB5382-39D3-487B-6D7F-31A70AC7E2A0}"/>
                    </a:ext>
                  </a:extLst>
                </p:cNvPr>
                <p:cNvSpPr/>
                <p:nvPr/>
              </p:nvSpPr>
              <p:spPr>
                <a:xfrm>
                  <a:off x="2612552" y="824262"/>
                  <a:ext cx="6380480" cy="1366520"/>
                </a:xfrm>
                <a:prstGeom prst="roundRect">
                  <a:avLst/>
                </a:prstGeom>
                <a:noFill/>
                <a:ln>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Rounded Corners 47">
                  <a:extLst>
                    <a:ext uri="{FF2B5EF4-FFF2-40B4-BE49-F238E27FC236}">
                      <a16:creationId xmlns:a16="http://schemas.microsoft.com/office/drawing/2014/main" id="{C2557FB9-D93C-2D7D-C88F-E6E0FEC85329}"/>
                    </a:ext>
                  </a:extLst>
                </p:cNvPr>
                <p:cNvSpPr/>
                <p:nvPr/>
              </p:nvSpPr>
              <p:spPr>
                <a:xfrm>
                  <a:off x="2612552" y="2583147"/>
                  <a:ext cx="6380480" cy="1821920"/>
                </a:xfrm>
                <a:prstGeom prst="roundRect">
                  <a:avLst/>
                </a:prstGeom>
                <a:noFill/>
                <a:ln>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E7FB7F7C-3C86-420E-6240-CBB685213F73}"/>
                    </a:ext>
                  </a:extLst>
                </p:cNvPr>
                <p:cNvSpPr/>
                <p:nvPr/>
              </p:nvSpPr>
              <p:spPr>
                <a:xfrm>
                  <a:off x="2663591" y="4763892"/>
                  <a:ext cx="6380480" cy="1257486"/>
                </a:xfrm>
                <a:prstGeom prst="roundRect">
                  <a:avLst/>
                </a:prstGeom>
                <a:noFill/>
                <a:ln>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4BA61C9F-87A9-31C1-A063-A267865B9E72}"/>
                    </a:ext>
                  </a:extLst>
                </p:cNvPr>
                <p:cNvSpPr txBox="1"/>
                <p:nvPr/>
              </p:nvSpPr>
              <p:spPr>
                <a:xfrm>
                  <a:off x="4570187" y="878682"/>
                  <a:ext cx="2072042" cy="338554"/>
                </a:xfrm>
                <a:prstGeom prst="rect">
                  <a:avLst/>
                </a:prstGeom>
                <a:noFill/>
              </p:spPr>
              <p:txBody>
                <a:bodyPr wrap="none" rtlCol="0">
                  <a:spAutoFit/>
                </a:bodyPr>
                <a:lstStyle/>
                <a:p>
                  <a:r>
                    <a:rPr lang="en-IN" sz="1600" b="1" dirty="0"/>
                    <a:t>Preprocessing Layer</a:t>
                  </a:r>
                </a:p>
              </p:txBody>
            </p:sp>
            <p:sp>
              <p:nvSpPr>
                <p:cNvPr id="51" name="TextBox 50">
                  <a:extLst>
                    <a:ext uri="{FF2B5EF4-FFF2-40B4-BE49-F238E27FC236}">
                      <a16:creationId xmlns:a16="http://schemas.microsoft.com/office/drawing/2014/main" id="{34FA9858-B38D-900F-D80E-32385AA29464}"/>
                    </a:ext>
                  </a:extLst>
                </p:cNvPr>
                <p:cNvSpPr txBox="1"/>
                <p:nvPr/>
              </p:nvSpPr>
              <p:spPr>
                <a:xfrm>
                  <a:off x="4838313" y="2667894"/>
                  <a:ext cx="1525739" cy="338554"/>
                </a:xfrm>
                <a:prstGeom prst="rect">
                  <a:avLst/>
                </a:prstGeom>
                <a:noFill/>
              </p:spPr>
              <p:txBody>
                <a:bodyPr wrap="none" rtlCol="0">
                  <a:spAutoFit/>
                </a:bodyPr>
                <a:lstStyle/>
                <a:p>
                  <a:r>
                    <a:rPr lang="en-IN" sz="1600" b="1" dirty="0"/>
                    <a:t>Indexing Layer</a:t>
                  </a:r>
                </a:p>
              </p:txBody>
            </p:sp>
            <p:sp>
              <p:nvSpPr>
                <p:cNvPr id="52" name="TextBox 51">
                  <a:extLst>
                    <a:ext uri="{FF2B5EF4-FFF2-40B4-BE49-F238E27FC236}">
                      <a16:creationId xmlns:a16="http://schemas.microsoft.com/office/drawing/2014/main" id="{3DCC426F-2E2B-310C-907C-07B4EDD66E88}"/>
                    </a:ext>
                  </a:extLst>
                </p:cNvPr>
                <p:cNvSpPr txBox="1"/>
                <p:nvPr/>
              </p:nvSpPr>
              <p:spPr>
                <a:xfrm>
                  <a:off x="4838313" y="4789491"/>
                  <a:ext cx="1665071" cy="338554"/>
                </a:xfrm>
                <a:prstGeom prst="rect">
                  <a:avLst/>
                </a:prstGeom>
                <a:noFill/>
              </p:spPr>
              <p:txBody>
                <a:bodyPr wrap="none" rtlCol="0">
                  <a:spAutoFit/>
                </a:bodyPr>
                <a:lstStyle/>
                <a:p>
                  <a:r>
                    <a:rPr lang="en-IN" sz="1600" b="1" dirty="0"/>
                    <a:t>Data Lake Layer</a:t>
                  </a:r>
                </a:p>
              </p:txBody>
            </p:sp>
            <p:sp>
              <p:nvSpPr>
                <p:cNvPr id="53" name="TextBox 52">
                  <a:extLst>
                    <a:ext uri="{FF2B5EF4-FFF2-40B4-BE49-F238E27FC236}">
                      <a16:creationId xmlns:a16="http://schemas.microsoft.com/office/drawing/2014/main" id="{503B1284-CE15-6A10-804F-B0893A5B5E3D}"/>
                    </a:ext>
                  </a:extLst>
                </p:cNvPr>
                <p:cNvSpPr txBox="1"/>
                <p:nvPr/>
              </p:nvSpPr>
              <p:spPr>
                <a:xfrm>
                  <a:off x="4826197" y="6129490"/>
                  <a:ext cx="1665071" cy="338554"/>
                </a:xfrm>
                <a:prstGeom prst="rect">
                  <a:avLst/>
                </a:prstGeom>
                <a:noFill/>
              </p:spPr>
              <p:txBody>
                <a:bodyPr wrap="none" rtlCol="0">
                  <a:spAutoFit/>
                </a:bodyPr>
                <a:lstStyle/>
                <a:p>
                  <a:r>
                    <a:rPr lang="en-IN" sz="1600" b="1" dirty="0"/>
                    <a:t>Data Lake Layer</a:t>
                  </a:r>
                </a:p>
              </p:txBody>
            </p:sp>
            <p:sp>
              <p:nvSpPr>
                <p:cNvPr id="54" name="Rectangle: Rounded Corners 53">
                  <a:extLst>
                    <a:ext uri="{FF2B5EF4-FFF2-40B4-BE49-F238E27FC236}">
                      <a16:creationId xmlns:a16="http://schemas.microsoft.com/office/drawing/2014/main" id="{94578F46-C30C-FE4E-3EE2-667633DF8012}"/>
                    </a:ext>
                  </a:extLst>
                </p:cNvPr>
                <p:cNvSpPr/>
                <p:nvPr/>
              </p:nvSpPr>
              <p:spPr>
                <a:xfrm>
                  <a:off x="9310940" y="793782"/>
                  <a:ext cx="2495346" cy="5197116"/>
                </a:xfrm>
                <a:prstGeom prst="roundRect">
                  <a:avLst/>
                </a:prstGeom>
                <a:noFill/>
                <a:ln>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9F91FD3C-2361-53C9-15B1-B3DDD61FFA27}"/>
                    </a:ext>
                  </a:extLst>
                </p:cNvPr>
                <p:cNvSpPr txBox="1"/>
                <p:nvPr/>
              </p:nvSpPr>
              <p:spPr>
                <a:xfrm>
                  <a:off x="9554556" y="6084974"/>
                  <a:ext cx="2008114" cy="338554"/>
                </a:xfrm>
                <a:prstGeom prst="rect">
                  <a:avLst/>
                </a:prstGeom>
                <a:noFill/>
              </p:spPr>
              <p:txBody>
                <a:bodyPr wrap="none" rtlCol="0">
                  <a:spAutoFit/>
                </a:bodyPr>
                <a:lstStyle/>
                <a:p>
                  <a:r>
                    <a:rPr lang="en-IN" sz="1600" b="1" dirty="0"/>
                    <a:t>Consumption Layer</a:t>
                  </a:r>
                </a:p>
              </p:txBody>
            </p:sp>
            <p:sp>
              <p:nvSpPr>
                <p:cNvPr id="56" name="TextBox 55">
                  <a:extLst>
                    <a:ext uri="{FF2B5EF4-FFF2-40B4-BE49-F238E27FC236}">
                      <a16:creationId xmlns:a16="http://schemas.microsoft.com/office/drawing/2014/main" id="{84998F7F-BD0B-BFC9-77D8-8E517D885071}"/>
                    </a:ext>
                  </a:extLst>
                </p:cNvPr>
                <p:cNvSpPr txBox="1"/>
                <p:nvPr/>
              </p:nvSpPr>
              <p:spPr>
                <a:xfrm>
                  <a:off x="9519639" y="824468"/>
                  <a:ext cx="2008114" cy="338554"/>
                </a:xfrm>
                <a:prstGeom prst="rect">
                  <a:avLst/>
                </a:prstGeom>
                <a:noFill/>
              </p:spPr>
              <p:txBody>
                <a:bodyPr wrap="none" rtlCol="0">
                  <a:spAutoFit/>
                </a:bodyPr>
                <a:lstStyle/>
                <a:p>
                  <a:r>
                    <a:rPr lang="en-IN" sz="1600" b="1" dirty="0"/>
                    <a:t>Consumption Layer</a:t>
                  </a:r>
                </a:p>
              </p:txBody>
            </p:sp>
            <p:sp>
              <p:nvSpPr>
                <p:cNvPr id="57" name="Rectangle: Rounded Corners 56">
                  <a:extLst>
                    <a:ext uri="{FF2B5EF4-FFF2-40B4-BE49-F238E27FC236}">
                      <a16:creationId xmlns:a16="http://schemas.microsoft.com/office/drawing/2014/main" id="{FAB7A5FD-4361-8621-FD3A-AB8D2A18BF56}"/>
                    </a:ext>
                  </a:extLst>
                </p:cNvPr>
                <p:cNvSpPr/>
                <p:nvPr/>
              </p:nvSpPr>
              <p:spPr>
                <a:xfrm>
                  <a:off x="9734149" y="1199239"/>
                  <a:ext cx="1643013" cy="1402130"/>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ectangle: Rounded Corners 59">
                  <a:extLst>
                    <a:ext uri="{FF2B5EF4-FFF2-40B4-BE49-F238E27FC236}">
                      <a16:creationId xmlns:a16="http://schemas.microsoft.com/office/drawing/2014/main" id="{848B22F5-9A1D-8348-6000-7D1C73DCD295}"/>
                    </a:ext>
                  </a:extLst>
                </p:cNvPr>
                <p:cNvSpPr/>
                <p:nvPr/>
              </p:nvSpPr>
              <p:spPr>
                <a:xfrm>
                  <a:off x="9744309" y="2765760"/>
                  <a:ext cx="1643013" cy="1402130"/>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Rectangle: Rounded Corners 60">
                  <a:extLst>
                    <a:ext uri="{FF2B5EF4-FFF2-40B4-BE49-F238E27FC236}">
                      <a16:creationId xmlns:a16="http://schemas.microsoft.com/office/drawing/2014/main" id="{89D01208-8B33-ECDC-18FB-356FF8413C8A}"/>
                    </a:ext>
                  </a:extLst>
                </p:cNvPr>
                <p:cNvSpPr/>
                <p:nvPr/>
              </p:nvSpPr>
              <p:spPr>
                <a:xfrm>
                  <a:off x="9759106" y="4360782"/>
                  <a:ext cx="1643013" cy="1402130"/>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TextBox 61">
                  <a:extLst>
                    <a:ext uri="{FF2B5EF4-FFF2-40B4-BE49-F238E27FC236}">
                      <a16:creationId xmlns:a16="http://schemas.microsoft.com/office/drawing/2014/main" id="{871EBAE9-74FA-DAEF-1018-22DAEAF4969E}"/>
                    </a:ext>
                  </a:extLst>
                </p:cNvPr>
                <p:cNvSpPr txBox="1"/>
                <p:nvPr/>
              </p:nvSpPr>
              <p:spPr>
                <a:xfrm>
                  <a:off x="9921940" y="2260751"/>
                  <a:ext cx="1318181" cy="338554"/>
                </a:xfrm>
                <a:prstGeom prst="rect">
                  <a:avLst/>
                </a:prstGeom>
                <a:noFill/>
              </p:spPr>
              <p:txBody>
                <a:bodyPr wrap="none" rtlCol="0">
                  <a:spAutoFit/>
                </a:bodyPr>
                <a:lstStyle/>
                <a:p>
                  <a:pPr algn="ctr"/>
                  <a:r>
                    <a:rPr lang="en-IN" sz="1600" b="1" dirty="0"/>
                    <a:t>Dashboards</a:t>
                  </a:r>
                </a:p>
              </p:txBody>
            </p:sp>
            <p:sp>
              <p:nvSpPr>
                <p:cNvPr id="63" name="TextBox 62">
                  <a:extLst>
                    <a:ext uri="{FF2B5EF4-FFF2-40B4-BE49-F238E27FC236}">
                      <a16:creationId xmlns:a16="http://schemas.microsoft.com/office/drawing/2014/main" id="{7586FF88-12E3-FA83-04EC-106DF39C9F8E}"/>
                    </a:ext>
                  </a:extLst>
                </p:cNvPr>
                <p:cNvSpPr txBox="1"/>
                <p:nvPr/>
              </p:nvSpPr>
              <p:spPr>
                <a:xfrm>
                  <a:off x="9932100" y="3583115"/>
                  <a:ext cx="1342612" cy="584775"/>
                </a:xfrm>
                <a:prstGeom prst="rect">
                  <a:avLst/>
                </a:prstGeom>
                <a:noFill/>
              </p:spPr>
              <p:txBody>
                <a:bodyPr wrap="none" rtlCol="0">
                  <a:spAutoFit/>
                </a:bodyPr>
                <a:lstStyle/>
                <a:p>
                  <a:pPr algn="ctr"/>
                  <a:r>
                    <a:rPr lang="en-IN" sz="1600" b="1" dirty="0"/>
                    <a:t>Databricks</a:t>
                  </a:r>
                </a:p>
                <a:p>
                  <a:pPr algn="ctr"/>
                  <a:r>
                    <a:rPr lang="en-IN" sz="1600" b="1" dirty="0"/>
                    <a:t>AI Functions</a:t>
                  </a:r>
                </a:p>
              </p:txBody>
            </p:sp>
            <p:sp>
              <p:nvSpPr>
                <p:cNvPr id="67" name="TextBox 66">
                  <a:extLst>
                    <a:ext uri="{FF2B5EF4-FFF2-40B4-BE49-F238E27FC236}">
                      <a16:creationId xmlns:a16="http://schemas.microsoft.com/office/drawing/2014/main" id="{8CD35508-2BC4-63E2-0E36-A1F3B8DB0D28}"/>
                    </a:ext>
                  </a:extLst>
                </p:cNvPr>
                <p:cNvSpPr txBox="1"/>
                <p:nvPr/>
              </p:nvSpPr>
              <p:spPr>
                <a:xfrm>
                  <a:off x="10059139" y="5254523"/>
                  <a:ext cx="1228734" cy="584775"/>
                </a:xfrm>
                <a:prstGeom prst="rect">
                  <a:avLst/>
                </a:prstGeom>
                <a:noFill/>
              </p:spPr>
              <p:txBody>
                <a:bodyPr wrap="none" rtlCol="0">
                  <a:spAutoFit/>
                </a:bodyPr>
                <a:lstStyle/>
                <a:p>
                  <a:pPr algn="ctr"/>
                  <a:r>
                    <a:rPr lang="en-IN" sz="1600" b="1" dirty="0"/>
                    <a:t>Interactive </a:t>
                  </a:r>
                </a:p>
                <a:p>
                  <a:pPr algn="ctr"/>
                  <a:r>
                    <a:rPr lang="en-IN" sz="1600" b="1" dirty="0"/>
                    <a:t>Search</a:t>
                  </a:r>
                </a:p>
              </p:txBody>
            </p:sp>
            <p:sp>
              <p:nvSpPr>
                <p:cNvPr id="68" name="TextBox 67">
                  <a:extLst>
                    <a:ext uri="{FF2B5EF4-FFF2-40B4-BE49-F238E27FC236}">
                      <a16:creationId xmlns:a16="http://schemas.microsoft.com/office/drawing/2014/main" id="{63C9035C-94FC-C37F-38F9-78046B5F4D8C}"/>
                    </a:ext>
                  </a:extLst>
                </p:cNvPr>
                <p:cNvSpPr txBox="1"/>
                <p:nvPr/>
              </p:nvSpPr>
              <p:spPr>
                <a:xfrm>
                  <a:off x="3394481" y="5657095"/>
                  <a:ext cx="1175706" cy="338554"/>
                </a:xfrm>
                <a:prstGeom prst="rect">
                  <a:avLst/>
                </a:prstGeom>
                <a:noFill/>
              </p:spPr>
              <p:txBody>
                <a:bodyPr wrap="none" rtlCol="0">
                  <a:spAutoFit/>
                </a:bodyPr>
                <a:lstStyle/>
                <a:p>
                  <a:r>
                    <a:rPr lang="en-IN" sz="1600" b="1" dirty="0"/>
                    <a:t>Delta Lake</a:t>
                  </a:r>
                </a:p>
              </p:txBody>
            </p:sp>
            <p:sp>
              <p:nvSpPr>
                <p:cNvPr id="69" name="TextBox 68">
                  <a:extLst>
                    <a:ext uri="{FF2B5EF4-FFF2-40B4-BE49-F238E27FC236}">
                      <a16:creationId xmlns:a16="http://schemas.microsoft.com/office/drawing/2014/main" id="{01D5F355-1026-3D15-22D1-252D401AE158}"/>
                    </a:ext>
                  </a:extLst>
                </p:cNvPr>
                <p:cNvSpPr txBox="1"/>
                <p:nvPr/>
              </p:nvSpPr>
              <p:spPr>
                <a:xfrm>
                  <a:off x="2939087" y="211061"/>
                  <a:ext cx="5638723" cy="461665"/>
                </a:xfrm>
                <a:prstGeom prst="rect">
                  <a:avLst/>
                </a:prstGeom>
                <a:noFill/>
              </p:spPr>
              <p:txBody>
                <a:bodyPr wrap="none" rtlCol="0">
                  <a:spAutoFit/>
                </a:bodyPr>
                <a:lstStyle/>
                <a:p>
                  <a:r>
                    <a:rPr lang="en-IN" sz="2400" b="1" dirty="0"/>
                    <a:t>FSR AI Search – High Level Architecture</a:t>
                  </a:r>
                </a:p>
              </p:txBody>
            </p:sp>
            <p:cxnSp>
              <p:nvCxnSpPr>
                <p:cNvPr id="73" name="Straight Connector 72">
                  <a:extLst>
                    <a:ext uri="{FF2B5EF4-FFF2-40B4-BE49-F238E27FC236}">
                      <a16:creationId xmlns:a16="http://schemas.microsoft.com/office/drawing/2014/main" id="{C4F8D206-85ED-E095-0E84-AEAD12769F48}"/>
                    </a:ext>
                  </a:extLst>
                </p:cNvPr>
                <p:cNvCxnSpPr>
                  <a:cxnSpLocks/>
                </p:cNvCxnSpPr>
                <p:nvPr/>
              </p:nvCxnSpPr>
              <p:spPr>
                <a:xfrm>
                  <a:off x="2397720" y="1595120"/>
                  <a:ext cx="0" cy="3905630"/>
                </a:xfrm>
                <a:prstGeom prst="line">
                  <a:avLst/>
                </a:prstGeom>
                <a:ln w="25400">
                  <a:solidFill>
                    <a:srgbClr val="00B0F0"/>
                  </a:solidFill>
                  <a:tailEnd type="non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B4B09BF7-4FC1-232A-2812-585468051E53}"/>
                    </a:ext>
                  </a:extLst>
                </p:cNvPr>
                <p:cNvCxnSpPr/>
                <p:nvPr/>
              </p:nvCxnSpPr>
              <p:spPr>
                <a:xfrm>
                  <a:off x="2397720" y="3461467"/>
                  <a:ext cx="731560" cy="0"/>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5F211D2E-9822-C9FC-B815-30F26319429C}"/>
                    </a:ext>
                  </a:extLst>
                </p:cNvPr>
                <p:cNvCxnSpPr/>
                <p:nvPr/>
              </p:nvCxnSpPr>
              <p:spPr>
                <a:xfrm>
                  <a:off x="2397720" y="1584960"/>
                  <a:ext cx="386120" cy="0"/>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7BE732F8-38A5-AB6A-33BD-E52AD20F7674}"/>
                    </a:ext>
                  </a:extLst>
                </p:cNvPr>
                <p:cNvCxnSpPr/>
                <p:nvPr/>
              </p:nvCxnSpPr>
              <p:spPr>
                <a:xfrm>
                  <a:off x="2397720" y="5500750"/>
                  <a:ext cx="996761" cy="0"/>
                </a:xfrm>
                <a:prstGeom prst="line">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3D7761D0-756F-3A2C-BC13-1050B74668B5}"/>
                    </a:ext>
                  </a:extLst>
                </p:cNvPr>
                <p:cNvCxnSpPr>
                  <a:cxnSpLocks/>
                </p:cNvCxnSpPr>
                <p:nvPr/>
              </p:nvCxnSpPr>
              <p:spPr>
                <a:xfrm>
                  <a:off x="4599886" y="5434176"/>
                  <a:ext cx="5082876" cy="0"/>
                </a:xfrm>
                <a:prstGeom prst="line">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1B4D2275-84C1-A743-AF31-84F6C3EB5828}"/>
                    </a:ext>
                  </a:extLst>
                </p:cNvPr>
                <p:cNvCxnSpPr>
                  <a:stCxn id="32" idx="1"/>
                </p:cNvCxnSpPr>
                <p:nvPr/>
              </p:nvCxnSpPr>
              <p:spPr>
                <a:xfrm flipH="1">
                  <a:off x="4703551" y="3461467"/>
                  <a:ext cx="1560422" cy="0"/>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8EE7A43A-57E1-B89F-2EE1-772E2343CE36}"/>
                    </a:ext>
                  </a:extLst>
                </p:cNvPr>
                <p:cNvCxnSpPr>
                  <a:cxnSpLocks/>
                </p:cNvCxnSpPr>
                <p:nvPr/>
              </p:nvCxnSpPr>
              <p:spPr>
                <a:xfrm flipV="1">
                  <a:off x="8117901" y="3429000"/>
                  <a:ext cx="1461547" cy="1987"/>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5B07186E-1E66-F792-55F4-08358F39F5AF}"/>
                    </a:ext>
                  </a:extLst>
                </p:cNvPr>
                <p:cNvCxnSpPr>
                  <a:stCxn id="30" idx="3"/>
                  <a:endCxn id="39" idx="1"/>
                </p:cNvCxnSpPr>
                <p:nvPr/>
              </p:nvCxnSpPr>
              <p:spPr>
                <a:xfrm>
                  <a:off x="4522632" y="1568758"/>
                  <a:ext cx="317908" cy="0"/>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CB40CEF9-1F21-6633-058F-25FC52EAC22C}"/>
                    </a:ext>
                  </a:extLst>
                </p:cNvPr>
                <p:cNvCxnSpPr>
                  <a:stCxn id="39" idx="3"/>
                  <a:endCxn id="40" idx="1"/>
                </p:cNvCxnSpPr>
                <p:nvPr/>
              </p:nvCxnSpPr>
              <p:spPr>
                <a:xfrm flipV="1">
                  <a:off x="6491268" y="1568757"/>
                  <a:ext cx="415494" cy="1"/>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DF7CA520-8761-83EE-4D83-39655C24EBE9}"/>
                    </a:ext>
                  </a:extLst>
                </p:cNvPr>
                <p:cNvCxnSpPr>
                  <a:stCxn id="40" idx="3"/>
                </p:cNvCxnSpPr>
                <p:nvPr/>
              </p:nvCxnSpPr>
              <p:spPr>
                <a:xfrm>
                  <a:off x="8557490" y="1568757"/>
                  <a:ext cx="1021958" cy="0"/>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06E51812-4D08-F924-BFBD-8583625BB55D}"/>
                    </a:ext>
                  </a:extLst>
                </p:cNvPr>
                <p:cNvCxnSpPr>
                  <a:cxnSpLocks/>
                  <a:stCxn id="62" idx="2"/>
                  <a:endCxn id="60" idx="0"/>
                </p:cNvCxnSpPr>
                <p:nvPr/>
              </p:nvCxnSpPr>
              <p:spPr>
                <a:xfrm flipH="1">
                  <a:off x="10565816" y="2599305"/>
                  <a:ext cx="15215" cy="166455"/>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0FC48B54-D0CA-C8E6-7010-9DE6E4229B31}"/>
                    </a:ext>
                  </a:extLst>
                </p:cNvPr>
                <p:cNvCxnSpPr>
                  <a:stCxn id="63" idx="2"/>
                  <a:endCxn id="61" idx="0"/>
                </p:cNvCxnSpPr>
                <p:nvPr/>
              </p:nvCxnSpPr>
              <p:spPr>
                <a:xfrm flipH="1">
                  <a:off x="10580613" y="4167890"/>
                  <a:ext cx="22793" cy="192892"/>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C737AEE1-9E72-9513-1897-997F17555777}"/>
                    </a:ext>
                  </a:extLst>
                </p:cNvPr>
                <p:cNvCxnSpPr>
                  <a:stCxn id="39" idx="2"/>
                </p:cNvCxnSpPr>
                <p:nvPr/>
              </p:nvCxnSpPr>
              <p:spPr>
                <a:xfrm>
                  <a:off x="5665904" y="1759538"/>
                  <a:ext cx="3376" cy="790069"/>
                </a:xfrm>
                <a:prstGeom prst="straightConnector1">
                  <a:avLst/>
                </a:prstGeom>
                <a:ln w="25400">
                  <a:solidFill>
                    <a:srgbClr val="00B0F0"/>
                  </a:solidFill>
                  <a:tailEnd type="stealth"/>
                </a:ln>
              </p:spPr>
              <p:style>
                <a:lnRef idx="2">
                  <a:schemeClr val="accent1"/>
                </a:lnRef>
                <a:fillRef idx="0">
                  <a:schemeClr val="accent1"/>
                </a:fillRef>
                <a:effectRef idx="1">
                  <a:schemeClr val="accent1"/>
                </a:effectRef>
                <a:fontRef idx="minor">
                  <a:schemeClr val="tx1"/>
                </a:fontRef>
              </p:style>
            </p:cxnSp>
          </p:grpSp>
          <p:sp>
            <p:nvSpPr>
              <p:cNvPr id="108" name="TextBox 107">
                <a:extLst>
                  <a:ext uri="{FF2B5EF4-FFF2-40B4-BE49-F238E27FC236}">
                    <a16:creationId xmlns:a16="http://schemas.microsoft.com/office/drawing/2014/main" id="{327A8348-97F6-15F9-5739-776806DC9324}"/>
                  </a:ext>
                </a:extLst>
              </p:cNvPr>
              <p:cNvSpPr txBox="1"/>
              <p:nvPr/>
            </p:nvSpPr>
            <p:spPr>
              <a:xfrm>
                <a:off x="9202752" y="3158751"/>
                <a:ext cx="671466" cy="584775"/>
              </a:xfrm>
              <a:prstGeom prst="rect">
                <a:avLst/>
              </a:prstGeom>
              <a:noFill/>
            </p:spPr>
            <p:txBody>
              <a:bodyPr wrap="none" rtlCol="0">
                <a:spAutoFit/>
              </a:bodyPr>
              <a:lstStyle/>
              <a:p>
                <a:pPr algn="ctr"/>
                <a:r>
                  <a:rPr lang="en-IN" sz="1600" b="1" dirty="0"/>
                  <a:t>ESN</a:t>
                </a:r>
              </a:p>
              <a:p>
                <a:pPr algn="ctr"/>
                <a:r>
                  <a:rPr lang="en-IN" sz="1600" b="1" dirty="0"/>
                  <a:t>Filter</a:t>
                </a:r>
              </a:p>
            </p:txBody>
          </p:sp>
        </p:grpSp>
        <p:sp>
          <p:nvSpPr>
            <p:cNvPr id="111" name="TextBox 110">
              <a:extLst>
                <a:ext uri="{FF2B5EF4-FFF2-40B4-BE49-F238E27FC236}">
                  <a16:creationId xmlns:a16="http://schemas.microsoft.com/office/drawing/2014/main" id="{BA14291F-AE1D-F634-9767-B0A9F18AC4EC}"/>
                </a:ext>
              </a:extLst>
            </p:cNvPr>
            <p:cNvSpPr txBox="1"/>
            <p:nvPr/>
          </p:nvSpPr>
          <p:spPr>
            <a:xfrm>
              <a:off x="5978421" y="3781623"/>
              <a:ext cx="2331911" cy="338554"/>
            </a:xfrm>
            <a:prstGeom prst="rect">
              <a:avLst/>
            </a:prstGeom>
            <a:noFill/>
          </p:spPr>
          <p:txBody>
            <a:bodyPr wrap="square">
              <a:spAutoFit/>
            </a:bodyPr>
            <a:lstStyle/>
            <a:p>
              <a:pPr algn="ctr"/>
              <a:r>
                <a:rPr lang="en-IN" sz="1600" b="1" dirty="0"/>
                <a:t>(Online Retrieval API)</a:t>
              </a:r>
            </a:p>
          </p:txBody>
        </p:sp>
        <p:sp>
          <p:nvSpPr>
            <p:cNvPr id="112" name="TextBox 111">
              <a:extLst>
                <a:ext uri="{FF2B5EF4-FFF2-40B4-BE49-F238E27FC236}">
                  <a16:creationId xmlns:a16="http://schemas.microsoft.com/office/drawing/2014/main" id="{3EC95C07-87A2-9707-D1E6-B8077B355476}"/>
                </a:ext>
              </a:extLst>
            </p:cNvPr>
            <p:cNvSpPr txBox="1"/>
            <p:nvPr/>
          </p:nvSpPr>
          <p:spPr>
            <a:xfrm>
              <a:off x="4477105" y="4133897"/>
              <a:ext cx="2215799" cy="338554"/>
            </a:xfrm>
            <a:prstGeom prst="rect">
              <a:avLst/>
            </a:prstGeom>
            <a:noFill/>
          </p:spPr>
          <p:txBody>
            <a:bodyPr wrap="none" rtlCol="0">
              <a:spAutoFit/>
            </a:bodyPr>
            <a:lstStyle/>
            <a:p>
              <a:r>
                <a:rPr lang="en-IN" sz="1600" b="1" dirty="0"/>
                <a:t>(Index Build / Storage)</a:t>
              </a:r>
            </a:p>
          </p:txBody>
        </p:sp>
      </p:grpSp>
    </p:spTree>
    <p:extLst>
      <p:ext uri="{BB962C8B-B14F-4D97-AF65-F5344CB8AC3E}">
        <p14:creationId xmlns:p14="http://schemas.microsoft.com/office/powerpoint/2010/main" val="4234802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F8575-5477-2CF1-6385-24AB258E4E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8E37EA-AF58-F6D4-F840-216D11432734}"/>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FF5B8491-441A-7829-CE92-A06BAEDE404A}"/>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HIGH LEVEL QUERY FLOW</a:t>
            </a:r>
          </a:p>
        </p:txBody>
      </p:sp>
      <p:sp>
        <p:nvSpPr>
          <p:cNvPr id="8" name="Rectangle 2">
            <a:extLst>
              <a:ext uri="{FF2B5EF4-FFF2-40B4-BE49-F238E27FC236}">
                <a16:creationId xmlns:a16="http://schemas.microsoft.com/office/drawing/2014/main" id="{B7803305-0490-13D1-C8B4-570111915EAE}"/>
              </a:ext>
            </a:extLst>
          </p:cNvPr>
          <p:cNvSpPr>
            <a:spLocks noChangeArrowheads="1"/>
          </p:cNvSpPr>
          <p:nvPr/>
        </p:nvSpPr>
        <p:spPr bwMode="auto">
          <a:xfrm>
            <a:off x="228251" y="1037087"/>
            <a:ext cx="1173549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
            </a:pPr>
            <a:r>
              <a:rPr lang="en-US" sz="2400" b="1" dirty="0"/>
              <a:t>FSR AI Search – Query Flow</a:t>
            </a:r>
            <a:endParaRPr lang="en-IN" sz="1600" b="1" dirty="0"/>
          </a:p>
          <a:p>
            <a:pPr marL="285750" lvl="0" indent="-285750" eaLnBrk="0" fontAlgn="base" hangingPunct="0">
              <a:spcBef>
                <a:spcPct val="0"/>
              </a:spcBef>
              <a:spcAft>
                <a:spcPct val="0"/>
              </a:spcAft>
              <a:buFont typeface="Wingdings" panose="05000000000000000000" pitchFamily="2" charset="2"/>
              <a:buChar char="§"/>
            </a:pPr>
            <a:endParaRPr lang="en-IN" sz="2000" b="1" dirty="0"/>
          </a:p>
          <a:p>
            <a:pPr marL="742950" lvl="1" indent="-285750" eaLnBrk="0" fontAlgn="base" hangingPunct="0">
              <a:spcBef>
                <a:spcPct val="0"/>
              </a:spcBef>
              <a:spcAft>
                <a:spcPct val="0"/>
              </a:spcAft>
              <a:buFont typeface="Wingdings" panose="05000000000000000000" pitchFamily="2" charset="2"/>
              <a:buChar char="§"/>
            </a:pPr>
            <a:r>
              <a:rPr lang="en-IN" sz="2000" b="1" dirty="0"/>
              <a:t>Step 1: User Query</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sz="2000" dirty="0"/>
              <a:t>Example: “Show me last 5 outages for ESN 297837.”</a:t>
            </a:r>
            <a:endParaRPr lang="en-US" altLang="en-US" sz="2000" dirty="0"/>
          </a:p>
          <a:p>
            <a:pPr lvl="1" eaLnBrk="0" fontAlgn="base" hangingPunct="0">
              <a:spcBef>
                <a:spcPct val="0"/>
              </a:spcBef>
              <a:spcAft>
                <a:spcPct val="0"/>
              </a:spcAft>
            </a:pPr>
            <a:endParaRPr lang="en-US" altLang="en-US" dirty="0">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lang="en-IN" sz="2000" b="1" dirty="0"/>
              <a:t>Step 2: Metadata Filter</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altLang="en-US" sz="2000" dirty="0"/>
              <a:t>ESN filter applied to narrow search space.</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If ESN missing, fallback to Equipment Sys ID.</a:t>
            </a:r>
          </a:p>
          <a:p>
            <a:pPr lvl="2" eaLnBrk="0" fontAlgn="base" hangingPunct="0">
              <a:spcBef>
                <a:spcPct val="0"/>
              </a:spcBef>
              <a:spcAft>
                <a:spcPct val="0"/>
              </a:spcAft>
            </a:pPr>
            <a:endParaRPr lang="en-US" altLang="en-US" dirty="0">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lang="en-IN" sz="2000" b="1" dirty="0"/>
              <a:t>Step 3: Vector Retrieval</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altLang="en-US" sz="2000" dirty="0"/>
              <a:t>Relevant chunks retrieved from Vector Search (~1.3M embeddings indexed).</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Combines semantic similarity with metadata filters.</a:t>
            </a:r>
          </a:p>
          <a:p>
            <a:pPr lvl="1"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2057313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777AD-EB08-81F2-F334-7066D58398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BBC26B-7E6C-5645-E195-14D5467FA8F8}"/>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6DABD8A9-B303-16F1-AF47-02A8D0E1520E}"/>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HIGH LEVEL QUERY FLOW</a:t>
            </a:r>
          </a:p>
        </p:txBody>
      </p:sp>
      <p:sp>
        <p:nvSpPr>
          <p:cNvPr id="8" name="Rectangle 2">
            <a:extLst>
              <a:ext uri="{FF2B5EF4-FFF2-40B4-BE49-F238E27FC236}">
                <a16:creationId xmlns:a16="http://schemas.microsoft.com/office/drawing/2014/main" id="{FD4B9890-D43E-BF89-83C7-976AFD30F82C}"/>
              </a:ext>
            </a:extLst>
          </p:cNvPr>
          <p:cNvSpPr>
            <a:spLocks noChangeArrowheads="1"/>
          </p:cNvSpPr>
          <p:nvPr/>
        </p:nvSpPr>
        <p:spPr bwMode="auto">
          <a:xfrm>
            <a:off x="228251" y="987516"/>
            <a:ext cx="11735498"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
            </a:pPr>
            <a:r>
              <a:rPr lang="en-US" sz="2400" b="1" dirty="0"/>
              <a:t>FSR AI Search – Query Flow </a:t>
            </a:r>
            <a:r>
              <a:rPr lang="en-US" sz="1600" b="1" dirty="0"/>
              <a:t>contd.</a:t>
            </a:r>
            <a:endParaRPr lang="en-IN" sz="1600" b="1" dirty="0"/>
          </a:p>
          <a:p>
            <a:pPr marL="285750" lvl="0" indent="-285750" eaLnBrk="0" fontAlgn="base" hangingPunct="0">
              <a:spcBef>
                <a:spcPct val="0"/>
              </a:spcBef>
              <a:spcAft>
                <a:spcPct val="0"/>
              </a:spcAft>
              <a:buFont typeface="Wingdings" panose="05000000000000000000" pitchFamily="2" charset="2"/>
              <a:buChar char="§"/>
            </a:pPr>
            <a:endParaRPr lang="en-IN" sz="2000" b="1" dirty="0"/>
          </a:p>
          <a:p>
            <a:pPr marL="742950" lvl="1" indent="-285750" eaLnBrk="0" fontAlgn="base" hangingPunct="0">
              <a:spcBef>
                <a:spcPct val="0"/>
              </a:spcBef>
              <a:spcAft>
                <a:spcPct val="0"/>
              </a:spcAft>
              <a:buFont typeface="Wingdings" panose="05000000000000000000" pitchFamily="2" charset="2"/>
              <a:buChar char="§"/>
            </a:pPr>
            <a:r>
              <a:rPr lang="en-IN" sz="2000" b="1" dirty="0"/>
              <a:t>Step 4: AI Assembly</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altLang="en-US" sz="2000" dirty="0"/>
              <a:t>Databricks AI Functions assemble retrieved chunks into coherent answer.</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Context preserved at section/subsection level.</a:t>
            </a:r>
          </a:p>
          <a:p>
            <a:pPr marL="1200150" lvl="2"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lang="en-IN" sz="2000" b="1" dirty="0"/>
              <a:t>Step 5: Output</a:t>
            </a:r>
            <a:endParaRPr lang="en-US" altLang="en-US" sz="2000" b="1" dirty="0"/>
          </a:p>
          <a:p>
            <a:pPr marL="1200150" lvl="2" indent="-285750" eaLnBrk="0" fontAlgn="base" hangingPunct="0">
              <a:spcBef>
                <a:spcPct val="0"/>
              </a:spcBef>
              <a:spcAft>
                <a:spcPct val="0"/>
              </a:spcAft>
              <a:buFont typeface="Courier New" panose="02070309020205020404" pitchFamily="49" charset="0"/>
              <a:buChar char="o"/>
            </a:pPr>
            <a:r>
              <a:rPr lang="en-US" altLang="en-US" sz="2000" dirty="0"/>
              <a:t>Whole FSR returned if query is ESN‑specific.</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Section/subsection returned if query is topical.</a:t>
            </a:r>
          </a:p>
          <a:p>
            <a:pPr marL="1200150" lvl="2" indent="-285750" eaLnBrk="0" fontAlgn="base" hangingPunct="0">
              <a:spcBef>
                <a:spcPct val="0"/>
              </a:spcBef>
              <a:spcAft>
                <a:spcPct val="0"/>
              </a:spcAft>
              <a:buFont typeface="Courier New" panose="02070309020205020404" pitchFamily="49" charset="0"/>
              <a:buChar char="o"/>
            </a:pPr>
            <a:r>
              <a:rPr lang="en-US" altLang="en-US" sz="2000" dirty="0"/>
              <a:t>Example Output: “Outages: Oct 2024, May 2023, Dec 2022… Actions taken: replaced seals, upgraded control system.”</a:t>
            </a:r>
          </a:p>
        </p:txBody>
      </p:sp>
    </p:spTree>
    <p:extLst>
      <p:ext uri="{BB962C8B-B14F-4D97-AF65-F5344CB8AC3E}">
        <p14:creationId xmlns:p14="http://schemas.microsoft.com/office/powerpoint/2010/main" val="1849384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7410552-8E03-342E-4256-CC3B8BBF05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0114" y="0"/>
            <a:ext cx="3712029" cy="6939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8396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8BA44-4424-85B5-FEDC-33731F0CFD0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F33C286-C2A6-2CBB-92DC-1CFF6AA5AD4A}"/>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A5975D64-625F-6B16-0651-C43875AFE3ED}"/>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STAGE 1: INGESTION</a:t>
            </a:r>
          </a:p>
        </p:txBody>
      </p:sp>
      <p:sp>
        <p:nvSpPr>
          <p:cNvPr id="8" name="Rectangle 2">
            <a:extLst>
              <a:ext uri="{FF2B5EF4-FFF2-40B4-BE49-F238E27FC236}">
                <a16:creationId xmlns:a16="http://schemas.microsoft.com/office/drawing/2014/main" id="{BCEA0A30-CAA4-D12E-D776-82A0A8AD0E9B}"/>
              </a:ext>
            </a:extLst>
          </p:cNvPr>
          <p:cNvSpPr>
            <a:spLocks noChangeArrowheads="1"/>
          </p:cNvSpPr>
          <p:nvPr/>
        </p:nvSpPr>
        <p:spPr bwMode="auto">
          <a:xfrm>
            <a:off x="358879" y="1268313"/>
            <a:ext cx="1173549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Inputs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Raw PDFs, structured FSR table, and reference tables.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Process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Extract text from PDFs.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Load structured tables into Delta.</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Align identifiers across sources.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Output</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Unified Delta dataset combining raw + structured FSR data.</a:t>
            </a:r>
            <a:endParaRPr lang="en-US" sz="2000" dirty="0"/>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Details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Initial ingestion expected to handle ~200k PDFs and ~91k structured records.</a:t>
            </a:r>
            <a:endParaRPr lang="en-US" altLang="en-US" sz="2000" dirty="0"/>
          </a:p>
        </p:txBody>
      </p:sp>
    </p:spTree>
    <p:extLst>
      <p:ext uri="{BB962C8B-B14F-4D97-AF65-F5344CB8AC3E}">
        <p14:creationId xmlns:p14="http://schemas.microsoft.com/office/powerpoint/2010/main" val="639312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5D513-F3CB-F5BB-25BF-675DCBF141D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C2FC87F-9A12-D4DE-932D-1B65DEC3655F}"/>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AB177AAA-0A10-B0C2-9EE2-915DE2A9175D}"/>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STAGE 2: PREPROCESSING</a:t>
            </a:r>
          </a:p>
        </p:txBody>
      </p:sp>
      <p:sp>
        <p:nvSpPr>
          <p:cNvPr id="8" name="Rectangle 2">
            <a:extLst>
              <a:ext uri="{FF2B5EF4-FFF2-40B4-BE49-F238E27FC236}">
                <a16:creationId xmlns:a16="http://schemas.microsoft.com/office/drawing/2014/main" id="{5CC6864E-2FAC-1D54-7B43-3D34BABFA3C3}"/>
              </a:ext>
            </a:extLst>
          </p:cNvPr>
          <p:cNvSpPr>
            <a:spLocks noChangeArrowheads="1"/>
          </p:cNvSpPr>
          <p:nvPr/>
        </p:nvSpPr>
        <p:spPr bwMode="auto">
          <a:xfrm>
            <a:off x="358879" y="1009137"/>
            <a:ext cx="11735498"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Structured Fields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Normalize ESN, Equipment Sys ID, and Event IDs.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Clean categorical values (outage type, intervention type).</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Validate temporal fields (start/end dates).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Unstructured Fields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Extract text sections (Executive Summary, Recommendations).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Remove formatting artifacts.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Standardize section headers.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Metadata Enrichment</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Add site, technology, outage type.</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Link to IBAT and Event Vision references.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Example Output</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Row: ESN=297837, Outage Start=29 Oct 2024, Section=Executive Summary, Text=“Enhanced borescope inspection findings…”</a:t>
            </a:r>
            <a:endParaRPr lang="en-US" altLang="en-US" sz="2000" dirty="0"/>
          </a:p>
        </p:txBody>
      </p:sp>
    </p:spTree>
    <p:extLst>
      <p:ext uri="{BB962C8B-B14F-4D97-AF65-F5344CB8AC3E}">
        <p14:creationId xmlns:p14="http://schemas.microsoft.com/office/powerpoint/2010/main" val="2950831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48542-A66C-2182-A750-8D9EA4F6570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EA03AFF-0B20-BAF0-00E4-C733A1EDAB73}"/>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F641223E-6A91-1177-023F-6B9AC0537E57}"/>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STAGE 3: SECTION/SUBSECTION CHUNKING</a:t>
            </a:r>
          </a:p>
        </p:txBody>
      </p:sp>
      <p:sp>
        <p:nvSpPr>
          <p:cNvPr id="8" name="Rectangle 2">
            <a:extLst>
              <a:ext uri="{FF2B5EF4-FFF2-40B4-BE49-F238E27FC236}">
                <a16:creationId xmlns:a16="http://schemas.microsoft.com/office/drawing/2014/main" id="{BD2F69D9-88A9-456E-8202-1D9C89F489B9}"/>
              </a:ext>
            </a:extLst>
          </p:cNvPr>
          <p:cNvSpPr>
            <a:spLocks noChangeArrowheads="1"/>
          </p:cNvSpPr>
          <p:nvPr/>
        </p:nvSpPr>
        <p:spPr bwMode="auto">
          <a:xfrm>
            <a:off x="347993" y="1175239"/>
            <a:ext cx="11735498"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Strategy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Split reports at natural section/subsection boundaries (2–3 pages each).</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Preserve context by avoiding arbitrary token splits.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Metadata</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Attach ESN, Equipment Sys ID, Outage ID, Section name.</a:t>
            </a:r>
          </a:p>
          <a:p>
            <a:pPr marL="742950" lvl="1"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Benefits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Context preserved.</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Manageable number of chunks per FSR.</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Enables whole‑FSR and section‑level retrieval</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effectLst/>
              </a:rPr>
              <a:t>Details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A 40‑page report typically yields ~15–20 chunks.</a:t>
            </a:r>
            <a:endParaRPr lang="en-US" altLang="en-US" sz="2000" dirty="0"/>
          </a:p>
        </p:txBody>
      </p:sp>
    </p:spTree>
    <p:extLst>
      <p:ext uri="{BB962C8B-B14F-4D97-AF65-F5344CB8AC3E}">
        <p14:creationId xmlns:p14="http://schemas.microsoft.com/office/powerpoint/2010/main" val="865951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DFD12-3920-38B3-11F7-CA5B116531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EFF2044-997D-A537-72BB-02ED314ACB48}"/>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B9778AA7-34B6-45E1-822C-0E7761B75CEC}"/>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STAGE 4: EMBEDDING GENERATION</a:t>
            </a:r>
          </a:p>
        </p:txBody>
      </p:sp>
      <p:sp>
        <p:nvSpPr>
          <p:cNvPr id="8" name="Rectangle 2">
            <a:extLst>
              <a:ext uri="{FF2B5EF4-FFF2-40B4-BE49-F238E27FC236}">
                <a16:creationId xmlns:a16="http://schemas.microsoft.com/office/drawing/2014/main" id="{E2C8EF90-0285-0CD9-DB91-88042E0A72AB}"/>
              </a:ext>
            </a:extLst>
          </p:cNvPr>
          <p:cNvSpPr>
            <a:spLocks noChangeArrowheads="1"/>
          </p:cNvSpPr>
          <p:nvPr/>
        </p:nvSpPr>
        <p:spPr bwMode="auto">
          <a:xfrm>
            <a:off x="347993" y="1483015"/>
            <a:ext cx="1173549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Process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Generate embeddings for each chunk using Databricks‑hosted models.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Store embeddings + metadata in Delta.</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Metadata</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ESN, Equipment Sys ID, Outage dates, Section name.</a:t>
            </a:r>
          </a:p>
          <a:p>
            <a:pPr marL="742950" lvl="1"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Outcome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Semantic representation of FSR sections, ready for indexing.</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effectLst/>
              </a:rPr>
              <a:t>Details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With ~91k records × ~15 chunks each, ~1.3M embeddings expected.</a:t>
            </a:r>
            <a:endParaRPr lang="en-US" altLang="en-US" sz="2000" dirty="0"/>
          </a:p>
        </p:txBody>
      </p:sp>
    </p:spTree>
    <p:extLst>
      <p:ext uri="{BB962C8B-B14F-4D97-AF65-F5344CB8AC3E}">
        <p14:creationId xmlns:p14="http://schemas.microsoft.com/office/powerpoint/2010/main" val="3108443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AFA95-F10B-65DB-09DA-EF879FF876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34C3671-0731-7315-5AC5-5954B9613BE5}"/>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62916B72-44FC-1CF0-575F-96623A07B783}"/>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STAGE 5: VECTOR INDEXING</a:t>
            </a:r>
          </a:p>
        </p:txBody>
      </p:sp>
      <p:sp>
        <p:nvSpPr>
          <p:cNvPr id="8" name="Rectangle 2">
            <a:extLst>
              <a:ext uri="{FF2B5EF4-FFF2-40B4-BE49-F238E27FC236}">
                <a16:creationId xmlns:a16="http://schemas.microsoft.com/office/drawing/2014/main" id="{C6E0CF8A-07A0-C28D-AF52-DF821EDA57E2}"/>
              </a:ext>
            </a:extLst>
          </p:cNvPr>
          <p:cNvSpPr>
            <a:spLocks noChangeArrowheads="1"/>
          </p:cNvSpPr>
          <p:nvPr/>
        </p:nvSpPr>
        <p:spPr bwMode="auto">
          <a:xfrm>
            <a:off x="347993" y="1344515"/>
            <a:ext cx="1173549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Databricks Vector Search</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Index embeddings + metadata.</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Support hybrid search (semantic + keyword).</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Filters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ESN (primary), Equipment Sys ID (secondary).</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Outage dates, site, technology</a:t>
            </a:r>
            <a:r>
              <a:rPr lang="en-US" sz="2000" dirty="0"/>
              <a:t>.</a:t>
            </a:r>
          </a:p>
          <a:p>
            <a:pPr marL="742950" lvl="1"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Output</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IN" sz="2000" dirty="0"/>
              <a:t>Searchable vector index inside Databricks</a:t>
            </a:r>
            <a:r>
              <a:rPr lang="en-US" sz="2000" dirty="0"/>
              <a:t>.</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effectLst/>
              </a:rPr>
              <a:t>Example Query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“Show me all FSRs for ESN 297837 with combustion issues.”</a:t>
            </a:r>
            <a:endParaRPr lang="en-US" altLang="en-US" sz="2000" dirty="0"/>
          </a:p>
        </p:txBody>
      </p:sp>
    </p:spTree>
    <p:extLst>
      <p:ext uri="{BB962C8B-B14F-4D97-AF65-F5344CB8AC3E}">
        <p14:creationId xmlns:p14="http://schemas.microsoft.com/office/powerpoint/2010/main" val="464157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1C1CB-7F00-5E0A-4054-938398830A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5B2F15-78BE-2D96-D291-EA1635B90701}"/>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FE47D188-5B41-2C79-0BC2-25BA0B03D7E1}"/>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STAGE 6: AI SEARCH LAYER</a:t>
            </a:r>
          </a:p>
        </p:txBody>
      </p:sp>
      <p:sp>
        <p:nvSpPr>
          <p:cNvPr id="8" name="Rectangle 2">
            <a:extLst>
              <a:ext uri="{FF2B5EF4-FFF2-40B4-BE49-F238E27FC236}">
                <a16:creationId xmlns:a16="http://schemas.microsoft.com/office/drawing/2014/main" id="{3A86304F-C7E2-A9AC-6698-F0CB22D79FE3}"/>
              </a:ext>
            </a:extLst>
          </p:cNvPr>
          <p:cNvSpPr>
            <a:spLocks noChangeArrowheads="1"/>
          </p:cNvSpPr>
          <p:nvPr/>
        </p:nvSpPr>
        <p:spPr bwMode="auto">
          <a:xfrm>
            <a:off x="347993" y="1329128"/>
            <a:ext cx="11735498" cy="400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Interface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Natural language queries with ESN filtering.</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Retrieval</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Whole‑FSR for ESN‑specific queries.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Section/subsection for topical queries.</a:t>
            </a:r>
          </a:p>
          <a:p>
            <a:pPr marL="742950" lvl="1"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Ranking</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IN" sz="2000" dirty="0"/>
              <a:t>Semantic similarity + metadata filters</a:t>
            </a:r>
            <a:r>
              <a:rPr lang="en-US" sz="2000" dirty="0"/>
              <a:t>.</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Example Output</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“FSR A‑1823120, Outage Oct–Nov 2024, Section: Recommendations → Replace hydraulic pump seals.”</a:t>
            </a:r>
            <a:endParaRPr lang="en-US" altLang="en-US" sz="2000" dirty="0"/>
          </a:p>
        </p:txBody>
      </p:sp>
    </p:spTree>
    <p:extLst>
      <p:ext uri="{BB962C8B-B14F-4D97-AF65-F5344CB8AC3E}">
        <p14:creationId xmlns:p14="http://schemas.microsoft.com/office/powerpoint/2010/main" val="64517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7FF45-68CC-DC21-7DE6-12341E178C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72693A-EB2B-6FA4-D5BD-57DA84745327}"/>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1EAC5AF6-BFE0-D0B7-43F6-E9F60532D44D}"/>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METADATA DESIGN</a:t>
            </a:r>
          </a:p>
        </p:txBody>
      </p:sp>
      <p:sp>
        <p:nvSpPr>
          <p:cNvPr id="8" name="Rectangle 2">
            <a:extLst>
              <a:ext uri="{FF2B5EF4-FFF2-40B4-BE49-F238E27FC236}">
                <a16:creationId xmlns:a16="http://schemas.microsoft.com/office/drawing/2014/main" id="{972A3EAA-3098-2B1A-DDE9-A34A704F8ABF}"/>
              </a:ext>
            </a:extLst>
          </p:cNvPr>
          <p:cNvSpPr>
            <a:spLocks noChangeArrowheads="1"/>
          </p:cNvSpPr>
          <p:nvPr/>
        </p:nvSpPr>
        <p:spPr bwMode="auto">
          <a:xfrm>
            <a:off x="347993" y="1190628"/>
            <a:ext cx="11735498"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Identifiers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ESN, Equipment Sys ID, Event IDs.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Contextual Fields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fr-FR" sz="2000" dirty="0"/>
              <a:t>Outage dates, site, technology type</a:t>
            </a:r>
            <a:r>
              <a:rPr lang="en-US" altLang="en-US" sz="2000" dirty="0"/>
              <a:t>.</a:t>
            </a:r>
          </a:p>
          <a:p>
            <a:pPr marL="742950" lvl="1"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Section Labels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Executive Summary, Recommendations, Technical Findings.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Purpose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IN" sz="2000" dirty="0"/>
              <a:t>Metadata ensures precise filtering and contextual retrieval.</a:t>
            </a:r>
          </a:p>
          <a:p>
            <a:pPr marL="742950" lvl="1" indent="-285750" eaLnBrk="0" fontAlgn="base" hangingPunct="0">
              <a:spcBef>
                <a:spcPct val="0"/>
              </a:spcBef>
              <a:spcAft>
                <a:spcPct val="0"/>
              </a:spcAft>
              <a:buFont typeface="Courier New" panose="02070309020205020404" pitchFamily="49" charset="0"/>
              <a:buChar char="o"/>
            </a:pPr>
            <a:endParaRPr lang="en-IN" altLang="en-US" sz="2000" dirty="0"/>
          </a:p>
          <a:p>
            <a:pPr marL="342900" indent="-342900" eaLnBrk="0" fontAlgn="base" hangingPunct="0">
              <a:spcBef>
                <a:spcPct val="0"/>
              </a:spcBef>
              <a:spcAft>
                <a:spcPct val="0"/>
              </a:spcAft>
              <a:buFont typeface="Wingdings" panose="05000000000000000000" pitchFamily="2" charset="2"/>
              <a:buChar char="§"/>
            </a:pPr>
            <a:r>
              <a:rPr lang="en-IN" sz="2000" b="1" dirty="0">
                <a:effectLst/>
              </a:rPr>
              <a:t>Example Row</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ESN=297837, Section=Technical Findings, Text=“Combustion chamber wear observed…”</a:t>
            </a:r>
            <a:endParaRPr lang="en-IN" sz="2000" dirty="0"/>
          </a:p>
        </p:txBody>
      </p:sp>
    </p:spTree>
    <p:extLst>
      <p:ext uri="{BB962C8B-B14F-4D97-AF65-F5344CB8AC3E}">
        <p14:creationId xmlns:p14="http://schemas.microsoft.com/office/powerpoint/2010/main" val="4067236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B4D32-57EB-A7DA-FE3A-11001A729CA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4F75C92-387A-A33F-B85A-9E9FA09B904A}"/>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D4B46055-7129-E67C-398C-C0A8EB8095CC}"/>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CHUNKING IMPLEMENTATION</a:t>
            </a:r>
          </a:p>
        </p:txBody>
      </p:sp>
      <p:sp>
        <p:nvSpPr>
          <p:cNvPr id="8" name="Rectangle 2">
            <a:extLst>
              <a:ext uri="{FF2B5EF4-FFF2-40B4-BE49-F238E27FC236}">
                <a16:creationId xmlns:a16="http://schemas.microsoft.com/office/drawing/2014/main" id="{19F05B36-42B9-503F-5000-D0E327620066}"/>
              </a:ext>
            </a:extLst>
          </p:cNvPr>
          <p:cNvSpPr>
            <a:spLocks noChangeArrowheads="1"/>
          </p:cNvSpPr>
          <p:nvPr/>
        </p:nvSpPr>
        <p:spPr bwMode="auto">
          <a:xfrm>
            <a:off x="347993" y="1190628"/>
            <a:ext cx="11550093"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Boundary Detection</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Use Table of Contents or section headers to split text.</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Granularity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fr-FR" sz="2000" dirty="0"/>
              <a:t>Section/</a:t>
            </a:r>
            <a:r>
              <a:rPr lang="fr-FR" sz="2000" dirty="0" err="1"/>
              <a:t>subsection</a:t>
            </a:r>
            <a:r>
              <a:rPr lang="fr-FR" sz="2000" dirty="0"/>
              <a:t> </a:t>
            </a:r>
            <a:r>
              <a:rPr lang="fr-FR" sz="2000" dirty="0" err="1"/>
              <a:t>level</a:t>
            </a:r>
            <a:r>
              <a:rPr lang="fr-FR" sz="2000" dirty="0"/>
              <a:t> (~2–3 pages)</a:t>
            </a:r>
            <a:r>
              <a:rPr lang="en-US" altLang="en-US" sz="2000" dirty="0"/>
              <a:t>.</a:t>
            </a:r>
          </a:p>
          <a:p>
            <a:pPr marL="742950" lvl="1"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Overlap</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Minimal overlap to avoid context loss.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Output</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Each chunk stored with metadata in Delta</a:t>
            </a:r>
            <a:r>
              <a:rPr lang="en-IN" sz="2000" dirty="0"/>
              <a:t>.</a:t>
            </a:r>
          </a:p>
          <a:p>
            <a:pPr marL="742950" lvl="1" indent="-285750" eaLnBrk="0" fontAlgn="base" hangingPunct="0">
              <a:spcBef>
                <a:spcPct val="0"/>
              </a:spcBef>
              <a:spcAft>
                <a:spcPct val="0"/>
              </a:spcAft>
              <a:buFont typeface="Courier New" panose="02070309020205020404" pitchFamily="49" charset="0"/>
              <a:buChar char="o"/>
            </a:pPr>
            <a:endParaRPr lang="en-IN" altLang="en-US" sz="2000" dirty="0"/>
          </a:p>
          <a:p>
            <a:pPr marL="342900" indent="-342900" eaLnBrk="0" fontAlgn="base" hangingPunct="0">
              <a:spcBef>
                <a:spcPct val="0"/>
              </a:spcBef>
              <a:spcAft>
                <a:spcPct val="0"/>
              </a:spcAft>
              <a:buFont typeface="Wingdings" panose="05000000000000000000" pitchFamily="2" charset="2"/>
              <a:buChar char="§"/>
            </a:pPr>
            <a:r>
              <a:rPr lang="en-IN" sz="2000" b="1" dirty="0">
                <a:effectLst/>
              </a:rPr>
              <a:t>Details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Average chunk size ~1,200–1,500 tokens.</a:t>
            </a:r>
            <a:endParaRPr lang="en-IN" sz="2000" dirty="0"/>
          </a:p>
        </p:txBody>
      </p:sp>
    </p:spTree>
    <p:extLst>
      <p:ext uri="{BB962C8B-B14F-4D97-AF65-F5344CB8AC3E}">
        <p14:creationId xmlns:p14="http://schemas.microsoft.com/office/powerpoint/2010/main" val="2495382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F9CDA-A8EC-7A4E-E8FB-2E3E726749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A9E013-488D-B835-3E03-0B59050E8C4B}"/>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5555B53B-ECD4-E448-DAFD-4AE31CAA0658}"/>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EMBEDDING &amp; INDEXING NUANCES</a:t>
            </a:r>
          </a:p>
        </p:txBody>
      </p:sp>
      <p:sp>
        <p:nvSpPr>
          <p:cNvPr id="8" name="Rectangle 2">
            <a:extLst>
              <a:ext uri="{FF2B5EF4-FFF2-40B4-BE49-F238E27FC236}">
                <a16:creationId xmlns:a16="http://schemas.microsoft.com/office/drawing/2014/main" id="{E6A4AE30-2741-F256-4EBA-2A2CA6C3F279}"/>
              </a:ext>
            </a:extLst>
          </p:cNvPr>
          <p:cNvSpPr>
            <a:spLocks noChangeArrowheads="1"/>
          </p:cNvSpPr>
          <p:nvPr/>
        </p:nvSpPr>
        <p:spPr bwMode="auto">
          <a:xfrm>
            <a:off x="347993" y="1190628"/>
            <a:ext cx="11550093"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effectLst/>
              </a:rPr>
              <a:t>Embedding Model</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IN" sz="2000" dirty="0"/>
              <a:t>Databricks‑hosted OpenAI‑style model or LiteLLM.</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Indexing Strategy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Store embeddings in Delta, index with Vector Search</a:t>
            </a:r>
            <a:r>
              <a:rPr lang="en-US" altLang="en-US" sz="2000" dirty="0"/>
              <a:t>.</a:t>
            </a:r>
          </a:p>
          <a:p>
            <a:pPr marL="742950" lvl="1"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Performance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da-DK" sz="2000" dirty="0"/>
              <a:t>Index ~1.3M embeddings; optimized for ESN filtering.</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Output</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Each chunk stored with metadata in Delta</a:t>
            </a:r>
            <a:r>
              <a:rPr lang="en-IN" sz="2000" dirty="0"/>
              <a:t>.</a:t>
            </a:r>
          </a:p>
          <a:p>
            <a:pPr marL="742950" lvl="1" indent="-285750" eaLnBrk="0" fontAlgn="base" hangingPunct="0">
              <a:spcBef>
                <a:spcPct val="0"/>
              </a:spcBef>
              <a:spcAft>
                <a:spcPct val="0"/>
              </a:spcAft>
              <a:buFont typeface="Courier New" panose="02070309020205020404" pitchFamily="49" charset="0"/>
              <a:buChar char="o"/>
            </a:pPr>
            <a:endParaRPr lang="en-IN" altLang="en-US" sz="2000" dirty="0"/>
          </a:p>
          <a:p>
            <a:pPr marL="342900" indent="-342900" eaLnBrk="0" fontAlgn="base" hangingPunct="0">
              <a:spcBef>
                <a:spcPct val="0"/>
              </a:spcBef>
              <a:spcAft>
                <a:spcPct val="0"/>
              </a:spcAft>
              <a:buFont typeface="Wingdings" panose="05000000000000000000" pitchFamily="2" charset="2"/>
              <a:buChar char="§"/>
            </a:pPr>
            <a:r>
              <a:rPr lang="en-IN" sz="2000" b="1" dirty="0"/>
              <a:t>Example Input</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“Executive Summary text → embedding vector [0.12, 0.87, …].”</a:t>
            </a:r>
            <a:endParaRPr lang="en-IN" sz="2000" dirty="0"/>
          </a:p>
        </p:txBody>
      </p:sp>
    </p:spTree>
    <p:extLst>
      <p:ext uri="{BB962C8B-B14F-4D97-AF65-F5344CB8AC3E}">
        <p14:creationId xmlns:p14="http://schemas.microsoft.com/office/powerpoint/2010/main" val="2989372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B2ABE-9EEE-73B6-323D-D499F31737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F36657C-2F8A-AB46-4BC0-D73A51C9E758}"/>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E779E719-3C33-9FE9-9E34-B7C70FA032CC}"/>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SECURITY &amp; COMPLIANCE</a:t>
            </a:r>
          </a:p>
        </p:txBody>
      </p:sp>
      <p:sp>
        <p:nvSpPr>
          <p:cNvPr id="8" name="Rectangle 2">
            <a:extLst>
              <a:ext uri="{FF2B5EF4-FFF2-40B4-BE49-F238E27FC236}">
                <a16:creationId xmlns:a16="http://schemas.microsoft.com/office/drawing/2014/main" id="{49CB48B5-B237-901C-70D8-E0B0BF5955FB}"/>
              </a:ext>
            </a:extLst>
          </p:cNvPr>
          <p:cNvSpPr>
            <a:spLocks noChangeArrowheads="1"/>
          </p:cNvSpPr>
          <p:nvPr/>
        </p:nvSpPr>
        <p:spPr bwMode="auto">
          <a:xfrm>
            <a:off x="347993" y="1175240"/>
            <a:ext cx="11550093"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Data Residency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All FSR data, embeddings, and indexes remain inside Databricks (Delta + Vector Search).</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No external vector DBs are required, reducing compliance risks.</a:t>
            </a:r>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Access Control</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Role‑based access ensures only authorized engineers and analysts can query sensitive FSR data.</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Audit logs track queries and data usage for governance.</a:t>
            </a:r>
          </a:p>
          <a:p>
            <a:pPr marL="742950" lvl="1"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Compliance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Meets GE Vernova’s enterprise privacy requirements by keeping embeddings private.</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Sensitive identifiers (ESN, Equipment Sys ID) are stored securely with metadata.</a:t>
            </a:r>
            <a:endParaRPr lang="da-DK" sz="2000" dirty="0"/>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Example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Query logs show “User A retrieved 5 chunks for ESN 297837 on Feb 6, </a:t>
            </a:r>
            <a:r>
              <a:rPr lang="en-US" sz="2000"/>
              <a:t>2026”, </a:t>
            </a:r>
            <a:r>
              <a:rPr lang="en-US" sz="2000" dirty="0"/>
              <a:t>ensuring traceability</a:t>
            </a:r>
            <a:r>
              <a:rPr lang="en-IN" sz="2000" dirty="0"/>
              <a:t>.</a:t>
            </a:r>
          </a:p>
        </p:txBody>
      </p:sp>
    </p:spTree>
    <p:extLst>
      <p:ext uri="{BB962C8B-B14F-4D97-AF65-F5344CB8AC3E}">
        <p14:creationId xmlns:p14="http://schemas.microsoft.com/office/powerpoint/2010/main" val="1961840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16701-E991-3521-B3C5-46EC53E43CC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6188B0-57EB-9EB0-6B26-635AAD1EE878}"/>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0DCDD137-FDA7-E7F1-BA53-BE8D2FCA8F62}"/>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PERFORMANCE &amp; UPDATE FREQUENCY</a:t>
            </a:r>
          </a:p>
        </p:txBody>
      </p:sp>
      <p:sp>
        <p:nvSpPr>
          <p:cNvPr id="8" name="Rectangle 2">
            <a:extLst>
              <a:ext uri="{FF2B5EF4-FFF2-40B4-BE49-F238E27FC236}">
                <a16:creationId xmlns:a16="http://schemas.microsoft.com/office/drawing/2014/main" id="{711E766C-3B8C-6420-B695-7BA00ACEE0BB}"/>
              </a:ext>
            </a:extLst>
          </p:cNvPr>
          <p:cNvSpPr>
            <a:spLocks noChangeArrowheads="1"/>
          </p:cNvSpPr>
          <p:nvPr/>
        </p:nvSpPr>
        <p:spPr bwMode="auto">
          <a:xfrm>
            <a:off x="347993" y="1005963"/>
            <a:ext cx="11550093"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Latency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Interactive search designed for sub‑second to 3‑second response times.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Vector Search optimized for ESN filtering and semantic retrieval.</a:t>
            </a:r>
          </a:p>
          <a:p>
            <a:pPr lvl="1" eaLnBrk="0" fontAlgn="base" hangingPunct="0">
              <a:spcBef>
                <a:spcPct val="0"/>
              </a:spcBef>
              <a:spcAft>
                <a:spcPct val="0"/>
              </a:spcAft>
            </a:pPr>
            <a:endParaRPr lang="en-US" altLang="en-US" sz="2000" dirty="0"/>
          </a:p>
          <a:p>
            <a:pPr marL="342900" indent="-342900" eaLnBrk="0" fontAlgn="base" hangingPunct="0">
              <a:spcBef>
                <a:spcPct val="0"/>
              </a:spcBef>
              <a:spcAft>
                <a:spcPct val="0"/>
              </a:spcAft>
              <a:buFont typeface="Wingdings" panose="05000000000000000000" pitchFamily="2" charset="2"/>
              <a:buChar char="§"/>
            </a:pPr>
            <a:r>
              <a:rPr lang="en-IN" sz="2000" b="1" dirty="0"/>
              <a:t>Update Frequency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Weekly batch ingestion recommended to balance freshness and efficiency.</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Option for near‑real‑time ingestion if PDFs are uploaded continuously.</a:t>
            </a:r>
          </a:p>
          <a:p>
            <a:pPr marL="742950" lvl="1" indent="-285750" eaLnBrk="0" fontAlgn="base" hangingPunct="0">
              <a:spcBef>
                <a:spcPct val="0"/>
              </a:spcBef>
              <a:spcAft>
                <a:spcPct val="0"/>
              </a:spcAft>
              <a:buFont typeface="Courier New" panose="02070309020205020404" pitchFamily="49" charset="0"/>
              <a:buChar char="o"/>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Details</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Weekly updates expected to add ~200–500 new FSRs, generating ~3,000–7,500 new chunks and embeddings</a:t>
            </a:r>
            <a:r>
              <a:rPr lang="en-US" altLang="en-US" sz="2000" dirty="0"/>
              <a:t>.</a:t>
            </a:r>
            <a:endParaRPr lang="da-DK" sz="2000" dirty="0"/>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Scalability</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Current design supports ~1.3M embeddings; architecture scales to &gt;10M embeddings with Delta + Vector Search.</a:t>
            </a:r>
            <a:endParaRPr lang="en-IN" sz="2000" dirty="0"/>
          </a:p>
        </p:txBody>
      </p:sp>
    </p:spTree>
    <p:extLst>
      <p:ext uri="{BB962C8B-B14F-4D97-AF65-F5344CB8AC3E}">
        <p14:creationId xmlns:p14="http://schemas.microsoft.com/office/powerpoint/2010/main" val="1078962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D2DE1-0073-6DF1-6390-83D2C6A633A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1578D9-B7CA-D30E-E06C-685108D52B73}"/>
              </a:ext>
            </a:extLst>
          </p:cNvPr>
          <p:cNvSpPr/>
          <p:nvPr/>
        </p:nvSpPr>
        <p:spPr>
          <a:xfrm>
            <a:off x="0" y="1"/>
            <a:ext cx="12192000" cy="863599"/>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Title 1">
            <a:extLst>
              <a:ext uri="{FF2B5EF4-FFF2-40B4-BE49-F238E27FC236}">
                <a16:creationId xmlns:a16="http://schemas.microsoft.com/office/drawing/2014/main" id="{6E882F52-2A19-495B-EBA8-2B7941A121AB}"/>
              </a:ext>
            </a:extLst>
          </p:cNvPr>
          <p:cNvSpPr>
            <a:spLocks noGrp="1"/>
          </p:cNvSpPr>
          <p:nvPr>
            <p:ph type="title"/>
          </p:nvPr>
        </p:nvSpPr>
        <p:spPr>
          <a:xfrm>
            <a:off x="119045" y="132477"/>
            <a:ext cx="10579435" cy="639683"/>
          </a:xfrm>
        </p:spPr>
        <p:txBody>
          <a:bodyPr>
            <a:normAutofit fontScale="90000"/>
          </a:bodyPr>
          <a:lstStyle/>
          <a:p>
            <a:r>
              <a:rPr lang="en-US" sz="4000" dirty="0">
                <a:solidFill>
                  <a:schemeClr val="bg1"/>
                </a:solidFill>
                <a:latin typeface="Inter" panose="020B0502030000000004" pitchFamily="34" charset="0"/>
                <a:ea typeface="Inter" panose="020B0502030000000004" pitchFamily="34" charset="0"/>
                <a:cs typeface="Inter" panose="020B0502030000000004" pitchFamily="34" charset="0"/>
              </a:rPr>
              <a:t>CONCLUSION &amp; ROADMAP</a:t>
            </a:r>
          </a:p>
        </p:txBody>
      </p:sp>
      <p:sp>
        <p:nvSpPr>
          <p:cNvPr id="8" name="Rectangle 2">
            <a:extLst>
              <a:ext uri="{FF2B5EF4-FFF2-40B4-BE49-F238E27FC236}">
                <a16:creationId xmlns:a16="http://schemas.microsoft.com/office/drawing/2014/main" id="{DD623D2E-970F-1B64-598E-3CB1B50033EE}"/>
              </a:ext>
            </a:extLst>
          </p:cNvPr>
          <p:cNvSpPr>
            <a:spLocks noChangeArrowheads="1"/>
          </p:cNvSpPr>
          <p:nvPr/>
        </p:nvSpPr>
        <p:spPr bwMode="auto">
          <a:xfrm>
            <a:off x="320953" y="965596"/>
            <a:ext cx="11550093"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Wingdings" panose="05000000000000000000" pitchFamily="2" charset="2"/>
              <a:buChar char="§"/>
            </a:pPr>
            <a:r>
              <a:rPr lang="en-IN" sz="2000" b="1" dirty="0"/>
              <a:t>FSR Pipeline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Enables ESN‑filtered, AI‑searchable reports with section/subsection context.</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Integrates PDFs, structured tables, and reference data into one unified pipeline.</a:t>
            </a:r>
          </a:p>
          <a:p>
            <a:pPr marL="742950" lvl="1" indent="-285750" eaLnBrk="0" fontAlgn="base" hangingPunct="0">
              <a:spcBef>
                <a:spcPct val="0"/>
              </a:spcBef>
              <a:spcAft>
                <a:spcPct val="0"/>
              </a:spcAft>
              <a:buFont typeface="Courier New" panose="02070309020205020404" pitchFamily="49" charset="0"/>
              <a:buChar char="o"/>
            </a:pPr>
            <a:endParaRPr lang="en-US" altLang="en-US" sz="2000" dirty="0"/>
          </a:p>
          <a:p>
            <a:pPr marL="342900" indent="-342900" eaLnBrk="0" fontAlgn="base" hangingPunct="0">
              <a:spcBef>
                <a:spcPct val="0"/>
              </a:spcBef>
              <a:spcAft>
                <a:spcPct val="0"/>
              </a:spcAft>
              <a:buFont typeface="Wingdings" panose="05000000000000000000" pitchFamily="2" charset="2"/>
              <a:buChar char="§"/>
            </a:pPr>
            <a:r>
              <a:rPr lang="en-IN" sz="2000" b="1" dirty="0"/>
              <a:t>Design Choice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Section/subsection chunking preserves context better than arbitrary token splits.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Metadata design ensures precise filtering and retrieval.</a:t>
            </a:r>
          </a:p>
          <a:p>
            <a:pPr marL="742950" lvl="1" indent="-285750" eaLnBrk="0" fontAlgn="base" hangingPunct="0">
              <a:spcBef>
                <a:spcPct val="0"/>
              </a:spcBef>
              <a:spcAft>
                <a:spcPct val="0"/>
              </a:spcAft>
              <a:buFont typeface="Courier New" panose="02070309020205020404" pitchFamily="49" charset="0"/>
              <a:buChar char="o"/>
            </a:pPr>
            <a:endParaRPr lang="en-US" altLang="en-US" sz="2000" dirty="0"/>
          </a:p>
          <a:p>
            <a:pPr marL="342900" indent="-342900" eaLnBrk="0" fontAlgn="base" hangingPunct="0">
              <a:spcBef>
                <a:spcPct val="0"/>
              </a:spcBef>
              <a:spcAft>
                <a:spcPct val="0"/>
              </a:spcAft>
              <a:buFont typeface="Wingdings" panose="05000000000000000000" pitchFamily="2" charset="2"/>
              <a:buChar char="§"/>
            </a:pPr>
            <a:r>
              <a:rPr lang="en-IN" sz="2000" b="1" dirty="0"/>
              <a:t>Roadmap</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altLang="en-US" sz="2000" dirty="0"/>
              <a:t>Phase 1: Bulk ingestion of historical FSRs.</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Phase 2: Preprocessing + normalization.</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Phase 3: Chunking + embedding generation.</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Phase 4: Vector indexing + AI search rollout.</a:t>
            </a:r>
          </a:p>
          <a:p>
            <a:pPr marL="742950" lvl="1" indent="-285750" eaLnBrk="0" fontAlgn="base" hangingPunct="0">
              <a:spcBef>
                <a:spcPct val="0"/>
              </a:spcBef>
              <a:spcAft>
                <a:spcPct val="0"/>
              </a:spcAft>
              <a:buFont typeface="Courier New" panose="02070309020205020404" pitchFamily="49" charset="0"/>
              <a:buChar char="o"/>
            </a:pPr>
            <a:r>
              <a:rPr lang="en-US" altLang="en-US" sz="2000" dirty="0"/>
              <a:t>Phase 5: Continuous updates, monitoring, and performance tuning.</a:t>
            </a:r>
            <a:endParaRPr lang="da-DK" sz="2000" dirty="0"/>
          </a:p>
          <a:p>
            <a:pPr lvl="1" eaLnBrk="0" fontAlgn="base" hangingPunct="0">
              <a:spcBef>
                <a:spcPct val="0"/>
              </a:spcBef>
              <a:spcAft>
                <a:spcPct val="0"/>
              </a:spcAft>
            </a:pPr>
            <a:endParaRPr lang="en-US" altLang="en-US" dirty="0">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
            </a:pPr>
            <a:r>
              <a:rPr lang="en-IN" sz="2000" b="1" dirty="0"/>
              <a:t>Outcome</a:t>
            </a:r>
            <a:endParaRPr lang="en-US" altLang="en-US" sz="2000" b="1" dirty="0"/>
          </a:p>
          <a:p>
            <a:pPr marL="742950" lvl="1" indent="-285750" eaLnBrk="0" fontAlgn="base" hangingPunct="0">
              <a:spcBef>
                <a:spcPct val="0"/>
              </a:spcBef>
              <a:spcAft>
                <a:spcPct val="0"/>
              </a:spcAft>
              <a:buFont typeface="Courier New" panose="02070309020205020404" pitchFamily="49" charset="0"/>
              <a:buChar char="o"/>
            </a:pPr>
            <a:r>
              <a:rPr lang="en-US" sz="2000" dirty="0"/>
              <a:t>Secure, scalable, Databricks‑native solution ready for leadership approval and implementation.</a:t>
            </a:r>
            <a:endParaRPr lang="en-IN" sz="2000" dirty="0"/>
          </a:p>
        </p:txBody>
      </p:sp>
    </p:spTree>
    <p:extLst>
      <p:ext uri="{BB962C8B-B14F-4D97-AF65-F5344CB8AC3E}">
        <p14:creationId xmlns:p14="http://schemas.microsoft.com/office/powerpoint/2010/main" val="3392747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B81C36-BDE5-734E-D586-1019D90CFB1D}"/>
              </a:ext>
            </a:extLst>
          </p:cNvPr>
          <p:cNvSpPr txBox="1"/>
          <p:nvPr/>
        </p:nvSpPr>
        <p:spPr>
          <a:xfrm>
            <a:off x="4997622" y="2675707"/>
            <a:ext cx="2196755" cy="646331"/>
          </a:xfrm>
          <a:prstGeom prst="rect">
            <a:avLst/>
          </a:prstGeom>
          <a:noFill/>
        </p:spPr>
        <p:txBody>
          <a:bodyPr wrap="none" rtlCol="0">
            <a:spAutoFit/>
          </a:bodyPr>
          <a:lstStyle/>
          <a:p>
            <a:r>
              <a:rPr lang="en-US" sz="3600" dirty="0">
                <a:solidFill>
                  <a:srgbClr val="0F4116"/>
                </a:solidFill>
              </a:rPr>
              <a:t>Thank you</a:t>
            </a:r>
            <a:endParaRPr lang="en-IN" sz="3600" dirty="0">
              <a:solidFill>
                <a:srgbClr val="0F4116"/>
              </a:solidFill>
            </a:endParaRPr>
          </a:p>
        </p:txBody>
      </p:sp>
    </p:spTree>
    <p:extLst>
      <p:ext uri="{BB962C8B-B14F-4D97-AF65-F5344CB8AC3E}">
        <p14:creationId xmlns:p14="http://schemas.microsoft.com/office/powerpoint/2010/main" val="868949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6ed5626-3af7-4c2c-97c9-78210ecdf887" xsi:nil="true"/>
    <lcf76f155ced4ddcb4097134ff3c332f xmlns="12b467ec-6908-4ac6-9eb0-0b365dba75d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BC0987A42BEC3449AEA223195641D79" ma:contentTypeVersion="11" ma:contentTypeDescription="Create a new document." ma:contentTypeScope="" ma:versionID="ef8afc44fc21af732623c1e8ee75903d">
  <xsd:schema xmlns:xsd="http://www.w3.org/2001/XMLSchema" xmlns:xs="http://www.w3.org/2001/XMLSchema" xmlns:p="http://schemas.microsoft.com/office/2006/metadata/properties" xmlns:ns2="12b467ec-6908-4ac6-9eb0-0b365dba75d7" xmlns:ns3="96ed5626-3af7-4c2c-97c9-78210ecdf887" targetNamespace="http://schemas.microsoft.com/office/2006/metadata/properties" ma:root="true" ma:fieldsID="8da2d2d38fbbec2fdc2bcdf4fae3b8d6" ns2:_="" ns3:_="">
    <xsd:import namespace="12b467ec-6908-4ac6-9eb0-0b365dba75d7"/>
    <xsd:import namespace="96ed5626-3af7-4c2c-97c9-78210ecdf88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b467ec-6908-4ac6-9eb0-0b365dba75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b9780e2-d65f-4e6e-8f54-c08360d1f09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6ed5626-3af7-4c2c-97c9-78210ecdf88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5bd707a-cef5-4de8-965a-eb16a45cedbe}" ma:internalName="TaxCatchAll" ma:showField="CatchAllData" ma:web="96ed5626-3af7-4c2c-97c9-78210ecdf8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F2C47D-C437-4518-BDB0-FD108124AD61}">
  <ds:schemaRefs>
    <ds:schemaRef ds:uri="http://schemas.microsoft.com/office/2006/metadata/properties"/>
    <ds:schemaRef ds:uri="http://schemas.microsoft.com/office/infopath/2007/PartnerControls"/>
    <ds:schemaRef ds:uri="96ed5626-3af7-4c2c-97c9-78210ecdf887"/>
    <ds:schemaRef ds:uri="12b467ec-6908-4ac6-9eb0-0b365dba75d7"/>
  </ds:schemaRefs>
</ds:datastoreItem>
</file>

<file path=customXml/itemProps2.xml><?xml version="1.0" encoding="utf-8"?>
<ds:datastoreItem xmlns:ds="http://schemas.openxmlformats.org/officeDocument/2006/customXml" ds:itemID="{FD763D0F-2B7E-4925-B46C-FD41BED296E7}">
  <ds:schemaRefs>
    <ds:schemaRef ds:uri="http://schemas.microsoft.com/sharepoint/v3/contenttype/forms"/>
  </ds:schemaRefs>
</ds:datastoreItem>
</file>

<file path=customXml/itemProps3.xml><?xml version="1.0" encoding="utf-8"?>
<ds:datastoreItem xmlns:ds="http://schemas.openxmlformats.org/officeDocument/2006/customXml" ds:itemID="{A5728071-55FD-4313-813F-D6FC3070AA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b467ec-6908-4ac6-9eb0-0b365dba75d7"/>
    <ds:schemaRef ds:uri="96ed5626-3af7-4c2c-97c9-78210ecdf8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825</TotalTime>
  <Words>3669</Words>
  <Application>Microsoft Office PowerPoint</Application>
  <PresentationFormat>Widescreen</PresentationFormat>
  <Paragraphs>405</Paragraphs>
  <Slides>24</Slides>
  <Notes>22</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FSR : INGESTION AND AI – SEARCHABLE  DATA ARCHITECTURE  </vt:lpstr>
      <vt:lpstr>EXECUTIVE SUMMARY</vt:lpstr>
      <vt:lpstr>CURRENT STATE ANALYSIS</vt:lpstr>
      <vt:lpstr>DATA LANDSCAPE</vt:lpstr>
      <vt:lpstr>CHALLENGES</vt:lpstr>
      <vt:lpstr>HIGH LEVEL ARCHITECTURE OVERVIEW</vt:lpstr>
      <vt:lpstr>HIGH LEVEL ARCHITECTURE OVERVIEW</vt:lpstr>
      <vt:lpstr>PowerPoint Presentation</vt:lpstr>
      <vt:lpstr>HIGH LEVEL QUERY FLOW</vt:lpstr>
      <vt:lpstr>HIGH LEVEL QUERY FLOW</vt:lpstr>
      <vt:lpstr>PowerPoint Presentation</vt:lpstr>
      <vt:lpstr>STAGE 1: INGESTION</vt:lpstr>
      <vt:lpstr>STAGE 2: PREPROCESSING</vt:lpstr>
      <vt:lpstr>STAGE 3: SECTION/SUBSECTION CHUNKING</vt:lpstr>
      <vt:lpstr>STAGE 4: EMBEDDING GENERATION</vt:lpstr>
      <vt:lpstr>STAGE 5: VECTOR INDEXING</vt:lpstr>
      <vt:lpstr>STAGE 6: AI SEARCH LAYER</vt:lpstr>
      <vt:lpstr>METADATA DESIGN</vt:lpstr>
      <vt:lpstr>CHUNKING IMPLEMENTATION</vt:lpstr>
      <vt:lpstr>EMBEDDING &amp; INDEXING NUANCES</vt:lpstr>
      <vt:lpstr>SECURITY &amp; COMPLIANCE</vt:lpstr>
      <vt:lpstr>PERFORMANCE &amp; UPDATE FREQUENCY</vt:lpstr>
      <vt:lpstr>CONCLUSION &amp; ROADMAP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Sanagavarapu, V S S R K Phani Kanth (GE Vernova, consultant)</dc:creator>
  <cp:lastModifiedBy>Sanagavarapu, V S S R K Phani Kanth (GE Vernova, consultant)</cp:lastModifiedBy>
  <cp:revision>266</cp:revision>
  <dcterms:created xsi:type="dcterms:W3CDTF">2026-02-06T08:46:37Z</dcterms:created>
  <dcterms:modified xsi:type="dcterms:W3CDTF">2026-03-13T19:25:12Z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0x010100EBC0987A42BEC3449AEA223195641D79</vt:lpwstr>
  </property>
  <property fmtid="{D5CDD505-2E9C-101B-9397-08002B2CF9AE}" pid="3" name="MediaServiceImageTags">
    <vt:lpwstr/>
  </property>
</Properties>
</file>