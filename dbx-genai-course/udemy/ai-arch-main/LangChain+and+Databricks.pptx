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444" r:id="rId3"/>
    <p:sldId id="257" r:id="rId4"/>
    <p:sldId id="445" r:id="rId5"/>
    <p:sldId id="446" r:id="rId6"/>
    <p:sldId id="44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9BB02-E348-45DA-B034-E3AF17E3FC9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B536C-2C2A-491A-95D7-2242F04AB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48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800661-555D-1B4B-A85C-E411D2F0378F}" type="slidenum">
              <a:rPr kumimoji="0" lang="en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608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FF2E-FEE2-85E8-2BE8-47026254E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29814-9666-2549-B353-5197AA139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53563-A171-C2DB-A1E6-87040CC2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D9D5-674A-F270-A87E-5174A3DF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5B2A2-7BED-29E6-DAA1-19C2C540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33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7EEC2-870B-5BAD-60C7-914B4BB5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CE976-D386-4273-7197-7914CEB2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0857-3D0D-A266-4C59-E02E884D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75A85-0198-E5CD-D520-120815F0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25472-DF30-512E-AFAE-9F4DCE87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33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1406-D3D3-0457-5C41-8CD3A379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3D569-834B-FCD8-9CDC-C8E67DC6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C4313-DD0A-001B-1F23-261CBA5A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446B2-2DBD-72CA-AFA3-107516B3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28BFB-53B1-EC07-0D36-DD396CAD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21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41D6-9940-2D42-FC0D-C4ACFCC1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306EA-C758-8E03-D29E-C753DDF35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E08A6-1AC6-C459-1CD0-D32213CE7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23CBF-DC0C-9BC0-81A2-0A3A7A3A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C5444-DADE-EC81-5543-9520E588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E402E-8A56-BBDB-E6D7-C57055B4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34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BD22-150A-2037-88A9-36D3EAC8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F044A-5E4C-435E-A070-59B32F1FD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B0106-5489-343C-B723-532737EB5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37488-80D0-856C-9B8D-A72662F07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E58E7-7121-D2C9-7DB5-50777074D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C21E9-B4E9-A4C0-5E34-0D6BDEEA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24DBA3-861C-24C0-F5BB-B7D97F28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42931-C4D0-8F47-6219-1E80C23E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60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1AF4-6F9A-7B3C-E87C-49445A23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83083-26FE-398C-9A9F-47F1A3E44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202F2-4C3E-2C2D-8A4B-B4FEAD60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22488-3146-A241-7ED2-3D7D8F27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0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0DA4D5-C36F-CA1B-1F88-93EBDD6B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95F1A-F3CB-91A0-ABC7-07DB9F5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124AF-0305-B065-8249-6DDE010A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8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4DB5-0373-8F22-429A-7B22B024E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A2FD6-1FDB-5BEC-C2E7-7C1215FAB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195B6-1278-6BE6-45AA-866451AE1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C92AE-AEAD-D076-5E55-67030ED2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D5177-F0E9-0988-08DB-B71F07CE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3EF46-22CE-7C07-5F9C-525F60EF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4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BA4D-4AB5-297C-C67B-96CCC667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2EC76-6656-91FA-12F2-AEB165806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74450-13DC-33E1-36B0-CB96D73A8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A88C6-543E-6077-3A57-0A803A9C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87391-3617-2C8C-800F-7DDC2C85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3A0EB-4384-5B25-7C03-0821490F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48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DEE0-B5BD-8D46-CF19-8DA28435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6A0AF-8379-7895-5FFE-EBDBF386B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45EB2-C774-7F0C-EFA3-B448B232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8CC51-7720-7360-C348-853DFB62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723CE-3139-F32C-0503-71C09BAB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40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A5E95-2964-BA0C-E04F-B21AA909F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AB78E-9F7F-94E9-F40E-57198FFBF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8A56D-1DC9-4CB2-1249-5F31DE9E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18CBE-BF5F-E1B0-6C6C-74067946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04D06-F0F8-6F4E-53A5-DC007455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648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F389-8D73-21B6-7A6F-40C505B1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1AA302-6427-5A2A-2570-F6356F623975}"/>
              </a:ext>
            </a:extLst>
          </p:cNvPr>
          <p:cNvGrpSpPr/>
          <p:nvPr userDrawn="1"/>
        </p:nvGrpSpPr>
        <p:grpSpPr>
          <a:xfrm>
            <a:off x="0" y="6701742"/>
            <a:ext cx="12191998" cy="156259"/>
            <a:chOff x="0" y="6701740"/>
            <a:chExt cx="12192000" cy="1562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166A68-7012-E2DA-EB48-B898E32F12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808"/>
            <a:stretch>
              <a:fillRect/>
            </a:stretch>
          </p:blipFill>
          <p:spPr bwMode="auto">
            <a:xfrm>
              <a:off x="0" y="6707648"/>
              <a:ext cx="12192000" cy="15035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8FAB7C-3C08-A36E-89FA-14D9A16E6389}"/>
                </a:ext>
              </a:extLst>
            </p:cNvPr>
            <p:cNvSpPr/>
            <p:nvPr userDrawn="1"/>
          </p:nvSpPr>
          <p:spPr bwMode="auto">
            <a:xfrm>
              <a:off x="0" y="6701740"/>
              <a:ext cx="12192000" cy="156259"/>
            </a:xfrm>
            <a:prstGeom prst="rect">
              <a:avLst/>
            </a:prstGeom>
            <a:gradFill flip="none" rotWithShape="1">
              <a:gsLst>
                <a:gs pos="100000">
                  <a:srgbClr val="0070C0">
                    <a:alpha val="74000"/>
                  </a:srgbClr>
                </a:gs>
                <a:gs pos="0">
                  <a:schemeClr val="accent1">
                    <a:alpha val="70000"/>
                  </a:schemeClr>
                </a:gs>
              </a:gsLst>
              <a:lin ang="144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483247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A44EC-9C02-E771-9706-16E60D9A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4D66A-7009-0116-FAE3-4F0BAC76E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20DF8-1504-2861-0F20-306E6AF82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5928E-CF15-420C-9056-36F3A308C3AA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D297-FD87-9C25-280F-515812495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D4EB9-A1E0-3D20-0E4E-4E6B6B584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0DCAD-11EA-433A-990E-9601AB895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73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8AA8-ABE1-8FCA-EF53-3A8980B2D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66920"/>
            <a:ext cx="9144000" cy="2387600"/>
          </a:xfrm>
        </p:spPr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and Databricks</a:t>
            </a:r>
            <a:endParaRPr lang="en-IN" dirty="0"/>
          </a:p>
        </p:txBody>
      </p:sp>
      <p:pic>
        <p:nvPicPr>
          <p:cNvPr id="1026" name="Picture 2" descr="LangChain v1 is now generally available! | Microsoft Community Hub">
            <a:extLst>
              <a:ext uri="{FF2B5EF4-FFF2-40B4-BE49-F238E27FC236}">
                <a16:creationId xmlns:a16="http://schemas.microsoft.com/office/drawing/2014/main" id="{A8249EAF-C6BC-B168-B837-EDB464C87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818" y="1197558"/>
            <a:ext cx="6205591" cy="29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ricks Logo and symbol, meaning, history, PNG, brand">
            <a:extLst>
              <a:ext uri="{FF2B5EF4-FFF2-40B4-BE49-F238E27FC236}">
                <a16:creationId xmlns:a16="http://schemas.microsoft.com/office/drawing/2014/main" id="{18421CFD-F1E1-6CA6-69FC-431AB81AC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6701" y="1696472"/>
            <a:ext cx="3513762" cy="197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53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04A4-B7C9-3AAF-7812-E4077DA8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A035-F142-E485-5C5C-78F5BCF7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457200"/>
            <a:ext cx="11017250" cy="430213"/>
          </a:xfrm>
        </p:spPr>
        <p:txBody>
          <a:bodyPr>
            <a:normAutofit fontScale="90000"/>
          </a:bodyPr>
          <a:lstStyle/>
          <a:p>
            <a:r>
              <a:rPr lang="en-US"/>
              <a:t>De-mystifying AI App Development</a:t>
            </a:r>
          </a:p>
        </p:txBody>
      </p:sp>
      <p:sp>
        <p:nvSpPr>
          <p:cNvPr id="86" name="Title 5">
            <a:extLst>
              <a:ext uri="{FF2B5EF4-FFF2-40B4-BE49-F238E27FC236}">
                <a16:creationId xmlns:a16="http://schemas.microsoft.com/office/drawing/2014/main" id="{BBD35187-4B04-B97C-7AA2-AD7AFA8E9753}"/>
              </a:ext>
            </a:extLst>
          </p:cNvPr>
          <p:cNvSpPr txBox="1">
            <a:spLocks/>
          </p:cNvSpPr>
          <p:nvPr/>
        </p:nvSpPr>
        <p:spPr>
          <a:xfrm>
            <a:off x="588963" y="1874765"/>
            <a:ext cx="3182027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sz="2400" dirty="0">
                <a:solidFill>
                  <a:schemeClr val="accent1"/>
                </a:solidFill>
                <a:latin typeface="Segoe UI Semibold"/>
              </a:rPr>
              <a:t>At a basic level</a:t>
            </a:r>
          </a:p>
        </p:txBody>
      </p:sp>
      <p:sp>
        <p:nvSpPr>
          <p:cNvPr id="87" name="Text Placeholder 6">
            <a:extLst>
              <a:ext uri="{FF2B5EF4-FFF2-40B4-BE49-F238E27FC236}">
                <a16:creationId xmlns:a16="http://schemas.microsoft.com/office/drawing/2014/main" id="{C23EC5F3-35B7-012E-774E-C4E0D9F27D1F}"/>
              </a:ext>
            </a:extLst>
          </p:cNvPr>
          <p:cNvSpPr txBox="1">
            <a:spLocks/>
          </p:cNvSpPr>
          <p:nvPr/>
        </p:nvSpPr>
        <p:spPr>
          <a:xfrm>
            <a:off x="588963" y="2355142"/>
            <a:ext cx="3182027" cy="720686"/>
          </a:xfrm>
          <a:prstGeom prst="rect">
            <a:avLst/>
          </a:prstGeom>
        </p:spPr>
        <p:txBody>
          <a:bodyPr lIns="0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Segoe UI"/>
              </a:rPr>
              <a:t>Providing prompt to a model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Segoe UI"/>
              </a:rPr>
              <a:t>Acting on the response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28B8834E-86AB-78A7-2FB3-F8E93A68D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212931" y="1806353"/>
            <a:ext cx="736172" cy="565167"/>
          </a:xfrm>
          <a:prstGeom prst="roundRect">
            <a:avLst>
              <a:gd name="adj" fmla="val 11739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183696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gradFill>
                <a:gsLst>
                  <a:gs pos="15596">
                    <a:srgbClr val="000000"/>
                  </a:gs>
                  <a:gs pos="44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D1ADC8-43B4-239E-E1BD-C83B8EC718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3308634" y="1910093"/>
            <a:ext cx="496931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14367">
              <a:defRPr/>
            </a:pPr>
            <a:r>
              <a:rPr lang="en-US" sz="2000">
                <a:solidFill>
                  <a:srgbClr val="000000"/>
                </a:solidFill>
                <a:latin typeface="Segoe UI"/>
                <a:cs typeface="Segoe UI"/>
              </a:rPr>
              <a:t>data</a:t>
            </a:r>
          </a:p>
        </p:txBody>
      </p:sp>
      <p:cxnSp>
        <p:nvCxnSpPr>
          <p:cNvPr id="80" name="Straight Connector 79" descr="connects to">
            <a:extLst>
              <a:ext uri="{FF2B5EF4-FFF2-40B4-BE49-F238E27FC236}">
                <a16:creationId xmlns:a16="http://schemas.microsoft.com/office/drawing/2014/main" id="{D4518088-7E76-4D9E-3022-C148022C73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flipH="1">
            <a:off x="3945938" y="2088937"/>
            <a:ext cx="463864" cy="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arrow" w="lg" len="sm"/>
            <a:tailEnd type="none" w="lg" len="sm"/>
          </a:ln>
          <a:effectLst/>
        </p:spPr>
      </p:cxnSp>
      <p:sp>
        <p:nvSpPr>
          <p:cNvPr id="22" name="Rounded Rectangle 18">
            <a:extLst>
              <a:ext uri="{FF2B5EF4-FFF2-40B4-BE49-F238E27FC236}">
                <a16:creationId xmlns:a16="http://schemas.microsoft.com/office/drawing/2014/main" id="{FCF177CE-FC50-3A10-55FA-8F955A14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90881" y="1648997"/>
            <a:ext cx="1929182" cy="802076"/>
          </a:xfrm>
          <a:prstGeom prst="roundRect">
            <a:avLst>
              <a:gd name="adj" fmla="val 6472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183696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gradFill>
                <a:gsLst>
                  <a:gs pos="15596">
                    <a:srgbClr val="000000"/>
                  </a:gs>
                  <a:gs pos="44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266DB-7C7F-A1E3-DB3C-AF30027AA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1467" y="1889621"/>
            <a:ext cx="387393" cy="47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  <a:latin typeface="Segoe UI"/>
              </a:rPr>
              <a:t>📄</a:t>
            </a:r>
            <a:endParaRPr lang="en-TR" sz="1765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EB7FC1-F3FA-5218-228F-70DCC5A627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066011" y="1884488"/>
            <a:ext cx="910506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14367">
              <a:defRPr/>
            </a:pPr>
            <a:r>
              <a:rPr lang="en-US" sz="2000">
                <a:solidFill>
                  <a:srgbClr val="000000"/>
                </a:solidFill>
                <a:latin typeface="Segoe UI Variable Small Semibol" pitchFamily="2" charset="0"/>
              </a:rPr>
              <a:t>prompt</a:t>
            </a:r>
          </a:p>
        </p:txBody>
      </p:sp>
      <p:cxnSp>
        <p:nvCxnSpPr>
          <p:cNvPr id="27" name="Straight Connector 26" descr="connects to">
            <a:extLst>
              <a:ext uri="{FF2B5EF4-FFF2-40B4-BE49-F238E27FC236}">
                <a16:creationId xmlns:a16="http://schemas.microsoft.com/office/drawing/2014/main" id="{50CB3E2F-3ADA-FFBA-23EE-A3F185CB57A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311012" y="2038377"/>
            <a:ext cx="483813" cy="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lg" len="sm"/>
            <a:tailEnd type="none" w="lg" len="sm"/>
          </a:ln>
          <a:effectLst/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B09E02-FB49-8820-738F-930CE095F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794825" y="1630037"/>
            <a:ext cx="2049585" cy="816679"/>
          </a:xfrm>
          <a:prstGeom prst="roundRect">
            <a:avLst>
              <a:gd name="adj" fmla="val 4676"/>
            </a:avLst>
          </a:prstGeom>
          <a:gradFill flip="none" rotWithShape="1">
            <a:gsLst>
              <a:gs pos="0">
                <a:srgbClr val="B37AD7"/>
              </a:gs>
              <a:gs pos="80000">
                <a:srgbClr val="1371ED"/>
              </a:gs>
            </a:gsLst>
            <a:path path="circle">
              <a:fillToRect l="100000" t="100000"/>
            </a:path>
            <a:tileRect r="-100000" b="-100000"/>
          </a:gradFill>
          <a:ln w="12700" cap="rnd"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 defTabSz="914437" fontAlgn="base">
              <a:spcBef>
                <a:spcPts val="120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200" b="1" dirty="0">
              <a:ln w="3175">
                <a:noFill/>
              </a:ln>
              <a:solidFill>
                <a:schemeClr val="bg1"/>
              </a:solidFill>
              <a:latin typeface="Segoe Sans Display Semibold" pitchFamily="2" charset="0"/>
              <a:cs typeface="Segoe UI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7A1DD4-B596-FC4B-DC74-407D1ECB7E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181827" y="1838321"/>
            <a:ext cx="12987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914367">
              <a:defRPr/>
            </a:pPr>
            <a:r>
              <a:rPr lang="en-US" sz="2000" dirty="0">
                <a:solidFill>
                  <a:schemeClr val="bg1"/>
                </a:solidFill>
                <a:latin typeface="Segoe UI"/>
                <a:ea typeface="Segoe UI" pitchFamily="34" charset="0"/>
                <a:cs typeface="Segoe UI"/>
              </a:rPr>
              <a:t>Model</a:t>
            </a:r>
            <a:endParaRPr lang="en-TR" sz="20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cxnSp>
        <p:nvCxnSpPr>
          <p:cNvPr id="30" name="Straight Connector 29" descr="connects to">
            <a:extLst>
              <a:ext uri="{FF2B5EF4-FFF2-40B4-BE49-F238E27FC236}">
                <a16:creationId xmlns:a16="http://schemas.microsoft.com/office/drawing/2014/main" id="{5FFBD819-3EEA-72B6-AFA4-8723C3E209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 flipH="1">
            <a:off x="8855985" y="2038377"/>
            <a:ext cx="504209" cy="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lg" len="sm"/>
            <a:tailEnd type="none" w="lg" len="sm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C5A7861-EC4B-F5E8-D54E-E44B643F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576032" y="1848677"/>
            <a:ext cx="387393" cy="47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  <a:latin typeface="Segoe UI"/>
              </a:rPr>
              <a:t>💬</a:t>
            </a:r>
            <a:endParaRPr lang="en-TR" sz="1765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5117DE-BAA9-1B52-61A2-EAD2C824E2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0077400" y="1884488"/>
            <a:ext cx="1020921" cy="3077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914367">
              <a:defRPr/>
            </a:pPr>
            <a:r>
              <a:rPr lang="en-US" sz="2000">
                <a:solidFill>
                  <a:srgbClr val="000000"/>
                </a:solidFill>
                <a:latin typeface="Segoe UI"/>
                <a:cs typeface="Segoe UI"/>
              </a:rPr>
              <a:t>response</a:t>
            </a:r>
          </a:p>
        </p:txBody>
      </p:sp>
      <p:grpSp>
        <p:nvGrpSpPr>
          <p:cNvPr id="39" name="Group 38" descr="connects to">
            <a:extLst>
              <a:ext uri="{FF2B5EF4-FFF2-40B4-BE49-F238E27FC236}">
                <a16:creationId xmlns:a16="http://schemas.microsoft.com/office/drawing/2014/main" id="{AB0DA7F1-7831-BD34-6D97-A3935AA2D3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8831692" y="2453772"/>
            <a:ext cx="1229358" cy="637729"/>
            <a:chOff x="8862280" y="2600075"/>
            <a:chExt cx="1229358" cy="637734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36071A-855E-613C-F3B9-6BBCB98BE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8862280" y="3237809"/>
              <a:ext cx="1226049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headEnd type="arrow" w="lg" len="sm"/>
              <a:tailEnd type="none" w="lg" len="sm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3CE0AE9-12AB-F204-60F9-D54004C15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10091638" y="2600075"/>
              <a:ext cx="0" cy="637734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headEnd type="none" w="lg" len="sm"/>
              <a:tailEnd type="none" w="lg" len="sm"/>
            </a:ln>
            <a:effectLst/>
          </p:spPr>
        </p:cxnSp>
      </p:grpSp>
      <p:grpSp>
        <p:nvGrpSpPr>
          <p:cNvPr id="36" name="Group 35" descr="run code&#10;">
            <a:extLst>
              <a:ext uri="{FF2B5EF4-FFF2-40B4-BE49-F238E27FC236}">
                <a16:creationId xmlns:a16="http://schemas.microsoft.com/office/drawing/2014/main" id="{73129421-6486-7B26-287E-5003A67E8F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6985510" y="2759707"/>
            <a:ext cx="1513015" cy="400110"/>
            <a:chOff x="6989385" y="2798018"/>
            <a:chExt cx="1513015" cy="31003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895968D-0281-AB88-DE72-936C5E2BD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7495714" y="2828121"/>
              <a:ext cx="1006686" cy="23848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defPPr>
                <a:defRPr lang="en-TR"/>
              </a:defPPr>
              <a:lvl1pPr>
                <a:defRPr sz="2000">
                  <a:latin typeface="+mj-lt"/>
                </a:defRPr>
              </a:lvl1pPr>
            </a:lstStyle>
            <a:p>
              <a:pPr defTabSz="914367">
                <a:defRPr/>
              </a:pPr>
              <a:r>
                <a:rPr lang="en-US">
                  <a:solidFill>
                    <a:srgbClr val="000000"/>
                  </a:solidFill>
                  <a:latin typeface="Segoe UI"/>
                  <a:cs typeface="Segoe UI"/>
                </a:rPr>
                <a:t>run code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B9D756F-0DE8-C088-73C6-34B1D066E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6989385" y="2798018"/>
              <a:ext cx="387393" cy="310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>
                <a:defRPr/>
              </a:pPr>
              <a:r>
                <a:rPr lang="en-US" sz="2000">
                  <a:solidFill>
                    <a:srgbClr val="000000"/>
                  </a:solidFill>
                  <a:latin typeface="Segoe UI"/>
                </a:rPr>
                <a:t>📈</a:t>
              </a:r>
              <a:endParaRPr lang="en-TR" sz="2000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33" name="Group 32" descr="connects to prompt">
            <a:extLst>
              <a:ext uri="{FF2B5EF4-FFF2-40B4-BE49-F238E27FC236}">
                <a16:creationId xmlns:a16="http://schemas.microsoft.com/office/drawing/2014/main" id="{5CC5314E-6104-C451-F463-91B3871527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288155" y="2446714"/>
            <a:ext cx="1521362" cy="637733"/>
            <a:chOff x="4982115" y="2459879"/>
            <a:chExt cx="1750326" cy="494164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5C1FDE1-5087-616E-9901-14A721746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2115" y="2459879"/>
              <a:ext cx="1453" cy="48748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headEnd type="arrow" w="lg" len="sm"/>
              <a:tailEnd type="none" w="lg" len="sm"/>
            </a:ln>
            <a:effectLst/>
          </p:spPr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871D80-C04E-01B7-FEC1-78F2CF82E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019" y="2948439"/>
              <a:ext cx="1741422" cy="5604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headEnd type="none" w="lg" len="sm"/>
              <a:tailEnd type="none" w="lg" len="sm"/>
            </a:ln>
            <a:effectLst/>
          </p:spPr>
        </p:cxnSp>
      </p:grpSp>
      <p:sp>
        <p:nvSpPr>
          <p:cNvPr id="15" name="Rounded Rectangle 18">
            <a:extLst>
              <a:ext uri="{FF2B5EF4-FFF2-40B4-BE49-F238E27FC236}">
                <a16:creationId xmlns:a16="http://schemas.microsoft.com/office/drawing/2014/main" id="{CB995D45-7CC8-FEEB-E964-31F46B84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795290" y="2577097"/>
            <a:ext cx="2026661" cy="802076"/>
          </a:xfrm>
          <a:prstGeom prst="roundRect">
            <a:avLst>
              <a:gd name="adj" fmla="val 6472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183696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gradFill>
                <a:gsLst>
                  <a:gs pos="15596">
                    <a:srgbClr val="000000"/>
                  </a:gs>
                  <a:gs pos="44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/>
            </a:endParaRPr>
          </a:p>
        </p:txBody>
      </p:sp>
      <p:sp>
        <p:nvSpPr>
          <p:cNvPr id="20" name="Rounded Rectangle 18">
            <a:extLst>
              <a:ext uri="{FF2B5EF4-FFF2-40B4-BE49-F238E27FC236}">
                <a16:creationId xmlns:a16="http://schemas.microsoft.com/office/drawing/2014/main" id="{41DA1BEE-74C6-CC93-5C4F-D5AF4385B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360194" y="1656232"/>
            <a:ext cx="2026661" cy="802076"/>
          </a:xfrm>
          <a:prstGeom prst="roundRect">
            <a:avLst>
              <a:gd name="adj" fmla="val 6472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183696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gradFill>
                <a:gsLst>
                  <a:gs pos="15596">
                    <a:srgbClr val="000000"/>
                  </a:gs>
                  <a:gs pos="44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/>
            </a:endParaRPr>
          </a:p>
        </p:txBody>
      </p:sp>
      <p:sp>
        <p:nvSpPr>
          <p:cNvPr id="24" name="Rounded Rectangle 58">
            <a:extLst>
              <a:ext uri="{FF2B5EF4-FFF2-40B4-BE49-F238E27FC236}">
                <a16:creationId xmlns:a16="http://schemas.microsoft.com/office/drawing/2014/main" id="{5B76A680-CD15-3F43-C3B5-622B38FE7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54658" y="1446206"/>
            <a:ext cx="7541195" cy="2084116"/>
          </a:xfrm>
          <a:prstGeom prst="roundRect">
            <a:avLst>
              <a:gd name="adj" fmla="val 3908"/>
            </a:avLst>
          </a:prstGeom>
          <a:noFill/>
          <a:ln w="12700" cap="flat" cmpd="sng" algn="ctr">
            <a:solidFill>
              <a:srgbClr val="B1B3B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" name="Title 5">
            <a:extLst>
              <a:ext uri="{FF2B5EF4-FFF2-40B4-BE49-F238E27FC236}">
                <a16:creationId xmlns:a16="http://schemas.microsoft.com/office/drawing/2014/main" id="{1E1D766D-A02E-8E16-9F0D-087D77FDFB6B}"/>
              </a:ext>
            </a:extLst>
          </p:cNvPr>
          <p:cNvSpPr txBox="1">
            <a:spLocks/>
          </p:cNvSpPr>
          <p:nvPr/>
        </p:nvSpPr>
        <p:spPr>
          <a:xfrm>
            <a:off x="588963" y="4182163"/>
            <a:ext cx="3182027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sz="2400">
                <a:solidFill>
                  <a:schemeClr val="accent1"/>
                </a:solidFill>
                <a:latin typeface="Segoe UI Semibold"/>
              </a:rPr>
              <a:t>At scale</a:t>
            </a:r>
          </a:p>
        </p:txBody>
      </p:sp>
      <p:sp>
        <p:nvSpPr>
          <p:cNvPr id="90" name="Text Placeholder 6">
            <a:extLst>
              <a:ext uri="{FF2B5EF4-FFF2-40B4-BE49-F238E27FC236}">
                <a16:creationId xmlns:a16="http://schemas.microsoft.com/office/drawing/2014/main" id="{E211D227-375C-E688-B165-D301EF11DA21}"/>
              </a:ext>
            </a:extLst>
          </p:cNvPr>
          <p:cNvSpPr txBox="1">
            <a:spLocks/>
          </p:cNvSpPr>
          <p:nvPr/>
        </p:nvSpPr>
        <p:spPr>
          <a:xfrm>
            <a:off x="588963" y="4734365"/>
            <a:ext cx="2621539" cy="1537849"/>
          </a:xfrm>
          <a:prstGeom prst="rect">
            <a:avLst/>
          </a:prstGeom>
        </p:spPr>
        <p:txBody>
          <a:bodyPr lIns="0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Segoe UI"/>
              </a:rPr>
              <a:t>Holding many different conversations with models &amp; agents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sz="1600" dirty="0">
                <a:solidFill>
                  <a:srgbClr val="000000"/>
                </a:solidFill>
                <a:latin typeface="Segoe UI"/>
              </a:rPr>
              <a:t>Extracting information </a:t>
            </a:r>
            <a:br>
              <a:rPr lang="en-US" sz="1600" dirty="0">
                <a:solidFill>
                  <a:srgbClr val="000000"/>
                </a:solidFill>
                <a:latin typeface="Segoe UI"/>
              </a:rPr>
            </a:br>
            <a:r>
              <a:rPr lang="en-US" sz="1600" dirty="0">
                <a:solidFill>
                  <a:srgbClr val="000000"/>
                </a:solidFill>
                <a:latin typeface="Segoe UI"/>
              </a:rPr>
              <a:t>into useful results</a:t>
            </a:r>
          </a:p>
        </p:txBody>
      </p:sp>
      <p:sp>
        <p:nvSpPr>
          <p:cNvPr id="42" name="Rounded Rectangle 125">
            <a:extLst>
              <a:ext uri="{FF2B5EF4-FFF2-40B4-BE49-F238E27FC236}">
                <a16:creationId xmlns:a16="http://schemas.microsoft.com/office/drawing/2014/main" id="{80F6E88F-0153-6E75-AAE4-13F255970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54658" y="4182163"/>
            <a:ext cx="7541195" cy="2084116"/>
          </a:xfrm>
          <a:prstGeom prst="roundRect">
            <a:avLst>
              <a:gd name="adj" fmla="val 3908"/>
            </a:avLst>
          </a:prstGeom>
          <a:noFill/>
          <a:ln w="12700" cap="flat" cmpd="sng" algn="ctr">
            <a:solidFill>
              <a:srgbClr val="B1B3B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6C7BF45F-1578-8E37-5010-CBA5BA577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63925" y="4351981"/>
            <a:ext cx="1370135" cy="1704838"/>
          </a:xfrm>
          <a:prstGeom prst="roundRect">
            <a:avLst>
              <a:gd name="adj" fmla="val 6472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183696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gradFill>
                <a:gsLst>
                  <a:gs pos="15596">
                    <a:srgbClr val="000000"/>
                  </a:gs>
                  <a:gs pos="44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/>
            </a:endParaRPr>
          </a:p>
        </p:txBody>
      </p:sp>
      <p:sp>
        <p:nvSpPr>
          <p:cNvPr id="45" name="Rectangle: Rounded Corners 62">
            <a:extLst>
              <a:ext uri="{FF2B5EF4-FFF2-40B4-BE49-F238E27FC236}">
                <a16:creationId xmlns:a16="http://schemas.microsoft.com/office/drawing/2014/main" id="{DAB2A5D0-CC83-37E9-3799-CEA92184FA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275673" y="4365994"/>
            <a:ext cx="1370135" cy="1690825"/>
          </a:xfrm>
          <a:prstGeom prst="roundRect">
            <a:avLst>
              <a:gd name="adj" fmla="val 4676"/>
            </a:avLst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input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DA8F60-4143-CBD2-6B4D-FF985F24D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7" idx="1"/>
            <a:endCxn id="45" idx="3"/>
          </p:cNvCxnSpPr>
          <p:nvPr/>
        </p:nvCxnSpPr>
        <p:spPr>
          <a:xfrm flipH="1">
            <a:off x="5645808" y="5211407"/>
            <a:ext cx="499078" cy="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arrow" w="lg" len="sm"/>
            <a:tailEnd type="none" w="lg" len="sm"/>
          </a:ln>
          <a:effectLst/>
        </p:spPr>
      </p:cxnSp>
      <p:sp>
        <p:nvSpPr>
          <p:cNvPr id="47" name="Rectangle: Rounded Corners 62">
            <a:extLst>
              <a:ext uri="{FF2B5EF4-FFF2-40B4-BE49-F238E27FC236}">
                <a16:creationId xmlns:a16="http://schemas.microsoft.com/office/drawing/2014/main" id="{EC85A3A9-C51F-FCA6-B5D8-9FE370262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44886" y="4365994"/>
            <a:ext cx="3375284" cy="1690825"/>
          </a:xfrm>
          <a:prstGeom prst="roundRect">
            <a:avLst>
              <a:gd name="adj" fmla="val 4676"/>
            </a:avLst>
          </a:prstGeom>
          <a:solidFill>
            <a:srgbClr val="FFFFFF"/>
          </a:solidFill>
          <a:ln w="12700" cap="flat" cmpd="sng" algn="ctr">
            <a:solidFill>
              <a:srgbClr val="B1B3B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48" name="Group 47" descr="Diagram illustrates holding many different conversations with models &amp; agents">
            <a:extLst>
              <a:ext uri="{FF2B5EF4-FFF2-40B4-BE49-F238E27FC236}">
                <a16:creationId xmlns:a16="http://schemas.microsoft.com/office/drawing/2014/main" id="{BBE19292-6118-8B91-AED8-710BC99253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6376222" y="4525641"/>
            <a:ext cx="2925753" cy="1378872"/>
            <a:chOff x="4043234" y="5057572"/>
            <a:chExt cx="3586816" cy="1690425"/>
          </a:xfrm>
        </p:grpSpPr>
        <p:sp>
          <p:nvSpPr>
            <p:cNvPr id="49" name="Speech Bubble: Oval 25">
              <a:extLst>
                <a:ext uri="{FF2B5EF4-FFF2-40B4-BE49-F238E27FC236}">
                  <a16:creationId xmlns:a16="http://schemas.microsoft.com/office/drawing/2014/main" id="{57C7902C-1B28-352C-EBA7-D3B0A48DAD9F}"/>
                </a:ext>
              </a:extLst>
            </p:cNvPr>
            <p:cNvSpPr/>
            <p:nvPr/>
          </p:nvSpPr>
          <p:spPr bwMode="auto">
            <a:xfrm>
              <a:off x="4702209" y="5891201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50" name="Speech Bubble: Oval 26">
              <a:extLst>
                <a:ext uri="{FF2B5EF4-FFF2-40B4-BE49-F238E27FC236}">
                  <a16:creationId xmlns:a16="http://schemas.microsoft.com/office/drawing/2014/main" id="{6FAB7C0C-693F-FEE7-4B4C-3D261C7C06B9}"/>
                </a:ext>
              </a:extLst>
            </p:cNvPr>
            <p:cNvSpPr/>
            <p:nvPr/>
          </p:nvSpPr>
          <p:spPr bwMode="auto">
            <a:xfrm rot="21257510">
              <a:off x="4868444" y="5294647"/>
              <a:ext cx="386714" cy="256533"/>
            </a:xfrm>
            <a:prstGeom prst="wedgeEllipseCallout">
              <a:avLst>
                <a:gd name="adj1" fmla="val 59864"/>
                <a:gd name="adj2" fmla="val 89071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9AD7ACA-A987-C2E2-B539-69A6AD62EC5D}"/>
                </a:ext>
              </a:extLst>
            </p:cNvPr>
            <p:cNvSpPr txBox="1"/>
            <p:nvPr/>
          </p:nvSpPr>
          <p:spPr>
            <a:xfrm>
              <a:off x="4342847" y="6140915"/>
              <a:ext cx="329774" cy="3957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367">
                <a:defRPr/>
              </a:pPr>
              <a:r>
                <a:rPr lang="en-US" sz="1600">
                  <a:solidFill>
                    <a:srgbClr val="000000"/>
                  </a:solidFill>
                  <a:latin typeface="Segoe UI"/>
                </a:rPr>
                <a:t>🤵</a:t>
              </a:r>
            </a:p>
          </p:txBody>
        </p:sp>
        <p:sp>
          <p:nvSpPr>
            <p:cNvPr id="52" name="Speech Bubble: Oval 30">
              <a:extLst>
                <a:ext uri="{FF2B5EF4-FFF2-40B4-BE49-F238E27FC236}">
                  <a16:creationId xmlns:a16="http://schemas.microsoft.com/office/drawing/2014/main" id="{1DDB855E-B0B7-69DE-F271-00758D5183EB}"/>
                </a:ext>
              </a:extLst>
            </p:cNvPr>
            <p:cNvSpPr/>
            <p:nvPr/>
          </p:nvSpPr>
          <p:spPr bwMode="auto">
            <a:xfrm rot="21257510">
              <a:off x="5886561" y="5740414"/>
              <a:ext cx="386714" cy="256533"/>
            </a:xfrm>
            <a:prstGeom prst="wedgeEllipseCallout">
              <a:avLst>
                <a:gd name="adj1" fmla="val 59864"/>
                <a:gd name="adj2" fmla="val 89071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4DF36C-F068-4672-1177-87232749EAE4}"/>
                </a:ext>
              </a:extLst>
            </p:cNvPr>
            <p:cNvSpPr txBox="1"/>
            <p:nvPr/>
          </p:nvSpPr>
          <p:spPr>
            <a:xfrm>
              <a:off x="5266957" y="5549914"/>
              <a:ext cx="352661" cy="3957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367">
                <a:defRPr/>
              </a:pPr>
              <a:r>
                <a:rPr lang="en-US" sz="1600">
                  <a:solidFill>
                    <a:srgbClr val="000000"/>
                  </a:solidFill>
                  <a:latin typeface="Segoe UI"/>
                </a:rPr>
                <a:t>🤵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1654FC7-FFAA-F756-2A07-A2D6699EC8FC}"/>
                </a:ext>
              </a:extLst>
            </p:cNvPr>
            <p:cNvSpPr txBox="1"/>
            <p:nvPr/>
          </p:nvSpPr>
          <p:spPr>
            <a:xfrm>
              <a:off x="6747411" y="5414040"/>
              <a:ext cx="352661" cy="3957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367">
                <a:defRPr/>
              </a:pPr>
              <a:r>
                <a:rPr lang="en-US" sz="1600">
                  <a:solidFill>
                    <a:srgbClr val="000000"/>
                  </a:solidFill>
                  <a:latin typeface="Segoe UI"/>
                </a:rPr>
                <a:t>🤵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C6CE930-D926-51B9-0B3D-E3DE36F3F767}"/>
                </a:ext>
              </a:extLst>
            </p:cNvPr>
            <p:cNvSpPr txBox="1"/>
            <p:nvPr/>
          </p:nvSpPr>
          <p:spPr>
            <a:xfrm>
              <a:off x="6251026" y="6121704"/>
              <a:ext cx="352661" cy="3957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367">
                <a:defRPr/>
              </a:pPr>
              <a:r>
                <a:rPr lang="en-US" sz="1600">
                  <a:solidFill>
                    <a:srgbClr val="000000"/>
                  </a:solidFill>
                  <a:latin typeface="Segoe UI"/>
                </a:rPr>
                <a:t>🤵</a:t>
              </a:r>
            </a:p>
          </p:txBody>
        </p:sp>
        <p:sp>
          <p:nvSpPr>
            <p:cNvPr id="56" name="Speech Bubble: Oval 34">
              <a:extLst>
                <a:ext uri="{FF2B5EF4-FFF2-40B4-BE49-F238E27FC236}">
                  <a16:creationId xmlns:a16="http://schemas.microsoft.com/office/drawing/2014/main" id="{0738056F-CDAD-C323-4DB2-1C5D97EE7A70}"/>
                </a:ext>
              </a:extLst>
            </p:cNvPr>
            <p:cNvSpPr/>
            <p:nvPr/>
          </p:nvSpPr>
          <p:spPr bwMode="auto">
            <a:xfrm rot="21257510">
              <a:off x="6297537" y="5285228"/>
              <a:ext cx="386714" cy="256533"/>
            </a:xfrm>
            <a:prstGeom prst="wedgeEllipseCallout">
              <a:avLst>
                <a:gd name="adj1" fmla="val 59864"/>
                <a:gd name="adj2" fmla="val 89071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57" name="Speech Bubble: Oval 35">
              <a:extLst>
                <a:ext uri="{FF2B5EF4-FFF2-40B4-BE49-F238E27FC236}">
                  <a16:creationId xmlns:a16="http://schemas.microsoft.com/office/drawing/2014/main" id="{8918BA74-AC89-7A01-6FA6-7F659DB0A7E5}"/>
                </a:ext>
              </a:extLst>
            </p:cNvPr>
            <p:cNvSpPr/>
            <p:nvPr/>
          </p:nvSpPr>
          <p:spPr bwMode="auto">
            <a:xfrm>
              <a:off x="6540218" y="5827977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58" name="Speech Bubble: Oval 36">
              <a:extLst>
                <a:ext uri="{FF2B5EF4-FFF2-40B4-BE49-F238E27FC236}">
                  <a16:creationId xmlns:a16="http://schemas.microsoft.com/office/drawing/2014/main" id="{FCFD3D31-267B-0B60-1923-62410A2EA449}"/>
                </a:ext>
              </a:extLst>
            </p:cNvPr>
            <p:cNvSpPr/>
            <p:nvPr/>
          </p:nvSpPr>
          <p:spPr bwMode="auto">
            <a:xfrm>
              <a:off x="5519322" y="6036247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60" name="Speech Bubble: Oval 37">
              <a:extLst>
                <a:ext uri="{FF2B5EF4-FFF2-40B4-BE49-F238E27FC236}">
                  <a16:creationId xmlns:a16="http://schemas.microsoft.com/office/drawing/2014/main" id="{963B906C-6A42-500B-906B-4227146540AA}"/>
                </a:ext>
              </a:extLst>
            </p:cNvPr>
            <p:cNvSpPr/>
            <p:nvPr/>
          </p:nvSpPr>
          <p:spPr bwMode="auto">
            <a:xfrm rot="2558559">
              <a:off x="6750015" y="6265576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62" name="Speech Bubble: Oval 38">
              <a:extLst>
                <a:ext uri="{FF2B5EF4-FFF2-40B4-BE49-F238E27FC236}">
                  <a16:creationId xmlns:a16="http://schemas.microsoft.com/office/drawing/2014/main" id="{352AA59A-885B-C32E-1D04-58F2BEFC80EA}"/>
                </a:ext>
              </a:extLst>
            </p:cNvPr>
            <p:cNvSpPr/>
            <p:nvPr/>
          </p:nvSpPr>
          <p:spPr bwMode="auto">
            <a:xfrm rot="20723762">
              <a:off x="5729294" y="5264675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CF6E28E-6F43-25A9-BF88-E09546B7CFDD}"/>
                </a:ext>
              </a:extLst>
            </p:cNvPr>
            <p:cNvSpPr txBox="1"/>
            <p:nvPr/>
          </p:nvSpPr>
          <p:spPr>
            <a:xfrm>
              <a:off x="5252420" y="6352268"/>
              <a:ext cx="352661" cy="3957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914367">
                <a:defRPr/>
              </a:pPr>
              <a:r>
                <a:rPr lang="en-US" sz="1600">
                  <a:solidFill>
                    <a:srgbClr val="000000"/>
                  </a:solidFill>
                  <a:latin typeface="Segoe UI"/>
                </a:rPr>
                <a:t>🤵</a:t>
              </a:r>
            </a:p>
          </p:txBody>
        </p:sp>
        <p:sp>
          <p:nvSpPr>
            <p:cNvPr id="65" name="Speech Bubble: Oval 40">
              <a:extLst>
                <a:ext uri="{FF2B5EF4-FFF2-40B4-BE49-F238E27FC236}">
                  <a16:creationId xmlns:a16="http://schemas.microsoft.com/office/drawing/2014/main" id="{A94B4807-0742-BF9A-840D-197CAD73CDC9}"/>
                </a:ext>
              </a:extLst>
            </p:cNvPr>
            <p:cNvSpPr/>
            <p:nvPr/>
          </p:nvSpPr>
          <p:spPr bwMode="auto">
            <a:xfrm>
              <a:off x="7158387" y="5383525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66" name="Speech Bubble: Oval 41">
              <a:extLst>
                <a:ext uri="{FF2B5EF4-FFF2-40B4-BE49-F238E27FC236}">
                  <a16:creationId xmlns:a16="http://schemas.microsoft.com/office/drawing/2014/main" id="{AF0C3423-D04F-7EAA-14AA-E806E84378FD}"/>
                </a:ext>
              </a:extLst>
            </p:cNvPr>
            <p:cNvSpPr/>
            <p:nvPr/>
          </p:nvSpPr>
          <p:spPr bwMode="auto">
            <a:xfrm rot="1270868">
              <a:off x="5857681" y="6473168"/>
              <a:ext cx="354776" cy="237700"/>
            </a:xfrm>
            <a:prstGeom prst="wedgeEllipseCallout">
              <a:avLst>
                <a:gd name="adj1" fmla="val -56194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67" name="Speech Bubble: Oval 42">
              <a:extLst>
                <a:ext uri="{FF2B5EF4-FFF2-40B4-BE49-F238E27FC236}">
                  <a16:creationId xmlns:a16="http://schemas.microsoft.com/office/drawing/2014/main" id="{2167BBDA-0547-0152-82F5-79B53E5710FE}"/>
                </a:ext>
              </a:extLst>
            </p:cNvPr>
            <p:cNvSpPr/>
            <p:nvPr/>
          </p:nvSpPr>
          <p:spPr bwMode="auto">
            <a:xfrm>
              <a:off x="4043234" y="5812894"/>
              <a:ext cx="354776" cy="237700"/>
            </a:xfrm>
            <a:prstGeom prst="wedgeEllipseCallout">
              <a:avLst>
                <a:gd name="adj1" fmla="val 34629"/>
                <a:gd name="adj2" fmla="val 68056"/>
              </a:avLst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noFill/>
            </a:ln>
          </p:spPr>
          <p:txBody>
            <a:bodyPr wrap="square" lIns="146957" tIns="25718" rIns="146957" bIns="27432" rtlCol="0" anchor="ctr" anchorCtr="0">
              <a:noAutofit/>
            </a:bodyPr>
            <a:lstStyle/>
            <a:p>
              <a:pPr algn="ctr" defTabSz="2275850" fontAlgn="base">
                <a:spcBef>
                  <a:spcPct val="0"/>
                </a:spcBef>
                <a:spcAft>
                  <a:spcPct val="0"/>
                </a:spcAft>
                <a:tabLst>
                  <a:tab pos="3701239" algn="l"/>
                </a:tabLst>
                <a:defRPr/>
              </a:pPr>
              <a:endParaRPr lang="en-US" sz="2000" err="1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9845D72-9C2D-B2C8-6977-7268338EC1C5}"/>
                </a:ext>
              </a:extLst>
            </p:cNvPr>
            <p:cNvSpPr txBox="1"/>
            <p:nvPr/>
          </p:nvSpPr>
          <p:spPr>
            <a:xfrm>
              <a:off x="4097442" y="5353760"/>
              <a:ext cx="529978" cy="494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>
                <a:defRPr/>
              </a:pPr>
              <a:r>
                <a:rPr lang="en-US" sz="1400">
                  <a:solidFill>
                    <a:srgbClr val="000000"/>
                  </a:solidFill>
                  <a:latin typeface="Segoe UI"/>
                </a:rPr>
                <a:t>📈 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9F87813-AEE3-5F49-9A6C-2C8B014FF50F}"/>
                </a:ext>
              </a:extLst>
            </p:cNvPr>
            <p:cNvSpPr txBox="1"/>
            <p:nvPr/>
          </p:nvSpPr>
          <p:spPr>
            <a:xfrm>
              <a:off x="6177370" y="5524424"/>
              <a:ext cx="529978" cy="494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>
                <a:defRPr/>
              </a:pPr>
              <a:r>
                <a:rPr lang="en-US" sz="1400">
                  <a:solidFill>
                    <a:srgbClr val="000000"/>
                  </a:solidFill>
                  <a:latin typeface="Segoe UI"/>
                </a:rPr>
                <a:t>📈 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F242897-6801-F630-DF7E-58F01FE17D07}"/>
                </a:ext>
              </a:extLst>
            </p:cNvPr>
            <p:cNvSpPr txBox="1"/>
            <p:nvPr/>
          </p:nvSpPr>
          <p:spPr>
            <a:xfrm>
              <a:off x="5021812" y="5925469"/>
              <a:ext cx="529978" cy="494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>
                <a:defRPr/>
              </a:pPr>
              <a:r>
                <a:rPr lang="en-US" sz="1400">
                  <a:solidFill>
                    <a:srgbClr val="000000"/>
                  </a:solidFill>
                  <a:latin typeface="Segoe UI"/>
                </a:rPr>
                <a:t>📈 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5A085E-C167-7B1F-5AC3-E9507CD46B4E}"/>
                </a:ext>
              </a:extLst>
            </p:cNvPr>
            <p:cNvSpPr txBox="1"/>
            <p:nvPr/>
          </p:nvSpPr>
          <p:spPr>
            <a:xfrm>
              <a:off x="7100072" y="5758121"/>
              <a:ext cx="529978" cy="494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>
                <a:defRPr/>
              </a:pPr>
              <a:r>
                <a:rPr lang="en-US" sz="1400">
                  <a:solidFill>
                    <a:srgbClr val="000000"/>
                  </a:solidFill>
                  <a:latin typeface="Segoe UI"/>
                </a:rPr>
                <a:t>📈 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4E79006-3426-516C-8FD2-932FDC34A8B0}"/>
                </a:ext>
              </a:extLst>
            </p:cNvPr>
            <p:cNvSpPr txBox="1"/>
            <p:nvPr/>
          </p:nvSpPr>
          <p:spPr>
            <a:xfrm>
              <a:off x="5221020" y="5057572"/>
              <a:ext cx="529978" cy="494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367">
                <a:defRPr/>
              </a:pPr>
              <a:r>
                <a:rPr lang="en-US" sz="1400">
                  <a:solidFill>
                    <a:srgbClr val="000000"/>
                  </a:solidFill>
                  <a:latin typeface="Segoe UI"/>
                </a:rPr>
                <a:t>📈 </a:t>
              </a: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67F76B-A0DE-A9ED-8FCF-6E45D93B5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4" idx="1"/>
            <a:endCxn id="47" idx="3"/>
          </p:cNvCxnSpPr>
          <p:nvPr/>
        </p:nvCxnSpPr>
        <p:spPr>
          <a:xfrm flipH="1">
            <a:off x="9520170" y="5211407"/>
            <a:ext cx="499078" cy="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arrow" w="lg" len="sm"/>
            <a:tailEnd type="none" w="lg" len="sm"/>
          </a:ln>
          <a:effectLst/>
        </p:spPr>
      </p:cxn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CD3DEF3E-2ECF-35C3-95D2-87FD55886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012668" y="4368959"/>
            <a:ext cx="1370135" cy="1704838"/>
          </a:xfrm>
          <a:prstGeom prst="roundRect">
            <a:avLst>
              <a:gd name="adj" fmla="val 6472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0" rIns="0" bIns="183696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gradFill>
                <a:gsLst>
                  <a:gs pos="15596">
                    <a:srgbClr val="000000"/>
                  </a:gs>
                  <a:gs pos="44000">
                    <a:srgbClr val="000000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/>
            </a:endParaRPr>
          </a:p>
        </p:txBody>
      </p:sp>
      <p:sp>
        <p:nvSpPr>
          <p:cNvPr id="44" name="Rectangle: Rounded Corners 62">
            <a:extLst>
              <a:ext uri="{FF2B5EF4-FFF2-40B4-BE49-F238E27FC236}">
                <a16:creationId xmlns:a16="http://schemas.microsoft.com/office/drawing/2014/main" id="{2027FC6C-FC48-D142-DECB-1C3036A749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0019248" y="4365994"/>
            <a:ext cx="1370135" cy="1690825"/>
          </a:xfrm>
          <a:prstGeom prst="roundRect">
            <a:avLst>
              <a:gd name="adj" fmla="val 4676"/>
            </a:avLst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output</a:t>
            </a:r>
          </a:p>
        </p:txBody>
      </p:sp>
      <p:sp useBgFill="1">
        <p:nvSpPr>
          <p:cNvPr id="84" name="Oval 83">
            <a:extLst>
              <a:ext uri="{FF2B5EF4-FFF2-40B4-BE49-F238E27FC236}">
                <a16:creationId xmlns:a16="http://schemas.microsoft.com/office/drawing/2014/main" id="{0EEE9D65-F633-8EFA-A3B4-39115B251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2369633" y="2888422"/>
            <a:ext cx="1106424" cy="1106424"/>
          </a:xfrm>
          <a:prstGeom prst="ellipse">
            <a:avLst/>
          </a:prstGeom>
          <a:ln w="12700" cap="rnd">
            <a:noFill/>
          </a:ln>
        </p:spPr>
        <p:txBody>
          <a:bodyPr wrap="none" lIns="0" tIns="0" rIns="0" bIns="45720" rtlCol="0" anchor="ctr" anchorCtr="0">
            <a:noAutofit/>
          </a:bodyPr>
          <a:lstStyle/>
          <a:p>
            <a:pPr algn="ctr" defTabSz="914437" fontAlgn="base">
              <a:spcBef>
                <a:spcPts val="1200"/>
              </a:spcBef>
              <a:spcAft>
                <a:spcPct val="0"/>
              </a:spcAft>
              <a:tabLst>
                <a:tab pos="1487158" algn="l"/>
              </a:tabLst>
              <a:defRPr/>
            </a:pPr>
            <a:endParaRPr lang="en-US" sz="1600" b="1" dirty="0">
              <a:ln w="3175">
                <a:noFill/>
              </a:ln>
              <a:gradFill>
                <a:gsLst>
                  <a:gs pos="3670">
                    <a:prstClr val="black"/>
                  </a:gs>
                  <a:gs pos="25688">
                    <a:prstClr val="black"/>
                  </a:gs>
                </a:gsLst>
                <a:path path="circle">
                  <a:fillToRect l="100000" t="100000"/>
                </a:path>
              </a:gradFill>
              <a:latin typeface="Segoe Sans Display Semibold" pitchFamily="2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17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3" grpId="0"/>
      <p:bldP spid="25" grpId="0"/>
      <p:bldP spid="26" grpId="0"/>
      <p:bldP spid="28" grpId="0" animBg="1"/>
      <p:bldP spid="29" grpId="0"/>
      <p:bldP spid="31" grpId="0"/>
      <p:bldP spid="32" grpId="0"/>
      <p:bldP spid="24" grpId="0" animBg="1"/>
      <p:bldP spid="89" grpId="0"/>
      <p:bldP spid="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1F50-D8FC-47A4-E14B-2DE655EC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The Problem in Today’s GenAI Developer Ecosystem</a:t>
            </a:r>
            <a:endParaRPr lang="en-IN" dirty="0"/>
          </a:p>
        </p:txBody>
      </p:sp>
      <p:pic>
        <p:nvPicPr>
          <p:cNvPr id="2050" name="Picture 2" descr="LangChain vs LangGraph: Choosing the Right Framework for Your AI Workflows  in 2025 🤖⚡ | by Vinod Rane | Medium">
            <a:extLst>
              <a:ext uri="{FF2B5EF4-FFF2-40B4-BE49-F238E27FC236}">
                <a16:creationId xmlns:a16="http://schemas.microsoft.com/office/drawing/2014/main" id="{0397AFCA-0AD7-DF15-58E5-4D71592D6A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114" y="1753706"/>
            <a:ext cx="49919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E2C10D-FFD0-6258-8F52-43973DA23773}"/>
              </a:ext>
            </a:extLst>
          </p:cNvPr>
          <p:cNvSpPr txBox="1"/>
          <p:nvPr/>
        </p:nvSpPr>
        <p:spPr>
          <a:xfrm>
            <a:off x="260912" y="1845489"/>
            <a:ext cx="61696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The Problem in Today’s GenAI Developer Ecosystem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Fragmented tools</a:t>
            </a:r>
            <a:r>
              <a:rPr lang="en-IN" dirty="0"/>
              <a:t> for LLMs, RAG, agents, and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No standard interface</a:t>
            </a:r>
            <a:r>
              <a:rPr lang="en-IN" dirty="0"/>
              <a:t> for inputs, outputs, or serving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Prototype ≠ production</a:t>
            </a:r>
            <a:r>
              <a:rPr lang="en-IN" dirty="0"/>
              <a:t> (hard to deploy, monitor, version)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Weak governance</a:t>
            </a:r>
            <a:r>
              <a:rPr lang="en-IN" dirty="0"/>
              <a:t> over data, models, and prompts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Poor integration</a:t>
            </a:r>
            <a:r>
              <a:rPr lang="en-IN" dirty="0"/>
              <a:t> with enterprise data platforms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E6FE1-45D6-93D6-B1F4-DB21E35AFE49}"/>
              </a:ext>
            </a:extLst>
          </p:cNvPr>
          <p:cNvSpPr txBox="1"/>
          <p:nvPr/>
        </p:nvSpPr>
        <p:spPr>
          <a:xfrm>
            <a:off x="260912" y="4433768"/>
            <a:ext cx="4991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GenAI is easy to demo, but hard to scale, govern, and productionize.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248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4416-1BC3-1B43-369F-2DCADFEB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312" y="-2876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Introducing </a:t>
            </a:r>
            <a:r>
              <a:rPr lang="en-US" dirty="0" err="1"/>
              <a:t>LangChain</a:t>
            </a:r>
            <a:r>
              <a:rPr lang="en-US" dirty="0"/>
              <a:t>…………….</a:t>
            </a:r>
            <a:endParaRPr lang="en-IN" dirty="0"/>
          </a:p>
        </p:txBody>
      </p:sp>
      <p:pic>
        <p:nvPicPr>
          <p:cNvPr id="4" name="Picture 2" descr="LangChain v1 is now generally available! | Microsoft Community Hub">
            <a:extLst>
              <a:ext uri="{FF2B5EF4-FFF2-40B4-BE49-F238E27FC236}">
                <a16:creationId xmlns:a16="http://schemas.microsoft.com/office/drawing/2014/main" id="{DBEA1FB1-A4EE-831F-771C-3A0C689447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580" y="0"/>
            <a:ext cx="1851420" cy="88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841FD9-D37B-7E4E-36E0-CDB422857BBF}"/>
              </a:ext>
            </a:extLst>
          </p:cNvPr>
          <p:cNvSpPr txBox="1"/>
          <p:nvPr/>
        </p:nvSpPr>
        <p:spPr>
          <a:xfrm>
            <a:off x="232882" y="1408155"/>
            <a:ext cx="6097712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LangChain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 is a software framework designed to help create applications that utilize large language models (LLMs). 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97F43E-CE26-29CF-31F0-FD0841F66206}"/>
              </a:ext>
            </a:extLst>
          </p:cNvPr>
          <p:cNvSpPr txBox="1"/>
          <p:nvPr/>
        </p:nvSpPr>
        <p:spPr>
          <a:xfrm>
            <a:off x="232882" y="3326187"/>
            <a:ext cx="6097712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LangChain's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 strength lies in its wide array of integrations and capabilities. It includes API wrappers, web scraping subsystems, code analysis tools, document summarization tools, and more.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9CE49-7716-920F-3EBC-60D3D5942E94}"/>
              </a:ext>
            </a:extLst>
          </p:cNvPr>
          <p:cNvSpPr txBox="1"/>
          <p:nvPr/>
        </p:nvSpPr>
        <p:spPr>
          <a:xfrm>
            <a:off x="232882" y="5521218"/>
            <a:ext cx="6097712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It also supports large language models from OpenAI, Anthropic, </a:t>
            </a:r>
            <a:r>
              <a:rPr lang="en-US" b="0" i="0" dirty="0" err="1">
                <a:solidFill>
                  <a:srgbClr val="1B3139"/>
                </a:solidFill>
                <a:effectLst/>
                <a:latin typeface="DM Sans" pitchFamily="2" charset="0"/>
              </a:rPr>
              <a:t>HuggingFace</a:t>
            </a:r>
            <a:r>
              <a:rPr lang="en-US" b="0" i="0" dirty="0">
                <a:solidFill>
                  <a:srgbClr val="1B3139"/>
                </a:solidFill>
                <a:effectLst/>
                <a:latin typeface="DM Sans" pitchFamily="2" charset="0"/>
              </a:rPr>
              <a:t>, etc. out of the box along with various data sources and types.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10F2D1-C47E-61A5-5DC3-C7A8B4666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757" y="1064722"/>
            <a:ext cx="4522929" cy="2261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1D8656-A05F-C72C-7612-07DEB89CE1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393" y="3681617"/>
            <a:ext cx="4627655" cy="29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43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EE91-8EB8-A9DB-1410-30A7B76E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2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 err="1"/>
              <a:t>LangChain</a:t>
            </a:r>
            <a:r>
              <a:rPr lang="en-US" dirty="0"/>
              <a:t> Agent Engineering Stack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DE111-7ED5-1DB9-E32B-1C7ECDE2FB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146" y="1228351"/>
            <a:ext cx="7407707" cy="52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2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5CAF-CE8F-FE02-D975-C0512D76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35"/>
            <a:ext cx="10515600" cy="1325563"/>
          </a:xfrm>
        </p:spPr>
        <p:txBody>
          <a:bodyPr/>
          <a:lstStyle/>
          <a:p>
            <a:r>
              <a:rPr lang="en-US" dirty="0" err="1"/>
              <a:t>LangChain</a:t>
            </a:r>
            <a:r>
              <a:rPr lang="en-US" dirty="0"/>
              <a:t> + Databricks = Life Made Easy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  <p:pic>
        <p:nvPicPr>
          <p:cNvPr id="4098" name="Picture 2" descr="Question Answer Chatbot with RAG, and LLMs on Databricks | by Vikram Pande  | Medium">
            <a:extLst>
              <a:ext uri="{FF2B5EF4-FFF2-40B4-BE49-F238E27FC236}">
                <a16:creationId xmlns:a16="http://schemas.microsoft.com/office/drawing/2014/main" id="{393965F7-36EC-DD8A-5664-B5313D4E0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590" y="1005576"/>
            <a:ext cx="8726826" cy="566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502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229</Words>
  <Application>Microsoft Office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Aptos Display</vt:lpstr>
      <vt:lpstr>Arial</vt:lpstr>
      <vt:lpstr>DM Sans</vt:lpstr>
      <vt:lpstr>Segoe Sans Display</vt:lpstr>
      <vt:lpstr>Segoe Sans Display Semibold</vt:lpstr>
      <vt:lpstr>Segoe UI</vt:lpstr>
      <vt:lpstr>Segoe UI Semibold</vt:lpstr>
      <vt:lpstr>Segoe UI Variable Small Semibol</vt:lpstr>
      <vt:lpstr>Wingdings</vt:lpstr>
      <vt:lpstr>Office Theme</vt:lpstr>
      <vt:lpstr>LangChain and Databricks</vt:lpstr>
      <vt:lpstr>De-mystifying AI App Development</vt:lpstr>
      <vt:lpstr>The Problem in Today’s GenAI Developer Ecosystem</vt:lpstr>
      <vt:lpstr>Introducing LangChain…………….</vt:lpstr>
      <vt:lpstr>The LangChain Agent Engineering Stack</vt:lpstr>
      <vt:lpstr>LangChain + Databricks = Life Made Easy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2026-01-12T19:58:35Z</dcterms:created>
  <dcterms:modified xsi:type="dcterms:W3CDTF">2026-01-12T20:11:09Z</dcterms:modified>
</cp:coreProperties>
</file>