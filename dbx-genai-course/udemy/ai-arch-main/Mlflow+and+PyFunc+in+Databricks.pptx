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4095-62E8-70C6-CE0D-6C6CF8858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58FD9-A33F-7B49-2999-1B811F00C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A75A-121B-54BC-F7D3-69A964B6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746BF-2386-17B6-C283-5EE7F6A97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8FF9-9519-355C-D4E6-829701D0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1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9B02-89F7-D61F-DC1D-607AE15F4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18D7-170C-3EE6-C088-C75240574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94E31-D38B-633F-206F-C8882FCC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6260-EB4C-DDE0-1482-4CF70AEC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C87C0-2380-3826-1228-510CAE6F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108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8DE0-88D7-7E06-63C4-86911081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1E59F-DA1A-D959-81D3-49BC7DCC9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B2CB1-4758-D2CA-297C-ECCA765F0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8C444-12F2-0748-C10D-733AC73D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139A4-0200-8AEF-F434-B87ED7C8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86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A171-F44E-2C08-599A-6E8EF1EE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86973-CDDB-68FA-C26C-2B2F13773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776D3-3C18-A2CF-7C2D-B4E13F7E7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8C8B4-15EE-0BE4-3730-543A2A73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AB4C8-2794-1BB9-9BB4-F7DDA7EC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83CE7-8CEE-D441-2E70-111BBA76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7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F2ADB-FC7B-BA8B-0A45-27B75C5B7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1F049-4E6E-4985-B5CB-1374BE790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F5751-638E-0F76-7B13-8CBB52D53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33E47-73E6-11BA-15CE-4BFBE23BB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EFFBF9-922C-8B30-7DD8-EF888CD64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D8DD9-4A47-4612-9AAE-51B7207B4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01332-66D6-D3E1-4B60-80A55E23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B2C83B-CA9F-132C-E401-327A01A7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2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BEE16-A8CB-079A-CB31-CD5E3F7A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F0D9C7-53A3-D713-5FF4-BD733164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6D356-7B66-F0E5-A962-E55C13F3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59F7C-E75B-C2EB-4612-B5AFE292C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99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3AC3F-6928-C8AC-C030-0905409B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97974-AFF7-3FF0-331A-48AC410CD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AAA27-D25D-C24F-4019-0226F36F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48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E1D6-1B19-16A2-3062-FE91CA2D1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2305E-0A75-483D-9120-D87C5AB7A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6A23A-B5A3-316F-F7D0-7161F8AB4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259B8-FB49-B7CA-9A8E-89FBD14C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979E4-C312-C61E-9B87-B77ACEE9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2C484-CAC0-C482-A652-73DE79906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1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A5FC-A907-6001-672C-0906F9F1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5CB56-6798-E273-E161-35B23D2FB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6BF0D-2219-0F91-7D7E-4AE698EBE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B1AA3-8387-D0DD-89F2-959A35AC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A018F-7B2F-16D8-2147-A72BD9A4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072F5-A754-E8A0-526F-3F730225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12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D95B-1EB3-A95E-654F-E88BD1DF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A184E-5461-81C2-EFBF-42448B2B8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E7111-3608-D523-5A27-D6046E98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BE652-2757-FEB5-1796-3F47B4CDA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B11B2-12AF-44D7-CD54-0C258B7B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5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A41A3-E788-4FB0-C2E2-F3BBC21BB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449CF-087C-3ABC-09B0-1BC402239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54430-4F9B-5010-D63F-2CDE94E2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C014-80AD-2FAF-05E8-B3A15F9A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EEB48-6D49-B25C-2432-F19D27C2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54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83647-6135-0880-9FC9-2DFA5598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E41F-05AD-C181-D923-E46FCE80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5B72E-10C7-0A27-A452-A1D8614F5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4C6DC-3686-4AF2-AC5B-D01690A8D204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9A483-9EDD-35B8-26D8-39DCCF3C3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8B4D7-1E4C-00FA-CFB7-FF2E40B74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20B1C-C75E-447E-BBDD-1CD07DADC1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4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B35E-6317-D498-AD64-CC96490F5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519" y="2488434"/>
            <a:ext cx="10578957" cy="2387600"/>
          </a:xfrm>
        </p:spPr>
        <p:txBody>
          <a:bodyPr/>
          <a:lstStyle/>
          <a:p>
            <a:r>
              <a:rPr lang="en-US" dirty="0" err="1"/>
              <a:t>Mlflow</a:t>
            </a:r>
            <a:r>
              <a:rPr lang="en-US" dirty="0"/>
              <a:t> and </a:t>
            </a:r>
            <a:r>
              <a:rPr lang="en-US" dirty="0" err="1"/>
              <a:t>PyFunc</a:t>
            </a:r>
            <a:r>
              <a:rPr lang="en-US" dirty="0"/>
              <a:t> in Databricks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4E47A-3EFB-8DA6-B4FF-639FFC469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5040420"/>
            <a:ext cx="9144000" cy="1655762"/>
          </a:xfrm>
        </p:spPr>
        <p:txBody>
          <a:bodyPr/>
          <a:lstStyle/>
          <a:p>
            <a:r>
              <a:rPr lang="en-US" dirty="0"/>
              <a:t>(Building custom AI models and engines)</a:t>
            </a:r>
            <a:endParaRPr lang="en-IN" dirty="0"/>
          </a:p>
        </p:txBody>
      </p:sp>
      <p:pic>
        <p:nvPicPr>
          <p:cNvPr id="2050" name="Picture 2" descr="A simple introduction to MLFlow. Some of you might have heard a… | by  Hitoruna | Medium">
            <a:extLst>
              <a:ext uri="{FF2B5EF4-FFF2-40B4-BE49-F238E27FC236}">
                <a16:creationId xmlns:a16="http://schemas.microsoft.com/office/drawing/2014/main" id="{CA3E33A6-5826-C998-DCBB-43B3D55E6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537" y="1352498"/>
            <a:ext cx="50292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Func: The domain name PyFunc.com is for sale">
            <a:extLst>
              <a:ext uri="{FF2B5EF4-FFF2-40B4-BE49-F238E27FC236}">
                <a16:creationId xmlns:a16="http://schemas.microsoft.com/office/drawing/2014/main" id="{B499E842-CED6-139A-0985-8F5967A6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588" y="1416871"/>
            <a:ext cx="357187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63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1C96-3422-94BF-9D40-28DF0ABB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21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</a:t>
            </a:r>
            <a:r>
              <a:rPr lang="en-US" dirty="0" err="1"/>
              <a:t>MLflow</a:t>
            </a:r>
            <a:r>
              <a:rPr lang="en-US" dirty="0"/>
              <a:t>?</a:t>
            </a:r>
            <a:endParaRPr lang="en-IN" dirty="0"/>
          </a:p>
        </p:txBody>
      </p:sp>
      <p:pic>
        <p:nvPicPr>
          <p:cNvPr id="1026" name="Picture 2" descr="MLflow Model Serving on Databricks | Databricks Blog">
            <a:extLst>
              <a:ext uri="{FF2B5EF4-FFF2-40B4-BE49-F238E27FC236}">
                <a16:creationId xmlns:a16="http://schemas.microsoft.com/office/drawing/2014/main" id="{11EF7B7D-E082-8D25-7866-4277E2F8F9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2431" y="1877217"/>
            <a:ext cx="6263811" cy="328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1E5C49-F09C-E9CD-8E75-7A4949CE6488}"/>
              </a:ext>
            </a:extLst>
          </p:cNvPr>
          <p:cNvSpPr txBox="1"/>
          <p:nvPr/>
        </p:nvSpPr>
        <p:spPr>
          <a:xfrm>
            <a:off x="100172" y="1342301"/>
            <a:ext cx="5612259" cy="485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b="1" dirty="0" err="1">
                <a:solidFill>
                  <a:srgbClr val="1B3139"/>
                </a:solidFill>
                <a:effectLst/>
              </a:rPr>
              <a:t>MLflow</a:t>
            </a:r>
            <a:r>
              <a:rPr lang="en-US" b="1" dirty="0">
                <a:solidFill>
                  <a:srgbClr val="1B3139"/>
                </a:solidFill>
                <a:effectLst/>
              </a:rPr>
              <a:t> is an open source platform </a:t>
            </a:r>
            <a:r>
              <a:rPr lang="en-US" b="0" i="0" dirty="0">
                <a:solidFill>
                  <a:srgbClr val="1B3139"/>
                </a:solidFill>
                <a:effectLst/>
              </a:rPr>
              <a:t>for developing models and generative AI applications. It has the following primary components: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B3139"/>
                </a:solidFill>
                <a:effectLst/>
              </a:rPr>
              <a:t>Tracking</a:t>
            </a:r>
            <a:r>
              <a:rPr lang="en-US" b="0" i="0" dirty="0">
                <a:solidFill>
                  <a:srgbClr val="1B3139"/>
                </a:solidFill>
                <a:effectLst/>
              </a:rPr>
              <a:t>: Allows you to track experiments to record and compare parameters and results.</a:t>
            </a:r>
          </a:p>
          <a:p>
            <a:pPr algn="l">
              <a:spcBef>
                <a:spcPts val="3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B3139"/>
                </a:solidFill>
                <a:effectLst/>
              </a:rPr>
              <a:t>Models</a:t>
            </a:r>
            <a:r>
              <a:rPr lang="en-US" b="0" i="0" dirty="0">
                <a:solidFill>
                  <a:srgbClr val="1B3139"/>
                </a:solidFill>
                <a:effectLst/>
              </a:rPr>
              <a:t>: Allow you to manage and deploy models from various ML libraries to various model serving and inference platforms.</a:t>
            </a:r>
          </a:p>
          <a:p>
            <a:pPr algn="l">
              <a:spcBef>
                <a:spcPts val="3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B3139"/>
                </a:solidFill>
                <a:effectLst/>
              </a:rPr>
              <a:t>Model Registry</a:t>
            </a:r>
            <a:r>
              <a:rPr lang="en-US" b="0" i="0" dirty="0">
                <a:solidFill>
                  <a:srgbClr val="1B3139"/>
                </a:solidFill>
                <a:effectLst/>
              </a:rPr>
              <a:t>: Allows you to manage the model deployment process from staging to production, with model versioning and annotation capabilities.</a:t>
            </a:r>
          </a:p>
          <a:p>
            <a:pPr algn="l">
              <a:spcBef>
                <a:spcPts val="3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B3139"/>
                </a:solidFill>
                <a:effectLst/>
              </a:rPr>
              <a:t>AI agent evaluation and tracing</a:t>
            </a:r>
            <a:r>
              <a:rPr lang="en-US" b="0" i="0" dirty="0">
                <a:solidFill>
                  <a:srgbClr val="1B3139"/>
                </a:solidFill>
                <a:effectLst/>
              </a:rPr>
              <a:t>: Allows you to develop high-quality AI agents by helping you compare, evaluate, and troubleshoot agents.</a:t>
            </a:r>
          </a:p>
        </p:txBody>
      </p:sp>
    </p:spTree>
    <p:extLst>
      <p:ext uri="{BB962C8B-B14F-4D97-AF65-F5344CB8AC3E}">
        <p14:creationId xmlns:p14="http://schemas.microsoft.com/office/powerpoint/2010/main" val="1258803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1C7B-BA84-1FAD-D387-DD9D6C90D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9406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Mlflow</a:t>
            </a:r>
            <a:r>
              <a:rPr lang="en-US" dirty="0"/>
              <a:t> Flavors</a:t>
            </a:r>
            <a:endParaRPr lang="en-IN" dirty="0"/>
          </a:p>
        </p:txBody>
      </p:sp>
      <p:pic>
        <p:nvPicPr>
          <p:cNvPr id="4098" name="Picture 2" descr="MLflow supports a wide range of flavors: ➡️ Classic ML ...">
            <a:extLst>
              <a:ext uri="{FF2B5EF4-FFF2-40B4-BE49-F238E27FC236}">
                <a16:creationId xmlns:a16="http://schemas.microsoft.com/office/drawing/2014/main" id="{CCAA2C8D-14E6-EE0E-C4A3-C3D5A533C4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978" y="1940100"/>
            <a:ext cx="5893103" cy="351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73D6DF-3D7C-8AD0-9C75-E505E9D63361}"/>
              </a:ext>
            </a:extLst>
          </p:cNvPr>
          <p:cNvSpPr txBox="1"/>
          <p:nvPr/>
        </p:nvSpPr>
        <p:spPr>
          <a:xfrm>
            <a:off x="129266" y="1260300"/>
            <a:ext cx="60977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 err="1"/>
              <a:t>MLflow</a:t>
            </a:r>
            <a:r>
              <a:rPr lang="en-US" b="1" dirty="0"/>
              <a:t> Flavors – Big Picture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MLflow</a:t>
            </a:r>
            <a:r>
              <a:rPr lang="en-US" b="1" dirty="0"/>
              <a:t> Flavors</a:t>
            </a:r>
            <a:r>
              <a:rPr lang="en-US" dirty="0"/>
              <a:t> define </a:t>
            </a:r>
            <a:r>
              <a:rPr lang="en-US" b="1" dirty="0"/>
              <a:t>how different types of models are packaged, logged, and served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flavor standardizes: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a model is saved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inputs are passed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 outputs are returned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consistent model deployment</a:t>
            </a:r>
            <a:r>
              <a:rPr lang="en-US" dirty="0"/>
              <a:t> across tools and teams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AA412-985E-1F1B-73A0-5EB420C36053}"/>
              </a:ext>
            </a:extLst>
          </p:cNvPr>
          <p:cNvSpPr txBox="1"/>
          <p:nvPr/>
        </p:nvSpPr>
        <p:spPr>
          <a:xfrm>
            <a:off x="154112" y="5136035"/>
            <a:ext cx="5044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Prebuilt </a:t>
            </a:r>
            <a:r>
              <a:rPr lang="en-US" b="1" i="1" dirty="0" err="1"/>
              <a:t>mlflow</a:t>
            </a:r>
            <a:r>
              <a:rPr lang="en-US" b="1" i="1" dirty="0"/>
              <a:t> flavors are all fine and good, but what if I want to go the completely custom route and build my own flavor?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72348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1369E-1DAF-DA9F-9F9C-3F257662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80" y="-205483"/>
            <a:ext cx="1220998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PyFunc</a:t>
            </a:r>
            <a:r>
              <a:rPr lang="en-US" sz="4000" dirty="0"/>
              <a:t> – Solution to Building Custom Flavors with </a:t>
            </a:r>
            <a:r>
              <a:rPr lang="en-US" sz="4000" dirty="0" err="1"/>
              <a:t>MLflow</a:t>
            </a:r>
            <a:endParaRPr lang="en-IN" sz="4000" dirty="0"/>
          </a:p>
        </p:txBody>
      </p:sp>
      <p:pic>
        <p:nvPicPr>
          <p:cNvPr id="4" name="Picture 4" descr="PyFunc: The domain name PyFunc.com is for sale">
            <a:extLst>
              <a:ext uri="{FF2B5EF4-FFF2-40B4-BE49-F238E27FC236}">
                <a16:creationId xmlns:a16="http://schemas.microsoft.com/office/drawing/2014/main" id="{94B0F560-DCAE-C12F-8C65-4D51A2F48E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164" y="963922"/>
            <a:ext cx="4877565" cy="2926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Custom MLflow Models with mlflow.pyfunc | MLflow">
            <a:extLst>
              <a:ext uri="{FF2B5EF4-FFF2-40B4-BE49-F238E27FC236}">
                <a16:creationId xmlns:a16="http://schemas.microsoft.com/office/drawing/2014/main" id="{FC41E42D-42F4-37C1-8B6D-3A9615AAC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3028" y="3890461"/>
            <a:ext cx="4971836" cy="2606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AD1F09-E256-6E38-4E09-1A179C47F47E}"/>
              </a:ext>
            </a:extLst>
          </p:cNvPr>
          <p:cNvSpPr txBox="1"/>
          <p:nvPr/>
        </p:nvSpPr>
        <p:spPr>
          <a:xfrm>
            <a:off x="443455" y="1074110"/>
            <a:ext cx="5566928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(Recap from Previous Slide)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MLflow</a:t>
            </a:r>
            <a:r>
              <a:rPr lang="en-US" dirty="0"/>
              <a:t> supports </a:t>
            </a:r>
            <a:r>
              <a:rPr lang="en-US" b="1" dirty="0"/>
              <a:t>many built-in flavors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flavor has: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input formats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output 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serving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Standardize inference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Mix ML + LLMs + agents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 one production 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559C0-4DFF-E919-0F17-70D4266B3141}"/>
              </a:ext>
            </a:extLst>
          </p:cNvPr>
          <p:cNvSpPr txBox="1"/>
          <p:nvPr/>
        </p:nvSpPr>
        <p:spPr>
          <a:xfrm>
            <a:off x="443455" y="4188208"/>
            <a:ext cx="5566928" cy="23083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Is </a:t>
            </a:r>
            <a:r>
              <a:rPr lang="en-IN" b="1" dirty="0" err="1"/>
              <a:t>PyFunc</a:t>
            </a:r>
            <a:r>
              <a:rPr lang="en-IN" b="1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PyFunc</a:t>
            </a:r>
            <a:r>
              <a:rPr lang="en-IN" dirty="0"/>
              <a:t> is </a:t>
            </a:r>
            <a:r>
              <a:rPr lang="en-IN" dirty="0" err="1"/>
              <a:t>MLflow’s</a:t>
            </a:r>
            <a:r>
              <a:rPr lang="en-IN" dirty="0"/>
              <a:t> </a:t>
            </a:r>
            <a:r>
              <a:rPr lang="en-IN" b="1" dirty="0"/>
              <a:t>generic, universal model interface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Allows you to define: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 input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 inference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Custom output format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Works for </a:t>
            </a:r>
            <a:r>
              <a:rPr lang="en-IN" b="1" dirty="0"/>
              <a:t>any model type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276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57071-0D0E-BCDA-C7D9-26389FADB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2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Understanding </a:t>
            </a:r>
            <a:r>
              <a:rPr lang="en-US" dirty="0" err="1"/>
              <a:t>PyFunc</a:t>
            </a:r>
            <a:r>
              <a:rPr lang="en-US" dirty="0"/>
              <a:t> in </a:t>
            </a:r>
            <a:r>
              <a:rPr lang="en-US" dirty="0" err="1"/>
              <a:t>MLflow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3942AB-2583-D3BC-3310-950A125A9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98" y="1184466"/>
            <a:ext cx="9461404" cy="539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1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279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Mlflow and PyFunc in Databricks</vt:lpstr>
      <vt:lpstr>What is MLflow?</vt:lpstr>
      <vt:lpstr>Mlflow Flavors</vt:lpstr>
      <vt:lpstr>PyFunc – Solution to Building Custom Flavors with MLflow</vt:lpstr>
      <vt:lpstr>Understanding PyFunc in MLflow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2026-01-12T13:59:21Z</dcterms:created>
  <dcterms:modified xsi:type="dcterms:W3CDTF">2026-01-12T14:17:15Z</dcterms:modified>
</cp:coreProperties>
</file>