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57C2AD-975F-44EB-B221-28981E297EEF}" v="21" dt="2026-01-12T12:32:51.3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6"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ljot bakshi" userId="e18f591f5991c12c" providerId="LiveId" clId="{848BE52E-FEF7-44CF-B8AB-7264220E5FAA}"/>
    <pc:docChg chg="undo custSel addSld modSld">
      <pc:chgData name="kuljot bakshi" userId="e18f591f5991c12c" providerId="LiveId" clId="{848BE52E-FEF7-44CF-B8AB-7264220E5FAA}" dt="2026-01-12T12:33:13.681" v="718" actId="1076"/>
      <pc:docMkLst>
        <pc:docMk/>
      </pc:docMkLst>
      <pc:sldChg chg="addSp delSp modSp new mod">
        <pc:chgData name="kuljot bakshi" userId="e18f591f5991c12c" providerId="LiveId" clId="{848BE52E-FEF7-44CF-B8AB-7264220E5FAA}" dt="2026-01-12T12:21:49.888" v="246" actId="1076"/>
        <pc:sldMkLst>
          <pc:docMk/>
          <pc:sldMk cId="3925131384" sldId="258"/>
        </pc:sldMkLst>
        <pc:spChg chg="mod">
          <ac:chgData name="kuljot bakshi" userId="e18f591f5991c12c" providerId="LiveId" clId="{848BE52E-FEF7-44CF-B8AB-7264220E5FAA}" dt="2026-01-12T12:21:47.520" v="245" actId="1076"/>
          <ac:spMkLst>
            <pc:docMk/>
            <pc:sldMk cId="3925131384" sldId="258"/>
            <ac:spMk id="2" creationId="{AF727A7D-359C-80C9-8CA1-D27280E272B6}"/>
          </ac:spMkLst>
        </pc:spChg>
        <pc:spChg chg="del">
          <ac:chgData name="kuljot bakshi" userId="e18f591f5991c12c" providerId="LiveId" clId="{848BE52E-FEF7-44CF-B8AB-7264220E5FAA}" dt="2026-01-12T12:18:55.467" v="69" actId="3680"/>
          <ac:spMkLst>
            <pc:docMk/>
            <pc:sldMk cId="3925131384" sldId="258"/>
            <ac:spMk id="3" creationId="{28C6CFBF-7CF6-97EE-DF93-B89A03F15CCB}"/>
          </ac:spMkLst>
        </pc:spChg>
        <pc:spChg chg="add del mod">
          <ac:chgData name="kuljot bakshi" userId="e18f591f5991c12c" providerId="LiveId" clId="{848BE52E-FEF7-44CF-B8AB-7264220E5FAA}" dt="2026-01-12T12:19:05.969" v="71" actId="3680"/>
          <ac:spMkLst>
            <pc:docMk/>
            <pc:sldMk cId="3925131384" sldId="258"/>
            <ac:spMk id="6" creationId="{9CAB77F6-DF80-571C-D333-4D7F212B44DD}"/>
          </ac:spMkLst>
        </pc:spChg>
        <pc:graphicFrameChg chg="add del mod ord modGraphic">
          <ac:chgData name="kuljot bakshi" userId="e18f591f5991c12c" providerId="LiveId" clId="{848BE52E-FEF7-44CF-B8AB-7264220E5FAA}" dt="2026-01-12T12:19:00.047" v="70" actId="478"/>
          <ac:graphicFrameMkLst>
            <pc:docMk/>
            <pc:sldMk cId="3925131384" sldId="258"/>
            <ac:graphicFrameMk id="4" creationId="{594F1AA7-CB8C-4975-0DFD-22FEF63D8469}"/>
          </ac:graphicFrameMkLst>
        </pc:graphicFrameChg>
        <pc:graphicFrameChg chg="add mod ord modGraphic">
          <ac:chgData name="kuljot bakshi" userId="e18f591f5991c12c" providerId="LiveId" clId="{848BE52E-FEF7-44CF-B8AB-7264220E5FAA}" dt="2026-01-12T12:21:49.888" v="246" actId="1076"/>
          <ac:graphicFrameMkLst>
            <pc:docMk/>
            <pc:sldMk cId="3925131384" sldId="258"/>
            <ac:graphicFrameMk id="7" creationId="{C4C26162-05C5-CA76-9B7C-FE5F24BEDE9A}"/>
          </ac:graphicFrameMkLst>
        </pc:graphicFrameChg>
      </pc:sldChg>
      <pc:sldChg chg="addSp delSp modSp new mod">
        <pc:chgData name="kuljot bakshi" userId="e18f591f5991c12c" providerId="LiveId" clId="{848BE52E-FEF7-44CF-B8AB-7264220E5FAA}" dt="2026-01-12T12:25:02.952" v="375" actId="1076"/>
        <pc:sldMkLst>
          <pc:docMk/>
          <pc:sldMk cId="133683729" sldId="259"/>
        </pc:sldMkLst>
        <pc:spChg chg="mod">
          <ac:chgData name="kuljot bakshi" userId="e18f591f5991c12c" providerId="LiveId" clId="{848BE52E-FEF7-44CF-B8AB-7264220E5FAA}" dt="2026-01-12T12:22:22.807" v="281" actId="1076"/>
          <ac:spMkLst>
            <pc:docMk/>
            <pc:sldMk cId="133683729" sldId="259"/>
            <ac:spMk id="2" creationId="{EBDE41A0-F63E-E3AC-DA2C-063F1930ADC6}"/>
          </ac:spMkLst>
        </pc:spChg>
        <pc:spChg chg="add del">
          <ac:chgData name="kuljot bakshi" userId="e18f591f5991c12c" providerId="LiveId" clId="{848BE52E-FEF7-44CF-B8AB-7264220E5FAA}" dt="2026-01-12T12:22:30.406" v="284" actId="478"/>
          <ac:spMkLst>
            <pc:docMk/>
            <pc:sldMk cId="133683729" sldId="259"/>
            <ac:spMk id="3" creationId="{34DE8DA5-C5BA-ABFF-B3C4-002499C93FE3}"/>
          </ac:spMkLst>
        </pc:spChg>
        <pc:spChg chg="add del">
          <ac:chgData name="kuljot bakshi" userId="e18f591f5991c12c" providerId="LiveId" clId="{848BE52E-FEF7-44CF-B8AB-7264220E5FAA}" dt="2026-01-12T12:24:13.804" v="356" actId="22"/>
          <ac:spMkLst>
            <pc:docMk/>
            <pc:sldMk cId="133683729" sldId="259"/>
            <ac:spMk id="6" creationId="{A94160E0-C095-4115-253E-208FC9E2DC87}"/>
          </ac:spMkLst>
        </pc:spChg>
        <pc:spChg chg="add mod">
          <ac:chgData name="kuljot bakshi" userId="e18f591f5991c12c" providerId="LiveId" clId="{848BE52E-FEF7-44CF-B8AB-7264220E5FAA}" dt="2026-01-12T12:25:02.952" v="375" actId="1076"/>
          <ac:spMkLst>
            <pc:docMk/>
            <pc:sldMk cId="133683729" sldId="259"/>
            <ac:spMk id="8" creationId="{D8ABF130-D384-BC47-271E-389BE11E3865}"/>
          </ac:spMkLst>
        </pc:spChg>
        <pc:spChg chg="add del">
          <ac:chgData name="kuljot bakshi" userId="e18f591f5991c12c" providerId="LiveId" clId="{848BE52E-FEF7-44CF-B8AB-7264220E5FAA}" dt="2026-01-12T12:24:38.051" v="365" actId="22"/>
          <ac:spMkLst>
            <pc:docMk/>
            <pc:sldMk cId="133683729" sldId="259"/>
            <ac:spMk id="10" creationId="{08312381-451A-F336-E310-2FC43ABD3770}"/>
          </ac:spMkLst>
        </pc:spChg>
        <pc:spChg chg="add mod">
          <ac:chgData name="kuljot bakshi" userId="e18f591f5991c12c" providerId="LiveId" clId="{848BE52E-FEF7-44CF-B8AB-7264220E5FAA}" dt="2026-01-12T12:25:01.744" v="374" actId="1076"/>
          <ac:spMkLst>
            <pc:docMk/>
            <pc:sldMk cId="133683729" sldId="259"/>
            <ac:spMk id="12" creationId="{58233B6E-D108-9346-3796-6A02CF5871F0}"/>
          </ac:spMkLst>
        </pc:spChg>
        <pc:graphicFrameChg chg="add mod modGraphic">
          <ac:chgData name="kuljot bakshi" userId="e18f591f5991c12c" providerId="LiveId" clId="{848BE52E-FEF7-44CF-B8AB-7264220E5FAA}" dt="2026-01-12T12:23:34.162" v="354" actId="1076"/>
          <ac:graphicFrameMkLst>
            <pc:docMk/>
            <pc:sldMk cId="133683729" sldId="259"/>
            <ac:graphicFrameMk id="4" creationId="{D58B8C1B-096A-37E6-A22B-8958DB385801}"/>
          </ac:graphicFrameMkLst>
        </pc:graphicFrameChg>
      </pc:sldChg>
      <pc:sldChg chg="addSp delSp modSp new mod">
        <pc:chgData name="kuljot bakshi" userId="e18f591f5991c12c" providerId="LiveId" clId="{848BE52E-FEF7-44CF-B8AB-7264220E5FAA}" dt="2026-01-12T12:27:02.584" v="440" actId="1076"/>
        <pc:sldMkLst>
          <pc:docMk/>
          <pc:sldMk cId="3509987742" sldId="260"/>
        </pc:sldMkLst>
        <pc:spChg chg="mod">
          <ac:chgData name="kuljot bakshi" userId="e18f591f5991c12c" providerId="LiveId" clId="{848BE52E-FEF7-44CF-B8AB-7264220E5FAA}" dt="2026-01-12T12:26:19.128" v="401" actId="1076"/>
          <ac:spMkLst>
            <pc:docMk/>
            <pc:sldMk cId="3509987742" sldId="260"/>
            <ac:spMk id="2" creationId="{D2CCABBE-C518-7C6A-1E50-FECE91B3551C}"/>
          </ac:spMkLst>
        </pc:spChg>
        <pc:spChg chg="del">
          <ac:chgData name="kuljot bakshi" userId="e18f591f5991c12c" providerId="LiveId" clId="{848BE52E-FEF7-44CF-B8AB-7264220E5FAA}" dt="2026-01-12T12:26:27.586" v="402" actId="478"/>
          <ac:spMkLst>
            <pc:docMk/>
            <pc:sldMk cId="3509987742" sldId="260"/>
            <ac:spMk id="3" creationId="{714CBAEA-D123-92F8-91D9-6022AEFC603B}"/>
          </ac:spMkLst>
        </pc:spChg>
        <pc:graphicFrameChg chg="add mod modGraphic">
          <ac:chgData name="kuljot bakshi" userId="e18f591f5991c12c" providerId="LiveId" clId="{848BE52E-FEF7-44CF-B8AB-7264220E5FAA}" dt="2026-01-12T12:27:02.584" v="440" actId="1076"/>
          <ac:graphicFrameMkLst>
            <pc:docMk/>
            <pc:sldMk cId="3509987742" sldId="260"/>
            <ac:graphicFrameMk id="4" creationId="{03020841-05C0-A355-EF3F-CCC1BAFDC143}"/>
          </ac:graphicFrameMkLst>
        </pc:graphicFrameChg>
      </pc:sldChg>
      <pc:sldChg chg="addSp delSp modSp new mod">
        <pc:chgData name="kuljot bakshi" userId="e18f591f5991c12c" providerId="LiveId" clId="{848BE52E-FEF7-44CF-B8AB-7264220E5FAA}" dt="2026-01-12T12:28:16.345" v="519" actId="1076"/>
        <pc:sldMkLst>
          <pc:docMk/>
          <pc:sldMk cId="1152356989" sldId="261"/>
        </pc:sldMkLst>
        <pc:spChg chg="mod">
          <ac:chgData name="kuljot bakshi" userId="e18f591f5991c12c" providerId="LiveId" clId="{848BE52E-FEF7-44CF-B8AB-7264220E5FAA}" dt="2026-01-12T12:27:39.696" v="465" actId="1076"/>
          <ac:spMkLst>
            <pc:docMk/>
            <pc:sldMk cId="1152356989" sldId="261"/>
            <ac:spMk id="2" creationId="{584EF384-0125-BC4D-37A9-1F268E7BC5A5}"/>
          </ac:spMkLst>
        </pc:spChg>
        <pc:spChg chg="del">
          <ac:chgData name="kuljot bakshi" userId="e18f591f5991c12c" providerId="LiveId" clId="{848BE52E-FEF7-44CF-B8AB-7264220E5FAA}" dt="2026-01-12T12:27:41.034" v="466" actId="478"/>
          <ac:spMkLst>
            <pc:docMk/>
            <pc:sldMk cId="1152356989" sldId="261"/>
            <ac:spMk id="3" creationId="{975CCA09-1F08-35FB-55B1-742846A706B1}"/>
          </ac:spMkLst>
        </pc:spChg>
        <pc:graphicFrameChg chg="add mod modGraphic">
          <ac:chgData name="kuljot bakshi" userId="e18f591f5991c12c" providerId="LiveId" clId="{848BE52E-FEF7-44CF-B8AB-7264220E5FAA}" dt="2026-01-12T12:28:16.345" v="519" actId="1076"/>
          <ac:graphicFrameMkLst>
            <pc:docMk/>
            <pc:sldMk cId="1152356989" sldId="261"/>
            <ac:graphicFrameMk id="4" creationId="{560C0469-94F2-E329-B2F9-EAB94BABCE25}"/>
          </ac:graphicFrameMkLst>
        </pc:graphicFrameChg>
      </pc:sldChg>
      <pc:sldChg chg="addSp delSp modSp new mod">
        <pc:chgData name="kuljot bakshi" userId="e18f591f5991c12c" providerId="LiveId" clId="{848BE52E-FEF7-44CF-B8AB-7264220E5FAA}" dt="2026-01-12T12:30:37.681" v="622" actId="1076"/>
        <pc:sldMkLst>
          <pc:docMk/>
          <pc:sldMk cId="1647081396" sldId="262"/>
        </pc:sldMkLst>
        <pc:spChg chg="mod">
          <ac:chgData name="kuljot bakshi" userId="e18f591f5991c12c" providerId="LiveId" clId="{848BE52E-FEF7-44CF-B8AB-7264220E5FAA}" dt="2026-01-12T12:29:23.152" v="558" actId="1076"/>
          <ac:spMkLst>
            <pc:docMk/>
            <pc:sldMk cId="1647081396" sldId="262"/>
            <ac:spMk id="2" creationId="{528DDAC0-57B4-2502-183E-8D19DE3A95FF}"/>
          </ac:spMkLst>
        </pc:spChg>
        <pc:spChg chg="del">
          <ac:chgData name="kuljot bakshi" userId="e18f591f5991c12c" providerId="LiveId" clId="{848BE52E-FEF7-44CF-B8AB-7264220E5FAA}" dt="2026-01-12T12:29:27.772" v="559" actId="478"/>
          <ac:spMkLst>
            <pc:docMk/>
            <pc:sldMk cId="1647081396" sldId="262"/>
            <ac:spMk id="3" creationId="{52CF79F0-C732-D699-ADF1-5DA79E2F9432}"/>
          </ac:spMkLst>
        </pc:spChg>
        <pc:graphicFrameChg chg="add mod modGraphic">
          <ac:chgData name="kuljot bakshi" userId="e18f591f5991c12c" providerId="LiveId" clId="{848BE52E-FEF7-44CF-B8AB-7264220E5FAA}" dt="2026-01-12T12:30:37.681" v="622" actId="1076"/>
          <ac:graphicFrameMkLst>
            <pc:docMk/>
            <pc:sldMk cId="1647081396" sldId="262"/>
            <ac:graphicFrameMk id="4" creationId="{878507C2-2F76-6168-CBEF-136E6462883F}"/>
          </ac:graphicFrameMkLst>
        </pc:graphicFrameChg>
      </pc:sldChg>
      <pc:sldChg chg="addSp delSp modSp new mod">
        <pc:chgData name="kuljot bakshi" userId="e18f591f5991c12c" providerId="LiveId" clId="{848BE52E-FEF7-44CF-B8AB-7264220E5FAA}" dt="2026-01-12T12:33:13.681" v="718" actId="1076"/>
        <pc:sldMkLst>
          <pc:docMk/>
          <pc:sldMk cId="415304545" sldId="263"/>
        </pc:sldMkLst>
        <pc:spChg chg="mod">
          <ac:chgData name="kuljot bakshi" userId="e18f591f5991c12c" providerId="LiveId" clId="{848BE52E-FEF7-44CF-B8AB-7264220E5FAA}" dt="2026-01-12T12:32:14.568" v="661" actId="1076"/>
          <ac:spMkLst>
            <pc:docMk/>
            <pc:sldMk cId="415304545" sldId="263"/>
            <ac:spMk id="2" creationId="{E7828714-E8DE-3E81-C067-1E4CB7F0FFEB}"/>
          </ac:spMkLst>
        </pc:spChg>
        <pc:spChg chg="del">
          <ac:chgData name="kuljot bakshi" userId="e18f591f5991c12c" providerId="LiveId" clId="{848BE52E-FEF7-44CF-B8AB-7264220E5FAA}" dt="2026-01-12T12:32:16.366" v="662" actId="478"/>
          <ac:spMkLst>
            <pc:docMk/>
            <pc:sldMk cId="415304545" sldId="263"/>
            <ac:spMk id="3" creationId="{87FD8DD3-6787-3B97-727F-2B66B6D82297}"/>
          </ac:spMkLst>
        </pc:spChg>
        <pc:graphicFrameChg chg="add mod modGraphic">
          <ac:chgData name="kuljot bakshi" userId="e18f591f5991c12c" providerId="LiveId" clId="{848BE52E-FEF7-44CF-B8AB-7264220E5FAA}" dt="2026-01-12T12:33:13.681" v="718" actId="1076"/>
          <ac:graphicFrameMkLst>
            <pc:docMk/>
            <pc:sldMk cId="415304545" sldId="263"/>
            <ac:graphicFrameMk id="4" creationId="{8F8A6E1A-2ABF-D34F-59F5-ADD0939615FE}"/>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E9012-2B81-2ED9-54CA-549112CB81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AC5EB8-C6A3-4241-9BDB-550FDA6488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6D32BF4-6BD0-7E98-A56E-C4B23AF66193}"/>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5" name="Footer Placeholder 4">
            <a:extLst>
              <a:ext uri="{FF2B5EF4-FFF2-40B4-BE49-F238E27FC236}">
                <a16:creationId xmlns:a16="http://schemas.microsoft.com/office/drawing/2014/main" id="{3F82FE73-DA18-0C81-3701-D0BA3D3F1D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C68194-2B0F-6FF4-85BE-E7EF6205FE74}"/>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3641422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DD686-CE74-1039-96B5-EFBE43BE8F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4906A6-DB8C-24A4-957B-126C2A658B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8DD2C2-2553-6B1E-741D-1D082E02F37C}"/>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5" name="Footer Placeholder 4">
            <a:extLst>
              <a:ext uri="{FF2B5EF4-FFF2-40B4-BE49-F238E27FC236}">
                <a16:creationId xmlns:a16="http://schemas.microsoft.com/office/drawing/2014/main" id="{F9BD0B12-0E80-1723-86ED-75CD0DAFB4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43928D-154D-9F93-6251-4B85BA9BB37D}"/>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4287654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417AA-E49B-CA83-20A1-3832EC3273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56DCC9-73EE-27B6-B1C9-DF64E448A3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B9315C-D573-08A8-1400-96BD493D4946}"/>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5" name="Footer Placeholder 4">
            <a:extLst>
              <a:ext uri="{FF2B5EF4-FFF2-40B4-BE49-F238E27FC236}">
                <a16:creationId xmlns:a16="http://schemas.microsoft.com/office/drawing/2014/main" id="{7A08945E-B455-39B4-2A04-E92C77F35A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C0CC08-EC0F-0007-4179-92E6D174B164}"/>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2411840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EDA25-13E4-305A-3D12-C58E0D7AE3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4095D2-217D-F6AB-940B-252B742AC1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4EFA601-E9A9-E387-75A2-60BAEDFD05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2DBADD-BFDD-DF42-A2BA-572E280FAA72}"/>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6" name="Footer Placeholder 5">
            <a:extLst>
              <a:ext uri="{FF2B5EF4-FFF2-40B4-BE49-F238E27FC236}">
                <a16:creationId xmlns:a16="http://schemas.microsoft.com/office/drawing/2014/main" id="{63C842F5-A4E3-EB9F-9EAF-2610F9D67A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391498-D72D-0FEB-348C-51A16C112945}"/>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2986545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C6D9A-3AC6-885F-D545-CEFF0A113EF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D1EE41-5A85-18F7-CCCF-C99DED7B0C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71CA90-1BCE-99B7-068E-2A4062369E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92E9DA4-FEAA-2504-E651-300BD554B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AF700B-2F47-4596-B5B7-9986BC4E37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B222CA0-8C7B-8CF1-3F81-A6C97EC592C5}"/>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8" name="Footer Placeholder 7">
            <a:extLst>
              <a:ext uri="{FF2B5EF4-FFF2-40B4-BE49-F238E27FC236}">
                <a16:creationId xmlns:a16="http://schemas.microsoft.com/office/drawing/2014/main" id="{F04BDB4E-5E41-ED1D-72F5-64ECD1B62C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0AE906-AB21-3E6B-D11B-A32ECB154E46}"/>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280011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EB735-2182-3D32-7612-055AC46FF1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95E3F7-34A0-4277-5FD3-3563CBA454C7}"/>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4" name="Footer Placeholder 3">
            <a:extLst>
              <a:ext uri="{FF2B5EF4-FFF2-40B4-BE49-F238E27FC236}">
                <a16:creationId xmlns:a16="http://schemas.microsoft.com/office/drawing/2014/main" id="{BCFADF8F-3648-5084-B459-663172FED5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DB3A0A4-2467-506F-8C04-39D1FEA92A08}"/>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4133741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1F25CF-A831-5FC7-7371-AD45F4CA1FE2}"/>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3" name="Footer Placeholder 2">
            <a:extLst>
              <a:ext uri="{FF2B5EF4-FFF2-40B4-BE49-F238E27FC236}">
                <a16:creationId xmlns:a16="http://schemas.microsoft.com/office/drawing/2014/main" id="{F97E84E7-C6C1-BED7-A7D0-648C041BFA1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86027A8-693E-190F-D9B2-417586AB61D8}"/>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4258719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F4538-46F9-2B91-CF91-1770DA7686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FF17AB-A9D3-05F5-E141-A221401E07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AB5C44F-0446-D250-30B0-7265F7A3EB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FB7B1D-13C1-6D5A-3420-E66FE86EC4B8}"/>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6" name="Footer Placeholder 5">
            <a:extLst>
              <a:ext uri="{FF2B5EF4-FFF2-40B4-BE49-F238E27FC236}">
                <a16:creationId xmlns:a16="http://schemas.microsoft.com/office/drawing/2014/main" id="{40DEAD0A-9F77-B4A1-07A1-A02048B7C3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10C22D-383E-5E15-2535-5A23D570A97E}"/>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138005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95CAF-6706-0E72-9623-B11C6361D4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41102F8-C80A-EC0C-5D2E-D5330ADE03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B8DC2A-B371-F66F-460B-6B64746616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36C65E-70F8-AFA1-366D-002DD79ED977}"/>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6" name="Footer Placeholder 5">
            <a:extLst>
              <a:ext uri="{FF2B5EF4-FFF2-40B4-BE49-F238E27FC236}">
                <a16:creationId xmlns:a16="http://schemas.microsoft.com/office/drawing/2014/main" id="{795855FD-931F-DAF5-1F9D-4458BFF0EB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806FC3-8875-6A96-8AC4-6D8276D18ECF}"/>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3742834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27CB3-C5D9-965A-5268-7E828601DBD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1A1F2C-D7AC-28C3-A2B0-E450AFB4F7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9D557A-C9F0-5D57-A960-A3471BA97BAD}"/>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5" name="Footer Placeholder 4">
            <a:extLst>
              <a:ext uri="{FF2B5EF4-FFF2-40B4-BE49-F238E27FC236}">
                <a16:creationId xmlns:a16="http://schemas.microsoft.com/office/drawing/2014/main" id="{7677B744-5EC7-BD0E-DC9E-BC9B9EC41E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470A7C-9974-3911-A9D9-16D1091D4F15}"/>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1987535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CD8FDD-C2DF-C7EA-0CAE-2D0DC431F4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1F3025-3BBC-B664-E409-7F0C7708D1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9D8C1B-0541-6E11-2EAB-615D344A3D92}"/>
              </a:ext>
            </a:extLst>
          </p:cNvPr>
          <p:cNvSpPr>
            <a:spLocks noGrp="1"/>
          </p:cNvSpPr>
          <p:nvPr>
            <p:ph type="dt" sz="half" idx="10"/>
          </p:nvPr>
        </p:nvSpPr>
        <p:spPr/>
        <p:txBody>
          <a:bodyPr/>
          <a:lstStyle/>
          <a:p>
            <a:fld id="{CB9B322F-68D1-4472-8A18-89199774E83A}" type="datetimeFigureOut">
              <a:rPr lang="en-IN" smtClean="0"/>
              <a:t>12-01-2026</a:t>
            </a:fld>
            <a:endParaRPr lang="en-IN"/>
          </a:p>
        </p:txBody>
      </p:sp>
      <p:sp>
        <p:nvSpPr>
          <p:cNvPr id="5" name="Footer Placeholder 4">
            <a:extLst>
              <a:ext uri="{FF2B5EF4-FFF2-40B4-BE49-F238E27FC236}">
                <a16:creationId xmlns:a16="http://schemas.microsoft.com/office/drawing/2014/main" id="{59429F21-A905-D005-0E6F-865ADA42A0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0DF7CC-17B1-CDCA-D4E8-BCB4216370AA}"/>
              </a:ext>
            </a:extLst>
          </p:cNvPr>
          <p:cNvSpPr>
            <a:spLocks noGrp="1"/>
          </p:cNvSpPr>
          <p:nvPr>
            <p:ph type="sldNum" sz="quarter" idx="12"/>
          </p:nvPr>
        </p:nvSpPr>
        <p:spPr/>
        <p:txBody>
          <a:bodyPr/>
          <a:lstStyle/>
          <a:p>
            <a:fld id="{A704EA0D-F42B-4173-9312-B5BDE260A3A6}" type="slidenum">
              <a:rPr lang="en-IN" smtClean="0"/>
              <a:t>‹#›</a:t>
            </a:fld>
            <a:endParaRPr lang="en-IN"/>
          </a:p>
        </p:txBody>
      </p:sp>
    </p:spTree>
    <p:extLst>
      <p:ext uri="{BB962C8B-B14F-4D97-AF65-F5344CB8AC3E}">
        <p14:creationId xmlns:p14="http://schemas.microsoft.com/office/powerpoint/2010/main" val="3504909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52E507-52C0-CC21-6AEF-158448D3C2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924DDC-CDE3-1A64-EB0F-E996C77ADC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1005C9-A511-5296-B6A1-126987F4A2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9B322F-68D1-4472-8A18-89199774E83A}" type="datetimeFigureOut">
              <a:rPr lang="en-IN" smtClean="0"/>
              <a:t>12-01-2026</a:t>
            </a:fld>
            <a:endParaRPr lang="en-IN"/>
          </a:p>
        </p:txBody>
      </p:sp>
      <p:sp>
        <p:nvSpPr>
          <p:cNvPr id="5" name="Footer Placeholder 4">
            <a:extLst>
              <a:ext uri="{FF2B5EF4-FFF2-40B4-BE49-F238E27FC236}">
                <a16:creationId xmlns:a16="http://schemas.microsoft.com/office/drawing/2014/main" id="{1D6F6E2A-25ED-C458-08E5-B6CC10874A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8397C63-2C00-E323-762E-E3F4966ABC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04EA0D-F42B-4173-9312-B5BDE260A3A6}" type="slidenum">
              <a:rPr lang="en-IN" smtClean="0"/>
              <a:t>‹#›</a:t>
            </a:fld>
            <a:endParaRPr lang="en-IN"/>
          </a:p>
        </p:txBody>
      </p:sp>
    </p:spTree>
    <p:extLst>
      <p:ext uri="{BB962C8B-B14F-4D97-AF65-F5344CB8AC3E}">
        <p14:creationId xmlns:p14="http://schemas.microsoft.com/office/powerpoint/2010/main" val="3789904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195BB-FA07-6317-3FCC-B5F7F356354F}"/>
              </a:ext>
            </a:extLst>
          </p:cNvPr>
          <p:cNvSpPr>
            <a:spLocks noGrp="1"/>
          </p:cNvSpPr>
          <p:nvPr>
            <p:ph type="ctrTitle"/>
          </p:nvPr>
        </p:nvSpPr>
        <p:spPr>
          <a:xfrm>
            <a:off x="991456" y="3269662"/>
            <a:ext cx="10209088" cy="2387600"/>
          </a:xfrm>
        </p:spPr>
        <p:txBody>
          <a:bodyPr/>
          <a:lstStyle/>
          <a:p>
            <a:r>
              <a:rPr lang="en-US" dirty="0"/>
              <a:t>Prompt Engineering Techniques</a:t>
            </a:r>
            <a:endParaRPr lang="en-IN" dirty="0"/>
          </a:p>
        </p:txBody>
      </p:sp>
      <p:pic>
        <p:nvPicPr>
          <p:cNvPr id="4" name="Picture 3" descr="Databricks Consulting Services | B EYE">
            <a:extLst>
              <a:ext uri="{FF2B5EF4-FFF2-40B4-BE49-F238E27FC236}">
                <a16:creationId xmlns:a16="http://schemas.microsoft.com/office/drawing/2014/main" id="{8E159DB2-6BBA-B41C-EE1F-EB753D6D2C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8616" y="968737"/>
            <a:ext cx="5034765" cy="321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569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26D00-9D2C-7B2D-91AB-BC8D7092FEAE}"/>
              </a:ext>
            </a:extLst>
          </p:cNvPr>
          <p:cNvSpPr>
            <a:spLocks noGrp="1"/>
          </p:cNvSpPr>
          <p:nvPr>
            <p:ph type="title"/>
          </p:nvPr>
        </p:nvSpPr>
        <p:spPr>
          <a:xfrm>
            <a:off x="838200" y="-128035"/>
            <a:ext cx="10515600" cy="1325563"/>
          </a:xfrm>
        </p:spPr>
        <p:txBody>
          <a:bodyPr/>
          <a:lstStyle/>
          <a:p>
            <a:pPr algn="ctr"/>
            <a:r>
              <a:rPr lang="en-US" dirty="0"/>
              <a:t>What a typical LLM behavior looks like?</a:t>
            </a:r>
            <a:endParaRPr lang="en-IN" dirty="0"/>
          </a:p>
        </p:txBody>
      </p:sp>
      <p:graphicFrame>
        <p:nvGraphicFramePr>
          <p:cNvPr id="4" name="Table 3">
            <a:extLst>
              <a:ext uri="{FF2B5EF4-FFF2-40B4-BE49-F238E27FC236}">
                <a16:creationId xmlns:a16="http://schemas.microsoft.com/office/drawing/2014/main" id="{489D5ABA-7026-19E5-1BDF-47A1C744A86B}"/>
              </a:ext>
            </a:extLst>
          </p:cNvPr>
          <p:cNvGraphicFramePr>
            <a:graphicFrameLocks noGrp="1"/>
          </p:cNvGraphicFramePr>
          <p:nvPr>
            <p:extLst>
              <p:ext uri="{D42A27DB-BD31-4B8C-83A1-F6EECF244321}">
                <p14:modId xmlns:p14="http://schemas.microsoft.com/office/powerpoint/2010/main" val="1704951005"/>
              </p:ext>
            </p:extLst>
          </p:nvPr>
        </p:nvGraphicFramePr>
        <p:xfrm>
          <a:off x="6198741" y="1431218"/>
          <a:ext cx="5879102" cy="4668520"/>
        </p:xfrm>
        <a:graphic>
          <a:graphicData uri="http://schemas.openxmlformats.org/drawingml/2006/table">
            <a:tbl>
              <a:tblPr firstRow="1" bandRow="1">
                <a:tableStyleId>{5C22544A-7EE6-4342-B048-85BDC9FD1C3A}</a:tableStyleId>
              </a:tblPr>
              <a:tblGrid>
                <a:gridCol w="2939551">
                  <a:extLst>
                    <a:ext uri="{9D8B030D-6E8A-4147-A177-3AD203B41FA5}">
                      <a16:colId xmlns:a16="http://schemas.microsoft.com/office/drawing/2014/main" val="1527040833"/>
                    </a:ext>
                  </a:extLst>
                </a:gridCol>
                <a:gridCol w="2939551">
                  <a:extLst>
                    <a:ext uri="{9D8B030D-6E8A-4147-A177-3AD203B41FA5}">
                      <a16:colId xmlns:a16="http://schemas.microsoft.com/office/drawing/2014/main" val="1669569989"/>
                    </a:ext>
                  </a:extLst>
                </a:gridCol>
              </a:tblGrid>
              <a:tr h="370840">
                <a:tc>
                  <a:txBody>
                    <a:bodyPr/>
                    <a:lstStyle/>
                    <a:p>
                      <a:r>
                        <a:rPr lang="en-US" dirty="0"/>
                        <a:t>Prompt </a:t>
                      </a:r>
                      <a:endParaRPr lang="en-IN" dirty="0"/>
                    </a:p>
                  </a:txBody>
                  <a:tcPr/>
                </a:tc>
                <a:tc>
                  <a:txBody>
                    <a:bodyPr/>
                    <a:lstStyle/>
                    <a:p>
                      <a:r>
                        <a:rPr lang="en-US" dirty="0"/>
                        <a:t>Completion</a:t>
                      </a:r>
                      <a:endParaRPr lang="en-IN" dirty="0"/>
                    </a:p>
                  </a:txBody>
                  <a:tcPr/>
                </a:tc>
                <a:extLst>
                  <a:ext uri="{0D108BD9-81ED-4DB2-BD59-A6C34878D82A}">
                    <a16:rowId xmlns:a16="http://schemas.microsoft.com/office/drawing/2014/main" val="3662269822"/>
                  </a:ext>
                </a:extLst>
              </a:tr>
              <a:tr h="370840">
                <a:tc>
                  <a:txBody>
                    <a:bodyPr/>
                    <a:lstStyle/>
                    <a:p>
                      <a:r>
                        <a:rPr lang="en-US" sz="1800" b="0" i="0" kern="1200" dirty="0">
                          <a:solidFill>
                            <a:schemeClr val="dk1"/>
                          </a:solidFill>
                          <a:effectLst/>
                          <a:latin typeface="+mn-lt"/>
                          <a:ea typeface="+mn-ea"/>
                          <a:cs typeface="+mn-cs"/>
                        </a:rPr>
                        <a:t>Four score and seven years ago our</a:t>
                      </a:r>
                      <a:endParaRPr lang="en-IN" dirty="0"/>
                    </a:p>
                  </a:txBody>
                  <a:tcPr/>
                </a:tc>
                <a:tc>
                  <a:txBody>
                    <a:bodyPr/>
                    <a:lstStyle/>
                    <a:p>
                      <a:r>
                        <a:rPr lang="en-US" sz="1800" b="0" i="0" kern="1200" dirty="0">
                          <a:solidFill>
                            <a:schemeClr val="dk1"/>
                          </a:solidFill>
                          <a:effectLst/>
                          <a:latin typeface="+mn-lt"/>
                          <a:ea typeface="+mn-ea"/>
                          <a:cs typeface="+mn-cs"/>
                        </a:rPr>
                        <a:t>fathers brought forth on this continent, a new nation, conceived in Liberty, and dedicated to the proposition that all men are created equal. […]</a:t>
                      </a:r>
                      <a:endParaRPr lang="en-IN" dirty="0"/>
                    </a:p>
                  </a:txBody>
                  <a:tcPr/>
                </a:tc>
                <a:extLst>
                  <a:ext uri="{0D108BD9-81ED-4DB2-BD59-A6C34878D82A}">
                    <a16:rowId xmlns:a16="http://schemas.microsoft.com/office/drawing/2014/main" val="64600243"/>
                  </a:ext>
                </a:extLst>
              </a:tr>
              <a:tr h="370840">
                <a:tc>
                  <a:txBody>
                    <a:bodyPr/>
                    <a:lstStyle/>
                    <a:p>
                      <a:r>
                        <a:rPr lang="en-IN" sz="1800" b="0" i="0" kern="1200" dirty="0">
                          <a:solidFill>
                            <a:schemeClr val="dk1"/>
                          </a:solidFill>
                          <a:effectLst/>
                          <a:latin typeface="+mn-lt"/>
                          <a:ea typeface="+mn-ea"/>
                          <a:cs typeface="+mn-cs"/>
                        </a:rPr>
                        <a:t>"Call me Ishmael."</a:t>
                      </a:r>
                      <a:endParaRPr lang="en-IN" dirty="0"/>
                    </a:p>
                  </a:txBody>
                  <a:tcPr/>
                </a:tc>
                <a:tc>
                  <a:txBody>
                    <a:bodyPr/>
                    <a:lstStyle/>
                    <a:p>
                      <a:r>
                        <a:rPr lang="en-US" sz="1800" b="0" i="0" kern="1200" dirty="0">
                          <a:solidFill>
                            <a:schemeClr val="dk1"/>
                          </a:solidFill>
                          <a:effectLst/>
                          <a:latin typeface="+mn-lt"/>
                          <a:ea typeface="+mn-ea"/>
                          <a:cs typeface="+mn-cs"/>
                        </a:rPr>
                        <a:t>"Some years ago—never mind how long precisely—having little or no money in my purse, and nothing particular to interest me on shore, I thought I would sail about a little and see the watery part of the world." […]</a:t>
                      </a:r>
                      <a:endParaRPr lang="en-IN" dirty="0"/>
                    </a:p>
                  </a:txBody>
                  <a:tcPr/>
                </a:tc>
                <a:extLst>
                  <a:ext uri="{0D108BD9-81ED-4DB2-BD59-A6C34878D82A}">
                    <a16:rowId xmlns:a16="http://schemas.microsoft.com/office/drawing/2014/main" val="3520640261"/>
                  </a:ext>
                </a:extLst>
              </a:tr>
            </a:tbl>
          </a:graphicData>
        </a:graphic>
      </p:graphicFrame>
      <p:sp>
        <p:nvSpPr>
          <p:cNvPr id="8" name="TextBox 7">
            <a:extLst>
              <a:ext uri="{FF2B5EF4-FFF2-40B4-BE49-F238E27FC236}">
                <a16:creationId xmlns:a16="http://schemas.microsoft.com/office/drawing/2014/main" id="{89317ED2-423E-EBA1-F05B-DD20C058CEE1}"/>
              </a:ext>
            </a:extLst>
          </p:cNvPr>
          <p:cNvSpPr txBox="1"/>
          <p:nvPr/>
        </p:nvSpPr>
        <p:spPr>
          <a:xfrm>
            <a:off x="216896" y="1893556"/>
            <a:ext cx="5334857"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Regardless of the prompt that is provided, the model is simply responding </a:t>
            </a:r>
            <a:r>
              <a:rPr lang="en-US" b="1" i="1" dirty="0"/>
              <a:t>with what it determines is most likely</a:t>
            </a:r>
            <a:r>
              <a:rPr lang="en-US" dirty="0"/>
              <a:t> (given its training data and training targets).</a:t>
            </a:r>
            <a:endParaRPr lang="en-IN" dirty="0"/>
          </a:p>
        </p:txBody>
      </p:sp>
      <p:sp>
        <p:nvSpPr>
          <p:cNvPr id="12" name="TextBox 11">
            <a:extLst>
              <a:ext uri="{FF2B5EF4-FFF2-40B4-BE49-F238E27FC236}">
                <a16:creationId xmlns:a16="http://schemas.microsoft.com/office/drawing/2014/main" id="{5B8F50ED-B52B-235B-21C0-98DF2E30A99C}"/>
              </a:ext>
            </a:extLst>
          </p:cNvPr>
          <p:cNvSpPr txBox="1"/>
          <p:nvPr/>
        </p:nvSpPr>
        <p:spPr>
          <a:xfrm>
            <a:off x="216895" y="4071668"/>
            <a:ext cx="5334857"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If you ask a question in your prompt, the model isn't following a separate “Q&amp;A” code path, but rather it appears to answer the question because an answer is the most likely sort of response for the given question as input.</a:t>
            </a:r>
            <a:endParaRPr lang="en-IN" dirty="0"/>
          </a:p>
        </p:txBody>
      </p:sp>
    </p:spTree>
    <p:extLst>
      <p:ext uri="{BB962C8B-B14F-4D97-AF65-F5344CB8AC3E}">
        <p14:creationId xmlns:p14="http://schemas.microsoft.com/office/powerpoint/2010/main" val="4153642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27A7D-359C-80C9-8CA1-D27280E272B6}"/>
              </a:ext>
            </a:extLst>
          </p:cNvPr>
          <p:cNvSpPr>
            <a:spLocks noGrp="1"/>
          </p:cNvSpPr>
          <p:nvPr>
            <p:ph type="title"/>
          </p:nvPr>
        </p:nvSpPr>
        <p:spPr>
          <a:xfrm>
            <a:off x="83477" y="-326572"/>
            <a:ext cx="12025045" cy="1325563"/>
          </a:xfrm>
        </p:spPr>
        <p:txBody>
          <a:bodyPr>
            <a:normAutofit/>
          </a:bodyPr>
          <a:lstStyle/>
          <a:p>
            <a:pPr algn="ctr"/>
            <a:r>
              <a:rPr lang="en-US" dirty="0"/>
              <a:t>Treat the LLM’s System Prompt with Love and Care!!</a:t>
            </a:r>
            <a:endParaRPr lang="en-IN" dirty="0"/>
          </a:p>
        </p:txBody>
      </p:sp>
      <p:graphicFrame>
        <p:nvGraphicFramePr>
          <p:cNvPr id="7" name="Content Placeholder 6">
            <a:extLst>
              <a:ext uri="{FF2B5EF4-FFF2-40B4-BE49-F238E27FC236}">
                <a16:creationId xmlns:a16="http://schemas.microsoft.com/office/drawing/2014/main" id="{C4C26162-05C5-CA76-9B7C-FE5F24BEDE9A}"/>
              </a:ext>
            </a:extLst>
          </p:cNvPr>
          <p:cNvGraphicFramePr>
            <a:graphicFrameLocks noGrp="1"/>
          </p:cNvGraphicFramePr>
          <p:nvPr>
            <p:ph idx="1"/>
            <p:extLst>
              <p:ext uri="{D42A27DB-BD31-4B8C-83A1-F6EECF244321}">
                <p14:modId xmlns:p14="http://schemas.microsoft.com/office/powerpoint/2010/main" val="3386402666"/>
              </p:ext>
            </p:extLst>
          </p:nvPr>
        </p:nvGraphicFramePr>
        <p:xfrm>
          <a:off x="243124" y="902789"/>
          <a:ext cx="11705750" cy="5765800"/>
        </p:xfrm>
        <a:graphic>
          <a:graphicData uri="http://schemas.openxmlformats.org/drawingml/2006/table">
            <a:tbl>
              <a:tblPr firstRow="1" bandRow="1">
                <a:tableStyleId>{5C22544A-7EE6-4342-B048-85BDC9FD1C3A}</a:tableStyleId>
              </a:tblPr>
              <a:tblGrid>
                <a:gridCol w="2294195">
                  <a:extLst>
                    <a:ext uri="{9D8B030D-6E8A-4147-A177-3AD203B41FA5}">
                      <a16:colId xmlns:a16="http://schemas.microsoft.com/office/drawing/2014/main" val="3771572758"/>
                    </a:ext>
                  </a:extLst>
                </a:gridCol>
                <a:gridCol w="4370350">
                  <a:extLst>
                    <a:ext uri="{9D8B030D-6E8A-4147-A177-3AD203B41FA5}">
                      <a16:colId xmlns:a16="http://schemas.microsoft.com/office/drawing/2014/main" val="60787907"/>
                    </a:ext>
                  </a:extLst>
                </a:gridCol>
                <a:gridCol w="5041205">
                  <a:extLst>
                    <a:ext uri="{9D8B030D-6E8A-4147-A177-3AD203B41FA5}">
                      <a16:colId xmlns:a16="http://schemas.microsoft.com/office/drawing/2014/main" val="2370471424"/>
                    </a:ext>
                  </a:extLst>
                </a:gridCol>
              </a:tblGrid>
              <a:tr h="370840">
                <a:tc>
                  <a:txBody>
                    <a:bodyPr/>
                    <a:lstStyle/>
                    <a:p>
                      <a:r>
                        <a:rPr lang="en-US" sz="1600" dirty="0"/>
                        <a:t>Instruction Type</a:t>
                      </a:r>
                      <a:endParaRPr lang="en-IN" sz="1600" dirty="0"/>
                    </a:p>
                  </a:txBody>
                  <a:tcPr/>
                </a:tc>
                <a:tc>
                  <a:txBody>
                    <a:bodyPr/>
                    <a:lstStyle/>
                    <a:p>
                      <a:r>
                        <a:rPr lang="en-US" sz="1600" dirty="0"/>
                        <a:t>Prompt</a:t>
                      </a:r>
                      <a:endParaRPr lang="en-IN" sz="1600" dirty="0"/>
                    </a:p>
                  </a:txBody>
                  <a:tcPr/>
                </a:tc>
                <a:tc>
                  <a:txBody>
                    <a:bodyPr/>
                    <a:lstStyle/>
                    <a:p>
                      <a:r>
                        <a:rPr lang="en-US" sz="1600" dirty="0"/>
                        <a:t>Completion</a:t>
                      </a:r>
                      <a:endParaRPr lang="en-IN" sz="1600" dirty="0"/>
                    </a:p>
                  </a:txBody>
                  <a:tcPr/>
                </a:tc>
                <a:extLst>
                  <a:ext uri="{0D108BD9-81ED-4DB2-BD59-A6C34878D82A}">
                    <a16:rowId xmlns:a16="http://schemas.microsoft.com/office/drawing/2014/main" val="2923873039"/>
                  </a:ext>
                </a:extLst>
              </a:tr>
              <a:tr h="370840">
                <a:tc>
                  <a:txBody>
                    <a:bodyPr/>
                    <a:lstStyle/>
                    <a:p>
                      <a:r>
                        <a:rPr lang="en-US" sz="1600" dirty="0"/>
                        <a:t>Simple Instructions</a:t>
                      </a:r>
                      <a:endParaRPr lang="en-IN" sz="1600" dirty="0"/>
                    </a:p>
                  </a:txBody>
                  <a:tcPr/>
                </a:tc>
                <a:tc>
                  <a:txBody>
                    <a:bodyPr/>
                    <a:lstStyle/>
                    <a:p>
                      <a:r>
                        <a:rPr lang="en-US" sz="1600" b="0" i="0" kern="1200" dirty="0">
                          <a:solidFill>
                            <a:schemeClr val="dk1"/>
                          </a:solidFill>
                          <a:effectLst/>
                          <a:latin typeface="+mn-lt"/>
                          <a:ea typeface="+mn-ea"/>
                          <a:cs typeface="+mn-cs"/>
                        </a:rPr>
                        <a:t>Write an introduction for a weekly newsletter.</a:t>
                      </a:r>
                      <a:endParaRPr lang="en-IN" sz="1600" dirty="0"/>
                    </a:p>
                  </a:txBody>
                  <a:tcPr/>
                </a:tc>
                <a:tc>
                  <a:txBody>
                    <a:bodyPr/>
                    <a:lstStyle/>
                    <a:p>
                      <a:r>
                        <a:rPr lang="en-US" sz="1600" b="0" i="0" kern="1200" dirty="0">
                          <a:solidFill>
                            <a:schemeClr val="dk1"/>
                          </a:solidFill>
                          <a:effectLst/>
                          <a:latin typeface="+mn-lt"/>
                          <a:ea typeface="+mn-ea"/>
                          <a:cs typeface="+mn-cs"/>
                        </a:rPr>
                        <a:t>Welcome to our weekly newsletter. This week we have a special focus on productivity. We'll be sharing tips and tricks on how to be productive in all areas of your life. We hope you enjoy and please share with your friends!</a:t>
                      </a:r>
                      <a:endParaRPr lang="en-IN" sz="1600" dirty="0"/>
                    </a:p>
                  </a:txBody>
                  <a:tcPr/>
                </a:tc>
                <a:extLst>
                  <a:ext uri="{0D108BD9-81ED-4DB2-BD59-A6C34878D82A}">
                    <a16:rowId xmlns:a16="http://schemas.microsoft.com/office/drawing/2014/main" val="2823133991"/>
                  </a:ext>
                </a:extLst>
              </a:tr>
              <a:tr h="370840">
                <a:tc>
                  <a:txBody>
                    <a:bodyPr/>
                    <a:lstStyle/>
                    <a:p>
                      <a:r>
                        <a:rPr lang="en-US" sz="1600" dirty="0"/>
                        <a:t>Complex Instructions</a:t>
                      </a:r>
                      <a:endParaRPr lang="en-IN" sz="1600" dirty="0"/>
                    </a:p>
                  </a:txBody>
                  <a:tcPr/>
                </a:tc>
                <a:tc>
                  <a:txBody>
                    <a:bodyPr/>
                    <a:lstStyle/>
                    <a:p>
                      <a:r>
                        <a:rPr lang="en-US" sz="1600" b="0" i="0" kern="1200" dirty="0">
                          <a:solidFill>
                            <a:schemeClr val="dk1"/>
                          </a:solidFill>
                          <a:effectLst/>
                          <a:latin typeface="+mn-lt"/>
                          <a:ea typeface="+mn-ea"/>
                          <a:cs typeface="+mn-cs"/>
                        </a:rPr>
                        <a:t>Write an introduction for a weekly newsletter to my company named Contoso. It should mention the great all hands meeting we had last week and thank the team for all their hard work over the tough past few months.</a:t>
                      </a:r>
                      <a:endParaRPr lang="en-IN" sz="1600" dirty="0"/>
                    </a:p>
                  </a:txBody>
                  <a:tcPr/>
                </a:tc>
                <a:tc>
                  <a:txBody>
                    <a:bodyPr/>
                    <a:lstStyle/>
                    <a:p>
                      <a:r>
                        <a:rPr lang="en-US" sz="1600" b="0" i="0" kern="1200" dirty="0">
                          <a:solidFill>
                            <a:schemeClr val="dk1"/>
                          </a:solidFill>
                          <a:effectLst/>
                          <a:latin typeface="+mn-lt"/>
                          <a:ea typeface="+mn-ea"/>
                          <a:cs typeface="+mn-cs"/>
                        </a:rPr>
                        <a:t>Welcome to Contoso's weekly newsletter! We had a great all hands meeting last week and I want to thank the team for all their hard work over the tough past few months. We're looking forward to a bright future and I'm confident that with our team's dedication and commitment, we'll achieve great things. Thank you for being a part of our team and I look forward to working with you all in the coming weeks and months. Sincerely, [Your name].</a:t>
                      </a:r>
                      <a:endParaRPr lang="en-IN" sz="1600" dirty="0"/>
                    </a:p>
                  </a:txBody>
                  <a:tcPr/>
                </a:tc>
                <a:extLst>
                  <a:ext uri="{0D108BD9-81ED-4DB2-BD59-A6C34878D82A}">
                    <a16:rowId xmlns:a16="http://schemas.microsoft.com/office/drawing/2014/main" val="283945071"/>
                  </a:ext>
                </a:extLst>
              </a:tr>
              <a:tr h="370840">
                <a:tc>
                  <a:txBody>
                    <a:bodyPr/>
                    <a:lstStyle/>
                    <a:p>
                      <a:r>
                        <a:rPr lang="en-US" sz="1600" dirty="0"/>
                        <a:t>Super Complex but Precise Instructions</a:t>
                      </a:r>
                      <a:endParaRPr lang="en-IN" sz="1600" dirty="0"/>
                    </a:p>
                  </a:txBody>
                  <a:tcPr/>
                </a:tc>
                <a:tc>
                  <a:txBody>
                    <a:bodyPr/>
                    <a:lstStyle/>
                    <a:p>
                      <a:r>
                        <a:rPr lang="en-US" sz="1600" b="0" i="0" kern="1200" dirty="0">
                          <a:solidFill>
                            <a:schemeClr val="dk1"/>
                          </a:solidFill>
                          <a:effectLst/>
                          <a:latin typeface="+mn-lt"/>
                          <a:ea typeface="+mn-ea"/>
                          <a:cs typeface="+mn-cs"/>
                        </a:rPr>
                        <a:t>Write an introduction for a weekly newsletter, including the following:</a:t>
                      </a:r>
                      <a:br>
                        <a:rPr lang="en-US" sz="1600" dirty="0"/>
                      </a:br>
                      <a:r>
                        <a:rPr lang="en-US" sz="1600" b="0" i="0" kern="1200" dirty="0">
                          <a:solidFill>
                            <a:schemeClr val="dk1"/>
                          </a:solidFill>
                          <a:effectLst/>
                          <a:latin typeface="+mn-lt"/>
                          <a:ea typeface="+mn-ea"/>
                          <a:cs typeface="+mn-cs"/>
                        </a:rPr>
                        <a:t>- My company is named </a:t>
                      </a:r>
                      <a:r>
                        <a:rPr lang="en-US" sz="1600" b="0" i="0" kern="1200" dirty="0" err="1">
                          <a:solidFill>
                            <a:schemeClr val="dk1"/>
                          </a:solidFill>
                          <a:effectLst/>
                          <a:latin typeface="+mn-lt"/>
                          <a:ea typeface="+mn-ea"/>
                          <a:cs typeface="+mn-cs"/>
                        </a:rPr>
                        <a:t>contoso</a:t>
                      </a:r>
                      <a:br>
                        <a:rPr lang="en-US" sz="1600" dirty="0"/>
                      </a:br>
                      <a:r>
                        <a:rPr lang="en-US" sz="1600" b="0" i="0" kern="1200" dirty="0">
                          <a:solidFill>
                            <a:schemeClr val="dk1"/>
                          </a:solidFill>
                          <a:effectLst/>
                          <a:latin typeface="+mn-lt"/>
                          <a:ea typeface="+mn-ea"/>
                          <a:cs typeface="+mn-cs"/>
                        </a:rPr>
                        <a:t>- An exuberant greeting</a:t>
                      </a:r>
                      <a:br>
                        <a:rPr lang="en-US" sz="1600" dirty="0"/>
                      </a:br>
                      <a:r>
                        <a:rPr lang="en-US" sz="1600" b="0" i="0" kern="1200" dirty="0">
                          <a:solidFill>
                            <a:schemeClr val="dk1"/>
                          </a:solidFill>
                          <a:effectLst/>
                          <a:latin typeface="+mn-lt"/>
                          <a:ea typeface="+mn-ea"/>
                          <a:cs typeface="+mn-cs"/>
                        </a:rPr>
                        <a:t>- Thanking the team for their hard work over a couple tough months</a:t>
                      </a:r>
                      <a:br>
                        <a:rPr lang="en-US" sz="1600" dirty="0"/>
                      </a:br>
                      <a:r>
                        <a:rPr lang="en-US" sz="1600" b="0" i="0" kern="1200" dirty="0">
                          <a:solidFill>
                            <a:schemeClr val="dk1"/>
                          </a:solidFill>
                          <a:effectLst/>
                          <a:latin typeface="+mn-lt"/>
                          <a:ea typeface="+mn-ea"/>
                          <a:cs typeface="+mn-cs"/>
                        </a:rPr>
                        <a:t>- Positive outlook for the coming quarter</a:t>
                      </a:r>
                      <a:br>
                        <a:rPr lang="en-US" sz="1600" dirty="0"/>
                      </a:br>
                      <a:r>
                        <a:rPr lang="en-US" sz="1600" b="0" i="0" kern="1200" dirty="0">
                          <a:solidFill>
                            <a:schemeClr val="dk1"/>
                          </a:solidFill>
                          <a:effectLst/>
                          <a:latin typeface="+mn-lt"/>
                          <a:ea typeface="+mn-ea"/>
                          <a:cs typeface="+mn-cs"/>
                        </a:rPr>
                        <a:t>- Signed by the SLT</a:t>
                      </a:r>
                      <a:endParaRPr lang="en-IN" sz="1600" dirty="0"/>
                    </a:p>
                  </a:txBody>
                  <a:tcPr/>
                </a:tc>
                <a:tc>
                  <a:txBody>
                    <a:bodyPr/>
                    <a:lstStyle/>
                    <a:p>
                      <a:r>
                        <a:rPr lang="en-US" sz="1600" b="0" i="0" kern="1200" dirty="0">
                          <a:solidFill>
                            <a:schemeClr val="dk1"/>
                          </a:solidFill>
                          <a:effectLst/>
                          <a:latin typeface="+mn-lt"/>
                          <a:ea typeface="+mn-ea"/>
                          <a:cs typeface="+mn-cs"/>
                        </a:rPr>
                        <a:t>Hello Contoso team! I wanted to take a moment to thank you for all your hard work over the past few months. It's been a tough couple of months, but you've all pulled together and done an amazing job. I'm really proud of you all. Looking ahead to the next quarter, I'm feeling really positive. I think we're going to achieve some great things. Thanks again, The Senior Leadership Team.</a:t>
                      </a:r>
                      <a:endParaRPr lang="en-IN" sz="1600" dirty="0"/>
                    </a:p>
                  </a:txBody>
                  <a:tcPr/>
                </a:tc>
                <a:extLst>
                  <a:ext uri="{0D108BD9-81ED-4DB2-BD59-A6C34878D82A}">
                    <a16:rowId xmlns:a16="http://schemas.microsoft.com/office/drawing/2014/main" val="2248553791"/>
                  </a:ext>
                </a:extLst>
              </a:tr>
            </a:tbl>
          </a:graphicData>
        </a:graphic>
      </p:graphicFrame>
    </p:spTree>
    <p:extLst>
      <p:ext uri="{BB962C8B-B14F-4D97-AF65-F5344CB8AC3E}">
        <p14:creationId xmlns:p14="http://schemas.microsoft.com/office/powerpoint/2010/main" val="3925131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E41A0-F63E-E3AC-DA2C-063F1930ADC6}"/>
              </a:ext>
            </a:extLst>
          </p:cNvPr>
          <p:cNvSpPr>
            <a:spLocks noGrp="1"/>
          </p:cNvSpPr>
          <p:nvPr>
            <p:ph type="title"/>
          </p:nvPr>
        </p:nvSpPr>
        <p:spPr>
          <a:xfrm>
            <a:off x="838200" y="-117761"/>
            <a:ext cx="10515600" cy="1325563"/>
          </a:xfrm>
        </p:spPr>
        <p:txBody>
          <a:bodyPr/>
          <a:lstStyle/>
          <a:p>
            <a:pPr algn="ctr"/>
            <a:r>
              <a:rPr lang="en-US" dirty="0"/>
              <a:t>Zero-Shot and Few-Shot Prompting</a:t>
            </a:r>
            <a:endParaRPr lang="en-IN" dirty="0"/>
          </a:p>
        </p:txBody>
      </p:sp>
      <p:graphicFrame>
        <p:nvGraphicFramePr>
          <p:cNvPr id="4" name="Table 3">
            <a:extLst>
              <a:ext uri="{FF2B5EF4-FFF2-40B4-BE49-F238E27FC236}">
                <a16:creationId xmlns:a16="http://schemas.microsoft.com/office/drawing/2014/main" id="{D58B8C1B-096A-37E6-A22B-8958DB385801}"/>
              </a:ext>
            </a:extLst>
          </p:cNvPr>
          <p:cNvGraphicFramePr>
            <a:graphicFrameLocks noGrp="1"/>
          </p:cNvGraphicFramePr>
          <p:nvPr>
            <p:extLst>
              <p:ext uri="{D42A27DB-BD31-4B8C-83A1-F6EECF244321}">
                <p14:modId xmlns:p14="http://schemas.microsoft.com/office/powerpoint/2010/main" val="3368184404"/>
              </p:ext>
            </p:extLst>
          </p:nvPr>
        </p:nvGraphicFramePr>
        <p:xfrm>
          <a:off x="5219271" y="1341367"/>
          <a:ext cx="6822039" cy="5034280"/>
        </p:xfrm>
        <a:graphic>
          <a:graphicData uri="http://schemas.openxmlformats.org/drawingml/2006/table">
            <a:tbl>
              <a:tblPr firstRow="1" bandRow="1">
                <a:tableStyleId>{5C22544A-7EE6-4342-B048-85BDC9FD1C3A}</a:tableStyleId>
              </a:tblPr>
              <a:tblGrid>
                <a:gridCol w="2274013">
                  <a:extLst>
                    <a:ext uri="{9D8B030D-6E8A-4147-A177-3AD203B41FA5}">
                      <a16:colId xmlns:a16="http://schemas.microsoft.com/office/drawing/2014/main" val="1252026418"/>
                    </a:ext>
                  </a:extLst>
                </a:gridCol>
                <a:gridCol w="2274013">
                  <a:extLst>
                    <a:ext uri="{9D8B030D-6E8A-4147-A177-3AD203B41FA5}">
                      <a16:colId xmlns:a16="http://schemas.microsoft.com/office/drawing/2014/main" val="4034828622"/>
                    </a:ext>
                  </a:extLst>
                </a:gridCol>
                <a:gridCol w="2274013">
                  <a:extLst>
                    <a:ext uri="{9D8B030D-6E8A-4147-A177-3AD203B41FA5}">
                      <a16:colId xmlns:a16="http://schemas.microsoft.com/office/drawing/2014/main" val="3433432631"/>
                    </a:ext>
                  </a:extLst>
                </a:gridCol>
              </a:tblGrid>
              <a:tr h="370840">
                <a:tc>
                  <a:txBody>
                    <a:bodyPr/>
                    <a:lstStyle/>
                    <a:p>
                      <a:r>
                        <a:rPr lang="en-US" sz="1400" dirty="0"/>
                        <a:t>Learning Type</a:t>
                      </a:r>
                      <a:endParaRPr lang="en-IN" sz="1400" dirty="0"/>
                    </a:p>
                  </a:txBody>
                  <a:tcPr/>
                </a:tc>
                <a:tc>
                  <a:txBody>
                    <a:bodyPr/>
                    <a:lstStyle/>
                    <a:p>
                      <a:r>
                        <a:rPr lang="en-US" sz="1400" dirty="0"/>
                        <a:t>Prompt</a:t>
                      </a:r>
                      <a:endParaRPr lang="en-IN" sz="1400" dirty="0"/>
                    </a:p>
                  </a:txBody>
                  <a:tcPr/>
                </a:tc>
                <a:tc>
                  <a:txBody>
                    <a:bodyPr/>
                    <a:lstStyle/>
                    <a:p>
                      <a:r>
                        <a:rPr lang="en-US" sz="1400" dirty="0"/>
                        <a:t>Completion</a:t>
                      </a:r>
                      <a:endParaRPr lang="en-IN" sz="1400" dirty="0"/>
                    </a:p>
                  </a:txBody>
                  <a:tcPr/>
                </a:tc>
                <a:extLst>
                  <a:ext uri="{0D108BD9-81ED-4DB2-BD59-A6C34878D82A}">
                    <a16:rowId xmlns:a16="http://schemas.microsoft.com/office/drawing/2014/main" val="78141882"/>
                  </a:ext>
                </a:extLst>
              </a:tr>
              <a:tr h="370840">
                <a:tc>
                  <a:txBody>
                    <a:bodyPr/>
                    <a:lstStyle/>
                    <a:p>
                      <a:r>
                        <a:rPr lang="en-US" sz="1400" dirty="0"/>
                        <a:t>Zero-Shot</a:t>
                      </a:r>
                      <a:endParaRPr lang="en-IN" sz="1400" dirty="0"/>
                    </a:p>
                  </a:txBody>
                  <a:tcPr/>
                </a:tc>
                <a:tc>
                  <a:txBody>
                    <a:bodyPr/>
                    <a:lstStyle/>
                    <a:p>
                      <a:r>
                        <a:rPr lang="en-US" sz="1400" b="0" i="0" kern="1200" dirty="0">
                          <a:solidFill>
                            <a:schemeClr val="dk1"/>
                          </a:solidFill>
                          <a:effectLst/>
                          <a:latin typeface="+mn-lt"/>
                          <a:ea typeface="+mn-ea"/>
                          <a:cs typeface="+mn-cs"/>
                        </a:rPr>
                        <a:t>Headline: Coach confident injury won't derail Warriors</a:t>
                      </a:r>
                      <a:br>
                        <a:rPr lang="en-US" sz="1400" dirty="0"/>
                      </a:br>
                      <a:r>
                        <a:rPr lang="en-US" sz="1400" b="0" i="0" kern="1200" dirty="0">
                          <a:solidFill>
                            <a:schemeClr val="dk1"/>
                          </a:solidFill>
                          <a:effectLst/>
                          <a:latin typeface="+mn-lt"/>
                          <a:ea typeface="+mn-ea"/>
                          <a:cs typeface="+mn-cs"/>
                        </a:rPr>
                        <a:t>Topic:</a:t>
                      </a:r>
                      <a:endParaRPr lang="en-IN" sz="1400" dirty="0"/>
                    </a:p>
                  </a:txBody>
                  <a:tcPr/>
                </a:tc>
                <a:tc>
                  <a:txBody>
                    <a:bodyPr/>
                    <a:lstStyle/>
                    <a:p>
                      <a:r>
                        <a:rPr lang="en-US" sz="1400" b="0" i="0" kern="1200" dirty="0">
                          <a:solidFill>
                            <a:schemeClr val="dk1"/>
                          </a:solidFill>
                          <a:effectLst/>
                          <a:latin typeface="+mn-lt"/>
                          <a:ea typeface="+mn-ea"/>
                          <a:cs typeface="+mn-cs"/>
                        </a:rPr>
                        <a:t>The coach is confident that the injury won't derail the Warriors' season. The team is still focused on their goals and that they'll continue to work hard to achieve them.</a:t>
                      </a:r>
                      <a:endParaRPr lang="en-IN" sz="1400" dirty="0"/>
                    </a:p>
                  </a:txBody>
                  <a:tcPr/>
                </a:tc>
                <a:extLst>
                  <a:ext uri="{0D108BD9-81ED-4DB2-BD59-A6C34878D82A}">
                    <a16:rowId xmlns:a16="http://schemas.microsoft.com/office/drawing/2014/main" val="1157788441"/>
                  </a:ext>
                </a:extLst>
              </a:tr>
              <a:tr h="370840">
                <a:tc>
                  <a:txBody>
                    <a:bodyPr/>
                    <a:lstStyle/>
                    <a:p>
                      <a:r>
                        <a:rPr lang="en-US" sz="1400" dirty="0"/>
                        <a:t>Few-Shot</a:t>
                      </a:r>
                      <a:endParaRPr lang="en-IN" sz="1400" dirty="0"/>
                    </a:p>
                  </a:txBody>
                  <a:tcPr/>
                </a:tc>
                <a:tc>
                  <a:txBody>
                    <a:bodyPr/>
                    <a:lstStyle/>
                    <a:p>
                      <a:r>
                        <a:rPr lang="en-US" sz="1400" b="0" i="0" kern="1200" dirty="0">
                          <a:solidFill>
                            <a:schemeClr val="dk1"/>
                          </a:solidFill>
                          <a:effectLst/>
                          <a:latin typeface="+mn-lt"/>
                          <a:ea typeface="+mn-ea"/>
                          <a:cs typeface="+mn-cs"/>
                        </a:rPr>
                        <a:t>Headline: Twins' Correa to use opt-out, test free agency</a:t>
                      </a:r>
                      <a:br>
                        <a:rPr lang="en-US" sz="1400" dirty="0"/>
                      </a:br>
                      <a:r>
                        <a:rPr lang="en-US" sz="1400" b="0" i="0" kern="1200" dirty="0">
                          <a:solidFill>
                            <a:schemeClr val="dk1"/>
                          </a:solidFill>
                          <a:effectLst/>
                          <a:latin typeface="+mn-lt"/>
                          <a:ea typeface="+mn-ea"/>
                          <a:cs typeface="+mn-cs"/>
                        </a:rPr>
                        <a:t>Topic: Baseball</a:t>
                      </a:r>
                      <a:br>
                        <a:rPr lang="en-US" sz="1400" dirty="0"/>
                      </a:br>
                      <a:r>
                        <a:rPr lang="en-US" sz="1400" b="0" i="0" kern="1200" dirty="0">
                          <a:solidFill>
                            <a:schemeClr val="dk1"/>
                          </a:solidFill>
                          <a:effectLst/>
                          <a:latin typeface="+mn-lt"/>
                          <a:ea typeface="+mn-ea"/>
                          <a:cs typeface="+mn-cs"/>
                        </a:rPr>
                        <a:t>Headline: Qatar World Cup to have zones for sobering up</a:t>
                      </a:r>
                      <a:br>
                        <a:rPr lang="en-US" sz="1400" dirty="0"/>
                      </a:br>
                      <a:r>
                        <a:rPr lang="en-US" sz="1400" b="0" i="0" kern="1200" dirty="0">
                          <a:solidFill>
                            <a:schemeClr val="dk1"/>
                          </a:solidFill>
                          <a:effectLst/>
                          <a:latin typeface="+mn-lt"/>
                          <a:ea typeface="+mn-ea"/>
                          <a:cs typeface="+mn-cs"/>
                        </a:rPr>
                        <a:t>Topic: Soccer</a:t>
                      </a:r>
                      <a:br>
                        <a:rPr lang="en-US" sz="1400" dirty="0"/>
                      </a:br>
                      <a:r>
                        <a:rPr lang="en-US" sz="1400" b="0" i="0" kern="1200" dirty="0">
                          <a:solidFill>
                            <a:schemeClr val="dk1"/>
                          </a:solidFill>
                          <a:effectLst/>
                          <a:latin typeface="+mn-lt"/>
                          <a:ea typeface="+mn-ea"/>
                          <a:cs typeface="+mn-cs"/>
                        </a:rPr>
                        <a:t>Headline: Yates: Fantasy football intel for Week 6</a:t>
                      </a:r>
                      <a:br>
                        <a:rPr lang="en-US" sz="1400" dirty="0"/>
                      </a:br>
                      <a:r>
                        <a:rPr lang="en-US" sz="1400" b="0" i="0" kern="1200" dirty="0">
                          <a:solidFill>
                            <a:schemeClr val="dk1"/>
                          </a:solidFill>
                          <a:effectLst/>
                          <a:latin typeface="+mn-lt"/>
                          <a:ea typeface="+mn-ea"/>
                          <a:cs typeface="+mn-cs"/>
                        </a:rPr>
                        <a:t>Topic: Football</a:t>
                      </a:r>
                      <a:br>
                        <a:rPr lang="en-US" sz="1400" dirty="0"/>
                      </a:br>
                      <a:r>
                        <a:rPr lang="en-US" sz="1400" b="0" i="0" kern="1200" dirty="0">
                          <a:solidFill>
                            <a:schemeClr val="dk1"/>
                          </a:solidFill>
                          <a:effectLst/>
                          <a:latin typeface="+mn-lt"/>
                          <a:ea typeface="+mn-ea"/>
                          <a:cs typeface="+mn-cs"/>
                        </a:rPr>
                        <a:t>Headline: Coach confident injury won't derail Warriors</a:t>
                      </a:r>
                      <a:br>
                        <a:rPr lang="en-US" sz="1400" dirty="0"/>
                      </a:br>
                      <a:r>
                        <a:rPr lang="en-US" sz="1400" b="0" i="0" kern="1200" dirty="0">
                          <a:solidFill>
                            <a:schemeClr val="dk1"/>
                          </a:solidFill>
                          <a:effectLst/>
                          <a:latin typeface="+mn-lt"/>
                          <a:ea typeface="+mn-ea"/>
                          <a:cs typeface="+mn-cs"/>
                        </a:rPr>
                        <a:t>Topic:</a:t>
                      </a:r>
                      <a:endParaRPr lang="en-IN" sz="1400" dirty="0"/>
                    </a:p>
                  </a:txBody>
                  <a:tcPr/>
                </a:tc>
                <a:tc>
                  <a:txBody>
                    <a:bodyPr/>
                    <a:lstStyle/>
                    <a:p>
                      <a:r>
                        <a:rPr lang="en-US" sz="1400" dirty="0"/>
                        <a:t>Basketball</a:t>
                      </a:r>
                      <a:endParaRPr lang="en-IN" sz="1400" dirty="0"/>
                    </a:p>
                  </a:txBody>
                  <a:tcPr/>
                </a:tc>
                <a:extLst>
                  <a:ext uri="{0D108BD9-81ED-4DB2-BD59-A6C34878D82A}">
                    <a16:rowId xmlns:a16="http://schemas.microsoft.com/office/drawing/2014/main" val="1198606727"/>
                  </a:ext>
                </a:extLst>
              </a:tr>
            </a:tbl>
          </a:graphicData>
        </a:graphic>
      </p:graphicFrame>
      <p:sp>
        <p:nvSpPr>
          <p:cNvPr id="8" name="TextBox 7">
            <a:extLst>
              <a:ext uri="{FF2B5EF4-FFF2-40B4-BE49-F238E27FC236}">
                <a16:creationId xmlns:a16="http://schemas.microsoft.com/office/drawing/2014/main" id="{D8ABF130-D384-BC47-271E-389BE11E3865}"/>
              </a:ext>
            </a:extLst>
          </p:cNvPr>
          <p:cNvSpPr txBox="1"/>
          <p:nvPr/>
        </p:nvSpPr>
        <p:spPr>
          <a:xfrm>
            <a:off x="174664" y="2183570"/>
            <a:ext cx="4869951"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dirty="0"/>
              <a:t>Successful prompts often rely on the practice of “one-shot” or “few-shot” learning. This refers to the inclusion of one or more examples of the desired behavior of the model, typically by including input and output pairs. </a:t>
            </a:r>
            <a:endParaRPr lang="en-IN" sz="1600" dirty="0"/>
          </a:p>
        </p:txBody>
      </p:sp>
      <p:sp>
        <p:nvSpPr>
          <p:cNvPr id="12" name="TextBox 11">
            <a:extLst>
              <a:ext uri="{FF2B5EF4-FFF2-40B4-BE49-F238E27FC236}">
                <a16:creationId xmlns:a16="http://schemas.microsoft.com/office/drawing/2014/main" id="{58233B6E-D108-9346-3796-6A02CF5871F0}"/>
              </a:ext>
            </a:extLst>
          </p:cNvPr>
          <p:cNvSpPr txBox="1"/>
          <p:nvPr/>
        </p:nvSpPr>
        <p:spPr>
          <a:xfrm>
            <a:off x="174664" y="4267022"/>
            <a:ext cx="4822002"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This isn't learning in the sense that the model is permanently changed, but rather that the examples better condition the model to respond as desired for only the current inference.</a:t>
            </a:r>
            <a:endParaRPr lang="en-IN" dirty="0"/>
          </a:p>
        </p:txBody>
      </p:sp>
    </p:spTree>
    <p:extLst>
      <p:ext uri="{BB962C8B-B14F-4D97-AF65-F5344CB8AC3E}">
        <p14:creationId xmlns:p14="http://schemas.microsoft.com/office/powerpoint/2010/main" val="133683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ABBE-C518-7C6A-1E50-FECE91B3551C}"/>
              </a:ext>
            </a:extLst>
          </p:cNvPr>
          <p:cNvSpPr>
            <a:spLocks noGrp="1"/>
          </p:cNvSpPr>
          <p:nvPr>
            <p:ph type="title"/>
          </p:nvPr>
        </p:nvSpPr>
        <p:spPr>
          <a:xfrm>
            <a:off x="838200" y="-86938"/>
            <a:ext cx="10515600" cy="1325563"/>
          </a:xfrm>
        </p:spPr>
        <p:txBody>
          <a:bodyPr/>
          <a:lstStyle/>
          <a:p>
            <a:pPr algn="ctr"/>
            <a:r>
              <a:rPr lang="en-US" dirty="0"/>
              <a:t>Always add Clear Syntax</a:t>
            </a:r>
            <a:endParaRPr lang="en-IN" dirty="0"/>
          </a:p>
        </p:txBody>
      </p:sp>
      <p:graphicFrame>
        <p:nvGraphicFramePr>
          <p:cNvPr id="4" name="Table 3">
            <a:extLst>
              <a:ext uri="{FF2B5EF4-FFF2-40B4-BE49-F238E27FC236}">
                <a16:creationId xmlns:a16="http://schemas.microsoft.com/office/drawing/2014/main" id="{03020841-05C0-A355-EF3F-CCC1BAFDC143}"/>
              </a:ext>
            </a:extLst>
          </p:cNvPr>
          <p:cNvGraphicFramePr>
            <a:graphicFrameLocks noGrp="1"/>
          </p:cNvGraphicFramePr>
          <p:nvPr>
            <p:extLst>
              <p:ext uri="{D42A27DB-BD31-4B8C-83A1-F6EECF244321}">
                <p14:modId xmlns:p14="http://schemas.microsoft.com/office/powerpoint/2010/main" val="2514984295"/>
              </p:ext>
            </p:extLst>
          </p:nvPr>
        </p:nvGraphicFramePr>
        <p:xfrm>
          <a:off x="1168399" y="1418309"/>
          <a:ext cx="9855201" cy="4424605"/>
        </p:xfrm>
        <a:graphic>
          <a:graphicData uri="http://schemas.openxmlformats.org/drawingml/2006/table">
            <a:tbl>
              <a:tblPr firstRow="1" bandRow="1">
                <a:tableStyleId>{5C22544A-7EE6-4342-B048-85BDC9FD1C3A}</a:tableStyleId>
              </a:tblPr>
              <a:tblGrid>
                <a:gridCol w="3285067">
                  <a:extLst>
                    <a:ext uri="{9D8B030D-6E8A-4147-A177-3AD203B41FA5}">
                      <a16:colId xmlns:a16="http://schemas.microsoft.com/office/drawing/2014/main" val="1549651650"/>
                    </a:ext>
                  </a:extLst>
                </a:gridCol>
                <a:gridCol w="3285067">
                  <a:extLst>
                    <a:ext uri="{9D8B030D-6E8A-4147-A177-3AD203B41FA5}">
                      <a16:colId xmlns:a16="http://schemas.microsoft.com/office/drawing/2014/main" val="606336102"/>
                    </a:ext>
                  </a:extLst>
                </a:gridCol>
                <a:gridCol w="3285067">
                  <a:extLst>
                    <a:ext uri="{9D8B030D-6E8A-4147-A177-3AD203B41FA5}">
                      <a16:colId xmlns:a16="http://schemas.microsoft.com/office/drawing/2014/main" val="797546183"/>
                    </a:ext>
                  </a:extLst>
                </a:gridCol>
              </a:tblGrid>
              <a:tr h="492685">
                <a:tc>
                  <a:txBody>
                    <a:bodyPr/>
                    <a:lstStyle/>
                    <a:p>
                      <a:r>
                        <a:rPr lang="en-US" dirty="0"/>
                        <a:t>System Message</a:t>
                      </a:r>
                      <a:endParaRPr lang="en-IN" dirty="0"/>
                    </a:p>
                  </a:txBody>
                  <a:tcPr/>
                </a:tc>
                <a:tc>
                  <a:txBody>
                    <a:bodyPr/>
                    <a:lstStyle/>
                    <a:p>
                      <a:r>
                        <a:rPr lang="en-US" dirty="0"/>
                        <a:t>User</a:t>
                      </a:r>
                      <a:endParaRPr lang="en-IN" dirty="0"/>
                    </a:p>
                  </a:txBody>
                  <a:tcPr/>
                </a:tc>
                <a:tc>
                  <a:txBody>
                    <a:bodyPr/>
                    <a:lstStyle/>
                    <a:p>
                      <a:r>
                        <a:rPr lang="en-US" dirty="0"/>
                        <a:t>Assistant</a:t>
                      </a:r>
                      <a:endParaRPr lang="en-IN" dirty="0"/>
                    </a:p>
                  </a:txBody>
                  <a:tcPr/>
                </a:tc>
                <a:extLst>
                  <a:ext uri="{0D108BD9-81ED-4DB2-BD59-A6C34878D82A}">
                    <a16:rowId xmlns:a16="http://schemas.microsoft.com/office/drawing/2014/main" val="3782371920"/>
                  </a:ext>
                </a:extLst>
              </a:tr>
              <a:tr h="370840">
                <a:tc>
                  <a:txBody>
                    <a:bodyPr/>
                    <a:lstStyle/>
                    <a:p>
                      <a:r>
                        <a:rPr lang="en-US" sz="1800" b="0" i="0" kern="1200" dirty="0">
                          <a:solidFill>
                            <a:schemeClr val="dk1"/>
                          </a:solidFill>
                          <a:effectLst/>
                          <a:latin typeface="+mn-lt"/>
                          <a:ea typeface="+mn-ea"/>
                          <a:cs typeface="+mn-cs"/>
                        </a:rPr>
                        <a:t>You're an AI assistant that helps people find information.</a:t>
                      </a:r>
                      <a:endParaRPr lang="en-IN" dirty="0"/>
                    </a:p>
                  </a:txBody>
                  <a:tcPr/>
                </a:tc>
                <a:tc>
                  <a:txBody>
                    <a:bodyPr/>
                    <a:lstStyle/>
                    <a:p>
                      <a:r>
                        <a:rPr lang="en-US" sz="1800" b="0" i="0" kern="1200" dirty="0">
                          <a:solidFill>
                            <a:schemeClr val="dk1"/>
                          </a:solidFill>
                          <a:effectLst/>
                          <a:latin typeface="+mn-lt"/>
                          <a:ea typeface="+mn-ea"/>
                          <a:cs typeface="+mn-cs"/>
                        </a:rPr>
                        <a:t>You'll read a paragraph, and then issue queries to a search engine in order to fact-check it. Also explain the queries.</a:t>
                      </a:r>
                      <a:br>
                        <a:rPr lang="en-US" dirty="0"/>
                      </a:br>
                      <a:r>
                        <a:rPr lang="en-US" sz="1800" b="0" i="0" kern="1200" dirty="0">
                          <a:solidFill>
                            <a:schemeClr val="dk1"/>
                          </a:solidFill>
                          <a:effectLst/>
                          <a:latin typeface="+mn-lt"/>
                          <a:ea typeface="+mn-ea"/>
                          <a:cs typeface="+mn-cs"/>
                        </a:rPr>
                        <a:t>---</a:t>
                      </a:r>
                      <a:br>
                        <a:rPr lang="en-US" dirty="0"/>
                      </a:br>
                      <a:r>
                        <a:rPr lang="en-US" sz="1800" b="0" i="0" kern="1200" dirty="0">
                          <a:solidFill>
                            <a:schemeClr val="dk1"/>
                          </a:solidFill>
                          <a:effectLst/>
                          <a:latin typeface="+mn-lt"/>
                          <a:ea typeface="+mn-ea"/>
                          <a:cs typeface="+mn-cs"/>
                        </a:rPr>
                        <a:t>PARAGRAPH</a:t>
                      </a:r>
                      <a:br>
                        <a:rPr lang="en-US" dirty="0"/>
                      </a:br>
                      <a:r>
                        <a:rPr lang="en-US" sz="1800" b="0" i="0" kern="1200" dirty="0">
                          <a:solidFill>
                            <a:schemeClr val="dk1"/>
                          </a:solidFill>
                          <a:effectLst/>
                          <a:latin typeface="+mn-lt"/>
                          <a:ea typeface="+mn-ea"/>
                          <a:cs typeface="+mn-cs"/>
                        </a:rPr>
                        <a:t>John Smith is married to Lucy Smith. They have five kids, and he works as a software engineer at Microsoft. What search queries should I do to fact-check this?</a:t>
                      </a:r>
                      <a:br>
                        <a:rPr lang="en-US" dirty="0"/>
                      </a:br>
                      <a:r>
                        <a:rPr lang="en-US" sz="1800" b="0" i="0" kern="1200" dirty="0">
                          <a:solidFill>
                            <a:schemeClr val="dk1"/>
                          </a:solidFill>
                          <a:effectLst/>
                          <a:latin typeface="+mn-lt"/>
                          <a:ea typeface="+mn-ea"/>
                          <a:cs typeface="+mn-cs"/>
                        </a:rPr>
                        <a:t>---</a:t>
                      </a:r>
                      <a:br>
                        <a:rPr lang="en-US" dirty="0"/>
                      </a:br>
                      <a:r>
                        <a:rPr lang="en-US" sz="1800" b="0" i="0" kern="1200" dirty="0">
                          <a:solidFill>
                            <a:schemeClr val="dk1"/>
                          </a:solidFill>
                          <a:effectLst/>
                          <a:latin typeface="+mn-lt"/>
                          <a:ea typeface="+mn-ea"/>
                          <a:cs typeface="+mn-cs"/>
                        </a:rPr>
                        <a:t>QUERIES</a:t>
                      </a:r>
                      <a:endParaRPr lang="en-IN" dirty="0"/>
                    </a:p>
                  </a:txBody>
                  <a:tcPr/>
                </a:tc>
                <a:tc>
                  <a:txBody>
                    <a:bodyPr/>
                    <a:lstStyle/>
                    <a:p>
                      <a:r>
                        <a:rPr lang="en-US" sz="1800" b="0" i="0" kern="1200" dirty="0">
                          <a:solidFill>
                            <a:schemeClr val="dk1"/>
                          </a:solidFill>
                          <a:effectLst/>
                          <a:latin typeface="+mn-lt"/>
                          <a:ea typeface="+mn-ea"/>
                          <a:cs typeface="+mn-cs"/>
                        </a:rPr>
                        <a:t>1. "John Smith Microsoft" - To check if John Smith is indeed employed at Microsoft.</a:t>
                      </a:r>
                      <a:br>
                        <a:rPr lang="en-US" dirty="0"/>
                      </a:br>
                      <a:r>
                        <a:rPr lang="en-US" sz="1800" b="0" i="0" kern="1200" dirty="0">
                          <a:solidFill>
                            <a:schemeClr val="dk1"/>
                          </a:solidFill>
                          <a:effectLst/>
                          <a:latin typeface="+mn-lt"/>
                          <a:ea typeface="+mn-ea"/>
                          <a:cs typeface="+mn-cs"/>
                        </a:rPr>
                        <a:t>2. "John Smith Lucy Smith" - To check if John Smith is married to Lucy Smith.</a:t>
                      </a:r>
                      <a:br>
                        <a:rPr lang="en-US" dirty="0"/>
                      </a:br>
                      <a:r>
                        <a:rPr lang="en-US" sz="1800" b="0" i="0" kern="1200" dirty="0">
                          <a:solidFill>
                            <a:schemeClr val="dk1"/>
                          </a:solidFill>
                          <a:effectLst/>
                          <a:latin typeface="+mn-lt"/>
                          <a:ea typeface="+mn-ea"/>
                          <a:cs typeface="+mn-cs"/>
                        </a:rPr>
                        <a:t>3. "John Smith children" - To check if John Smith has five children.</a:t>
                      </a:r>
                      <a:endParaRPr lang="en-IN" dirty="0"/>
                    </a:p>
                  </a:txBody>
                  <a:tcPr/>
                </a:tc>
                <a:extLst>
                  <a:ext uri="{0D108BD9-81ED-4DB2-BD59-A6C34878D82A}">
                    <a16:rowId xmlns:a16="http://schemas.microsoft.com/office/drawing/2014/main" val="2918859069"/>
                  </a:ext>
                </a:extLst>
              </a:tr>
            </a:tbl>
          </a:graphicData>
        </a:graphic>
      </p:graphicFrame>
    </p:spTree>
    <p:extLst>
      <p:ext uri="{BB962C8B-B14F-4D97-AF65-F5344CB8AC3E}">
        <p14:creationId xmlns:p14="http://schemas.microsoft.com/office/powerpoint/2010/main" val="3509987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F384-0125-BC4D-37A9-1F268E7BC5A5}"/>
              </a:ext>
            </a:extLst>
          </p:cNvPr>
          <p:cNvSpPr>
            <a:spLocks noGrp="1"/>
          </p:cNvSpPr>
          <p:nvPr>
            <p:ph type="title"/>
          </p:nvPr>
        </p:nvSpPr>
        <p:spPr>
          <a:xfrm>
            <a:off x="838200" y="-117760"/>
            <a:ext cx="10515600" cy="1325563"/>
          </a:xfrm>
        </p:spPr>
        <p:txBody>
          <a:bodyPr/>
          <a:lstStyle/>
          <a:p>
            <a:pPr algn="ctr"/>
            <a:r>
              <a:rPr lang="en-US" dirty="0"/>
              <a:t>Break the task down!!!</a:t>
            </a:r>
            <a:endParaRPr lang="en-IN" dirty="0"/>
          </a:p>
        </p:txBody>
      </p:sp>
      <p:graphicFrame>
        <p:nvGraphicFramePr>
          <p:cNvPr id="4" name="Table 3">
            <a:extLst>
              <a:ext uri="{FF2B5EF4-FFF2-40B4-BE49-F238E27FC236}">
                <a16:creationId xmlns:a16="http://schemas.microsoft.com/office/drawing/2014/main" id="{560C0469-94F2-E329-B2F9-EAB94BABCE25}"/>
              </a:ext>
            </a:extLst>
          </p:cNvPr>
          <p:cNvGraphicFramePr>
            <a:graphicFrameLocks noGrp="1"/>
          </p:cNvGraphicFramePr>
          <p:nvPr>
            <p:extLst>
              <p:ext uri="{D42A27DB-BD31-4B8C-83A1-F6EECF244321}">
                <p14:modId xmlns:p14="http://schemas.microsoft.com/office/powerpoint/2010/main" val="2327337910"/>
              </p:ext>
            </p:extLst>
          </p:nvPr>
        </p:nvGraphicFramePr>
        <p:xfrm>
          <a:off x="1132440" y="966246"/>
          <a:ext cx="9927120" cy="5674360"/>
        </p:xfrm>
        <a:graphic>
          <a:graphicData uri="http://schemas.openxmlformats.org/drawingml/2006/table">
            <a:tbl>
              <a:tblPr firstRow="1" bandRow="1">
                <a:tableStyleId>{5C22544A-7EE6-4342-B048-85BDC9FD1C3A}</a:tableStyleId>
              </a:tblPr>
              <a:tblGrid>
                <a:gridCol w="3309040">
                  <a:extLst>
                    <a:ext uri="{9D8B030D-6E8A-4147-A177-3AD203B41FA5}">
                      <a16:colId xmlns:a16="http://schemas.microsoft.com/office/drawing/2014/main" val="388104048"/>
                    </a:ext>
                  </a:extLst>
                </a:gridCol>
                <a:gridCol w="3309040">
                  <a:extLst>
                    <a:ext uri="{9D8B030D-6E8A-4147-A177-3AD203B41FA5}">
                      <a16:colId xmlns:a16="http://schemas.microsoft.com/office/drawing/2014/main" val="3204231847"/>
                    </a:ext>
                  </a:extLst>
                </a:gridCol>
                <a:gridCol w="3309040">
                  <a:extLst>
                    <a:ext uri="{9D8B030D-6E8A-4147-A177-3AD203B41FA5}">
                      <a16:colId xmlns:a16="http://schemas.microsoft.com/office/drawing/2014/main" val="3156061339"/>
                    </a:ext>
                  </a:extLst>
                </a:gridCol>
              </a:tblGrid>
              <a:tr h="370840">
                <a:tc>
                  <a:txBody>
                    <a:bodyPr/>
                    <a:lstStyle/>
                    <a:p>
                      <a:r>
                        <a:rPr lang="en-US" dirty="0"/>
                        <a:t>System Message</a:t>
                      </a:r>
                      <a:endParaRPr lang="en-IN" dirty="0"/>
                    </a:p>
                  </a:txBody>
                  <a:tcPr/>
                </a:tc>
                <a:tc>
                  <a:txBody>
                    <a:bodyPr/>
                    <a:lstStyle/>
                    <a:p>
                      <a:r>
                        <a:rPr lang="en-US" dirty="0"/>
                        <a:t>User </a:t>
                      </a:r>
                      <a:endParaRPr lang="en-IN" dirty="0"/>
                    </a:p>
                  </a:txBody>
                  <a:tcPr/>
                </a:tc>
                <a:tc>
                  <a:txBody>
                    <a:bodyPr/>
                    <a:lstStyle/>
                    <a:p>
                      <a:r>
                        <a:rPr lang="en-US" dirty="0"/>
                        <a:t>Assistant</a:t>
                      </a:r>
                      <a:endParaRPr lang="en-IN" dirty="0"/>
                    </a:p>
                  </a:txBody>
                  <a:tcPr/>
                </a:tc>
                <a:extLst>
                  <a:ext uri="{0D108BD9-81ED-4DB2-BD59-A6C34878D82A}">
                    <a16:rowId xmlns:a16="http://schemas.microsoft.com/office/drawing/2014/main" val="3639436294"/>
                  </a:ext>
                </a:extLst>
              </a:tr>
              <a:tr h="370840">
                <a:tc>
                  <a:txBody>
                    <a:bodyPr/>
                    <a:lstStyle/>
                    <a:p>
                      <a:r>
                        <a:rPr lang="en-US" sz="1800" b="0" i="0" kern="1200" dirty="0">
                          <a:solidFill>
                            <a:schemeClr val="dk1"/>
                          </a:solidFill>
                          <a:effectLst/>
                          <a:latin typeface="+mn-lt"/>
                          <a:ea typeface="+mn-ea"/>
                          <a:cs typeface="+mn-cs"/>
                        </a:rPr>
                        <a:t>You're an AI assistant that helps people find information.</a:t>
                      </a:r>
                      <a:endParaRPr lang="en-IN" dirty="0"/>
                    </a:p>
                  </a:txBody>
                  <a:tcPr/>
                </a:tc>
                <a:tc>
                  <a:txBody>
                    <a:bodyPr/>
                    <a:lstStyle/>
                    <a:p>
                      <a:r>
                        <a:rPr lang="en-US" sz="1800" b="0" i="0" kern="1200" dirty="0">
                          <a:solidFill>
                            <a:schemeClr val="dk1"/>
                          </a:solidFill>
                          <a:effectLst/>
                          <a:latin typeface="+mn-lt"/>
                          <a:ea typeface="+mn-ea"/>
                          <a:cs typeface="+mn-cs"/>
                        </a:rPr>
                        <a:t>You'll read a paragraph, and then issue queries to a search engine in order to fact-check it.</a:t>
                      </a:r>
                      <a:br>
                        <a:rPr lang="en-US" dirty="0"/>
                      </a:br>
                      <a:r>
                        <a:rPr lang="en-US" sz="1800" b="0" i="0" kern="1200" dirty="0">
                          <a:solidFill>
                            <a:schemeClr val="dk1"/>
                          </a:solidFill>
                          <a:effectLst/>
                          <a:latin typeface="+mn-lt"/>
                          <a:ea typeface="+mn-ea"/>
                          <a:cs typeface="+mn-cs"/>
                        </a:rPr>
                        <a:t>---</a:t>
                      </a:r>
                      <a:br>
                        <a:rPr lang="en-US" dirty="0"/>
                      </a:br>
                      <a:r>
                        <a:rPr lang="en-US" sz="1800" b="0" i="0" kern="1200" dirty="0">
                          <a:solidFill>
                            <a:schemeClr val="dk1"/>
                          </a:solidFill>
                          <a:effectLst/>
                          <a:latin typeface="+mn-lt"/>
                          <a:ea typeface="+mn-ea"/>
                          <a:cs typeface="+mn-cs"/>
                        </a:rPr>
                        <a:t>PARAGRAPH</a:t>
                      </a:r>
                      <a:br>
                        <a:rPr lang="en-US" dirty="0"/>
                      </a:br>
                      <a:r>
                        <a:rPr lang="en-US" sz="1800" b="0" i="0" kern="1200" dirty="0">
                          <a:solidFill>
                            <a:schemeClr val="dk1"/>
                          </a:solidFill>
                          <a:effectLst/>
                          <a:latin typeface="+mn-lt"/>
                          <a:ea typeface="+mn-ea"/>
                          <a:cs typeface="+mn-cs"/>
                        </a:rPr>
                        <a:t>John Smith is married to Lucy Smith. They have five kids, and he works as a software engineer at Microsoft. What search queries should I do to fact-check this?</a:t>
                      </a:r>
                      <a:br>
                        <a:rPr lang="en-US" dirty="0"/>
                      </a:br>
                      <a:r>
                        <a:rPr lang="en-US" sz="1800" b="0" i="0" kern="1200" dirty="0">
                          <a:solidFill>
                            <a:schemeClr val="dk1"/>
                          </a:solidFill>
                          <a:effectLst/>
                          <a:latin typeface="+mn-lt"/>
                          <a:ea typeface="+mn-ea"/>
                          <a:cs typeface="+mn-cs"/>
                        </a:rPr>
                        <a:t>---</a:t>
                      </a:r>
                      <a:br>
                        <a:rPr lang="en-US" dirty="0"/>
                      </a:br>
                      <a:r>
                        <a:rPr lang="en-US" sz="1800" b="0" i="0" kern="1200" dirty="0">
                          <a:solidFill>
                            <a:schemeClr val="dk1"/>
                          </a:solidFill>
                          <a:effectLst/>
                          <a:latin typeface="+mn-lt"/>
                          <a:ea typeface="+mn-ea"/>
                          <a:cs typeface="+mn-cs"/>
                        </a:rPr>
                        <a:t>Now you'll extract factual claims, and issue queries to fact-check them. When issuing a query, use the function SEARCH("query")</a:t>
                      </a:r>
                      <a:br>
                        <a:rPr lang="en-US" dirty="0"/>
                      </a:br>
                      <a:br>
                        <a:rPr lang="en-US" dirty="0"/>
                      </a:br>
                      <a:r>
                        <a:rPr lang="en-US" sz="1800" b="0" i="0" kern="1200" dirty="0">
                          <a:solidFill>
                            <a:schemeClr val="dk1"/>
                          </a:solidFill>
                          <a:effectLst/>
                          <a:latin typeface="+mn-lt"/>
                          <a:ea typeface="+mn-ea"/>
                          <a:cs typeface="+mn-cs"/>
                        </a:rPr>
                        <a:t>FACTUAL CLAIMS</a:t>
                      </a:r>
                      <a:endParaRPr lang="en-IN" dirty="0"/>
                    </a:p>
                  </a:txBody>
                  <a:tcPr/>
                </a:tc>
                <a:tc>
                  <a:txBody>
                    <a:bodyPr/>
                    <a:lstStyle/>
                    <a:p>
                      <a:r>
                        <a:rPr lang="en-US" sz="1800" b="0" i="0" kern="1200" dirty="0">
                          <a:solidFill>
                            <a:schemeClr val="dk1"/>
                          </a:solidFill>
                          <a:effectLst/>
                          <a:latin typeface="+mn-lt"/>
                          <a:ea typeface="+mn-ea"/>
                          <a:cs typeface="+mn-cs"/>
                        </a:rPr>
                        <a:t>1. John Smith is married to Lucy Smith</a:t>
                      </a:r>
                      <a:br>
                        <a:rPr lang="en-US" dirty="0"/>
                      </a:br>
                      <a:r>
                        <a:rPr lang="en-US" sz="1800" b="0" i="0" kern="1200" dirty="0">
                          <a:solidFill>
                            <a:schemeClr val="dk1"/>
                          </a:solidFill>
                          <a:effectLst/>
                          <a:latin typeface="+mn-lt"/>
                          <a:ea typeface="+mn-ea"/>
                          <a:cs typeface="+mn-cs"/>
                        </a:rPr>
                        <a:t>2. They have five kids</a:t>
                      </a:r>
                      <a:br>
                        <a:rPr lang="en-US" dirty="0"/>
                      </a:br>
                      <a:r>
                        <a:rPr lang="en-US" sz="1800" b="0" i="0" kern="1200" dirty="0">
                          <a:solidFill>
                            <a:schemeClr val="dk1"/>
                          </a:solidFill>
                          <a:effectLst/>
                          <a:latin typeface="+mn-lt"/>
                          <a:ea typeface="+mn-ea"/>
                          <a:cs typeface="+mn-cs"/>
                        </a:rPr>
                        <a:t>3. He works as a software engineer at Microsoft</a:t>
                      </a:r>
                      <a:br>
                        <a:rPr lang="en-US" dirty="0"/>
                      </a:br>
                      <a:br>
                        <a:rPr lang="en-US" dirty="0"/>
                      </a:br>
                      <a:r>
                        <a:rPr lang="en-US" sz="1800" b="0" i="0" kern="1200" dirty="0">
                          <a:solidFill>
                            <a:schemeClr val="dk1"/>
                          </a:solidFill>
                          <a:effectLst/>
                          <a:latin typeface="+mn-lt"/>
                          <a:ea typeface="+mn-ea"/>
                          <a:cs typeface="+mn-cs"/>
                        </a:rPr>
                        <a:t>QUERIES</a:t>
                      </a:r>
                      <a:br>
                        <a:rPr lang="en-US" dirty="0"/>
                      </a:br>
                      <a:r>
                        <a:rPr lang="en-US" sz="1800" b="0" i="0" kern="1200" dirty="0">
                          <a:solidFill>
                            <a:schemeClr val="dk1"/>
                          </a:solidFill>
                          <a:effectLst/>
                          <a:latin typeface="+mn-lt"/>
                          <a:ea typeface="+mn-ea"/>
                          <a:cs typeface="+mn-cs"/>
                        </a:rPr>
                        <a:t>SEARCH("John Smith married Lucy Smith")</a:t>
                      </a:r>
                      <a:br>
                        <a:rPr lang="en-US" dirty="0"/>
                      </a:br>
                      <a:r>
                        <a:rPr lang="en-US" sz="1800" b="0" i="0" kern="1200" dirty="0">
                          <a:solidFill>
                            <a:schemeClr val="dk1"/>
                          </a:solidFill>
                          <a:effectLst/>
                          <a:latin typeface="+mn-lt"/>
                          <a:ea typeface="+mn-ea"/>
                          <a:cs typeface="+mn-cs"/>
                        </a:rPr>
                        <a:t>SEARCH("John Smith family size")</a:t>
                      </a:r>
                      <a:br>
                        <a:rPr lang="en-US" dirty="0"/>
                      </a:br>
                      <a:r>
                        <a:rPr lang="en-US" sz="1800" b="0" i="0" kern="1200" dirty="0">
                          <a:solidFill>
                            <a:schemeClr val="dk1"/>
                          </a:solidFill>
                          <a:effectLst/>
                          <a:latin typeface="+mn-lt"/>
                          <a:ea typeface="+mn-ea"/>
                          <a:cs typeface="+mn-cs"/>
                        </a:rPr>
                        <a:t>SEARCH("John Smith Microsoft software engineer")</a:t>
                      </a:r>
                      <a:endParaRPr lang="en-IN" dirty="0"/>
                    </a:p>
                  </a:txBody>
                  <a:tcPr/>
                </a:tc>
                <a:extLst>
                  <a:ext uri="{0D108BD9-81ED-4DB2-BD59-A6C34878D82A}">
                    <a16:rowId xmlns:a16="http://schemas.microsoft.com/office/drawing/2014/main" val="1402771109"/>
                  </a:ext>
                </a:extLst>
              </a:tr>
            </a:tbl>
          </a:graphicData>
        </a:graphic>
      </p:graphicFrame>
    </p:spTree>
    <p:extLst>
      <p:ext uri="{BB962C8B-B14F-4D97-AF65-F5344CB8AC3E}">
        <p14:creationId xmlns:p14="http://schemas.microsoft.com/office/powerpoint/2010/main" val="1152356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DAC0-57B4-2502-183E-8D19DE3A95FF}"/>
              </a:ext>
            </a:extLst>
          </p:cNvPr>
          <p:cNvSpPr>
            <a:spLocks noGrp="1"/>
          </p:cNvSpPr>
          <p:nvPr>
            <p:ph type="title"/>
          </p:nvPr>
        </p:nvSpPr>
        <p:spPr>
          <a:xfrm>
            <a:off x="838200" y="-302695"/>
            <a:ext cx="10515600" cy="1325563"/>
          </a:xfrm>
        </p:spPr>
        <p:txBody>
          <a:bodyPr/>
          <a:lstStyle/>
          <a:p>
            <a:pPr algn="ctr"/>
            <a:r>
              <a:rPr lang="en-US" dirty="0"/>
              <a:t>Chain-of-Thought Prompting</a:t>
            </a:r>
            <a:endParaRPr lang="en-IN" dirty="0"/>
          </a:p>
        </p:txBody>
      </p:sp>
      <p:graphicFrame>
        <p:nvGraphicFramePr>
          <p:cNvPr id="4" name="Table 3">
            <a:extLst>
              <a:ext uri="{FF2B5EF4-FFF2-40B4-BE49-F238E27FC236}">
                <a16:creationId xmlns:a16="http://schemas.microsoft.com/office/drawing/2014/main" id="{878507C2-2F76-6168-CBEF-136E6462883F}"/>
              </a:ext>
            </a:extLst>
          </p:cNvPr>
          <p:cNvGraphicFramePr>
            <a:graphicFrameLocks noGrp="1"/>
          </p:cNvGraphicFramePr>
          <p:nvPr>
            <p:extLst>
              <p:ext uri="{D42A27DB-BD31-4B8C-83A1-F6EECF244321}">
                <p14:modId xmlns:p14="http://schemas.microsoft.com/office/powerpoint/2010/main" val="1516648126"/>
              </p:ext>
            </p:extLst>
          </p:nvPr>
        </p:nvGraphicFramePr>
        <p:xfrm>
          <a:off x="433798" y="781311"/>
          <a:ext cx="11324403" cy="5796280"/>
        </p:xfrm>
        <a:graphic>
          <a:graphicData uri="http://schemas.openxmlformats.org/drawingml/2006/table">
            <a:tbl>
              <a:tblPr firstRow="1" bandRow="1">
                <a:tableStyleId>{5C22544A-7EE6-4342-B048-85BDC9FD1C3A}</a:tableStyleId>
              </a:tblPr>
              <a:tblGrid>
                <a:gridCol w="3774801">
                  <a:extLst>
                    <a:ext uri="{9D8B030D-6E8A-4147-A177-3AD203B41FA5}">
                      <a16:colId xmlns:a16="http://schemas.microsoft.com/office/drawing/2014/main" val="3249699801"/>
                    </a:ext>
                  </a:extLst>
                </a:gridCol>
                <a:gridCol w="3774801">
                  <a:extLst>
                    <a:ext uri="{9D8B030D-6E8A-4147-A177-3AD203B41FA5}">
                      <a16:colId xmlns:a16="http://schemas.microsoft.com/office/drawing/2014/main" val="1746608556"/>
                    </a:ext>
                  </a:extLst>
                </a:gridCol>
                <a:gridCol w="3774801">
                  <a:extLst>
                    <a:ext uri="{9D8B030D-6E8A-4147-A177-3AD203B41FA5}">
                      <a16:colId xmlns:a16="http://schemas.microsoft.com/office/drawing/2014/main" val="282940728"/>
                    </a:ext>
                  </a:extLst>
                </a:gridCol>
              </a:tblGrid>
              <a:tr h="370840">
                <a:tc>
                  <a:txBody>
                    <a:bodyPr/>
                    <a:lstStyle/>
                    <a:p>
                      <a:r>
                        <a:rPr lang="en-US" sz="1400" dirty="0"/>
                        <a:t>System Message</a:t>
                      </a:r>
                      <a:endParaRPr lang="en-IN" sz="1400" dirty="0"/>
                    </a:p>
                  </a:txBody>
                  <a:tcPr/>
                </a:tc>
                <a:tc>
                  <a:txBody>
                    <a:bodyPr/>
                    <a:lstStyle/>
                    <a:p>
                      <a:r>
                        <a:rPr lang="en-US" sz="1400" dirty="0"/>
                        <a:t>User</a:t>
                      </a:r>
                      <a:endParaRPr lang="en-IN" sz="1400" dirty="0"/>
                    </a:p>
                  </a:txBody>
                  <a:tcPr/>
                </a:tc>
                <a:tc>
                  <a:txBody>
                    <a:bodyPr/>
                    <a:lstStyle/>
                    <a:p>
                      <a:r>
                        <a:rPr lang="en-US" sz="1400" dirty="0"/>
                        <a:t>Assistant</a:t>
                      </a:r>
                      <a:endParaRPr lang="en-IN" sz="1400" dirty="0"/>
                    </a:p>
                  </a:txBody>
                  <a:tcPr/>
                </a:tc>
                <a:extLst>
                  <a:ext uri="{0D108BD9-81ED-4DB2-BD59-A6C34878D82A}">
                    <a16:rowId xmlns:a16="http://schemas.microsoft.com/office/drawing/2014/main" val="3222315189"/>
                  </a:ext>
                </a:extLst>
              </a:tr>
              <a:tr h="370840">
                <a:tc>
                  <a:txBody>
                    <a:bodyPr/>
                    <a:lstStyle/>
                    <a:p>
                      <a:r>
                        <a:rPr lang="en-US" sz="1400" b="0" i="0" kern="1200" dirty="0">
                          <a:solidFill>
                            <a:schemeClr val="dk1"/>
                          </a:solidFill>
                          <a:effectLst/>
                          <a:latin typeface="+mn-lt"/>
                          <a:ea typeface="+mn-ea"/>
                          <a:cs typeface="+mn-cs"/>
                        </a:rPr>
                        <a:t>You're an AI assistant that helps people find information.</a:t>
                      </a:r>
                      <a:endParaRPr lang="en-IN" sz="1400" dirty="0"/>
                    </a:p>
                  </a:txBody>
                  <a:tcPr/>
                </a:tc>
                <a:tc>
                  <a:txBody>
                    <a:bodyPr/>
                    <a:lstStyle/>
                    <a:p>
                      <a:r>
                        <a:rPr lang="en-US" sz="1400" b="0" i="0" kern="1200" dirty="0">
                          <a:solidFill>
                            <a:schemeClr val="dk1"/>
                          </a:solidFill>
                          <a:effectLst/>
                          <a:latin typeface="+mn-lt"/>
                          <a:ea typeface="+mn-ea"/>
                          <a:cs typeface="+mn-cs"/>
                        </a:rPr>
                        <a:t>Who was the most decorated (maximum medals) individual athlete in the Olympic games that were held at Sydney? Take a step-by-step approach in your response, cite sources and give reasoning before sharing final answer in the below format: ANSWER is: &lt;name&gt;</a:t>
                      </a:r>
                      <a:endParaRPr lang="en-IN" sz="1400" dirty="0"/>
                    </a:p>
                  </a:txBody>
                  <a:tcPr/>
                </a:tc>
                <a:tc>
                  <a:txBody>
                    <a:bodyPr/>
                    <a:lstStyle/>
                    <a:p>
                      <a:r>
                        <a:rPr lang="en-US" sz="1400" b="0" i="0" kern="1200" dirty="0">
                          <a:solidFill>
                            <a:schemeClr val="dk1"/>
                          </a:solidFill>
                          <a:effectLst/>
                          <a:latin typeface="+mn-lt"/>
                          <a:ea typeface="+mn-ea"/>
                          <a:cs typeface="+mn-cs"/>
                        </a:rPr>
                        <a:t>Step 1: Determine the year of the Sydney Olympic games. The Sydney Olympic games were held in the year 2000.</a:t>
                      </a:r>
                      <a:br>
                        <a:rPr lang="en-US" sz="1400" dirty="0"/>
                      </a:br>
                      <a:br>
                        <a:rPr lang="en-US" sz="1400" dirty="0"/>
                      </a:br>
                      <a:r>
                        <a:rPr lang="en-US" sz="1400" b="0" i="0" kern="1200" dirty="0">
                          <a:solidFill>
                            <a:schemeClr val="dk1"/>
                          </a:solidFill>
                          <a:effectLst/>
                          <a:latin typeface="+mn-lt"/>
                          <a:ea typeface="+mn-ea"/>
                          <a:cs typeface="+mn-cs"/>
                        </a:rPr>
                        <a:t>Step 2: Find a list of individual athletes who won multiple medals in the 2000 Sydney Olympics.</a:t>
                      </a:r>
                      <a:br>
                        <a:rPr lang="en-US" sz="1400" dirty="0"/>
                      </a:br>
                      <a:br>
                        <a:rPr lang="en-US" sz="1400" dirty="0"/>
                      </a:br>
                      <a:r>
                        <a:rPr lang="en-US" sz="1400" b="0" i="0" kern="1200" dirty="0">
                          <a:solidFill>
                            <a:schemeClr val="dk1"/>
                          </a:solidFill>
                          <a:effectLst/>
                          <a:latin typeface="+mn-lt"/>
                          <a:ea typeface="+mn-ea"/>
                          <a:cs typeface="+mn-cs"/>
                        </a:rPr>
                        <a:t>According to the official website of the Olympic Games, there were several individual athletes who won multiple medals in the 2000 Sydney Olympics. Some of the notable names include:</a:t>
                      </a:r>
                      <a:br>
                        <a:rPr lang="en-US" sz="1400" dirty="0"/>
                      </a:br>
                      <a:r>
                        <a:rPr lang="en-US" sz="1400" b="0" i="0" kern="1200" dirty="0">
                          <a:solidFill>
                            <a:schemeClr val="dk1"/>
                          </a:solidFill>
                          <a:effectLst/>
                          <a:latin typeface="+mn-lt"/>
                          <a:ea typeface="+mn-ea"/>
                          <a:cs typeface="+mn-cs"/>
                        </a:rPr>
                        <a:t>• Ian Thorpe (Australia) - 3 gold, 2 silver, 0 bronze</a:t>
                      </a:r>
                      <a:br>
                        <a:rPr lang="en-US" sz="1400" dirty="0"/>
                      </a:br>
                      <a:r>
                        <a:rPr lang="en-US" sz="1400" b="0" i="0" kern="1200" dirty="0">
                          <a:solidFill>
                            <a:schemeClr val="dk1"/>
                          </a:solidFill>
                          <a:effectLst/>
                          <a:latin typeface="+mn-lt"/>
                          <a:ea typeface="+mn-ea"/>
                          <a:cs typeface="+mn-cs"/>
                        </a:rPr>
                        <a:t>• Pieter van den Hoogenband (Netherlands) - 2 gold, 0 silver, 2 bronze</a:t>
                      </a:r>
                      <a:br>
                        <a:rPr lang="en-US" sz="1400" dirty="0"/>
                      </a:br>
                      <a:r>
                        <a:rPr lang="en-US" sz="1400" b="0" i="0" kern="1200" dirty="0">
                          <a:solidFill>
                            <a:schemeClr val="dk1"/>
                          </a:solidFill>
                          <a:effectLst/>
                          <a:latin typeface="+mn-lt"/>
                          <a:ea typeface="+mn-ea"/>
                          <a:cs typeface="+mn-cs"/>
                        </a:rPr>
                        <a:t>• Lenny </a:t>
                      </a:r>
                      <a:r>
                        <a:rPr lang="en-US" sz="1400" b="0" i="0" kern="1200" dirty="0" err="1">
                          <a:solidFill>
                            <a:schemeClr val="dk1"/>
                          </a:solidFill>
                          <a:effectLst/>
                          <a:latin typeface="+mn-lt"/>
                          <a:ea typeface="+mn-ea"/>
                          <a:cs typeface="+mn-cs"/>
                        </a:rPr>
                        <a:t>Krayzelburg</a:t>
                      </a:r>
                      <a:r>
                        <a:rPr lang="en-US" sz="1400" b="0" i="0" kern="1200" dirty="0">
                          <a:solidFill>
                            <a:schemeClr val="dk1"/>
                          </a:solidFill>
                          <a:effectLst/>
                          <a:latin typeface="+mn-lt"/>
                          <a:ea typeface="+mn-ea"/>
                          <a:cs typeface="+mn-cs"/>
                        </a:rPr>
                        <a:t> (USA) - 3 gold, 0 silver, 0 bronze</a:t>
                      </a:r>
                      <a:br>
                        <a:rPr lang="en-US" sz="1400" dirty="0"/>
                      </a:br>
                      <a:r>
                        <a:rPr lang="en-US" sz="1400" b="0" i="0" kern="1200" dirty="0">
                          <a:solidFill>
                            <a:schemeClr val="dk1"/>
                          </a:solidFill>
                          <a:effectLst/>
                          <a:latin typeface="+mn-lt"/>
                          <a:ea typeface="+mn-ea"/>
                          <a:cs typeface="+mn-cs"/>
                        </a:rPr>
                        <a:t>• Inge de Bruijn (Netherlands) - 3 gold, 1 silver, 0 bronze</a:t>
                      </a:r>
                      <a:br>
                        <a:rPr lang="en-US" sz="1400" dirty="0"/>
                      </a:br>
                      <a:br>
                        <a:rPr lang="en-US" sz="1400" dirty="0"/>
                      </a:br>
                      <a:r>
                        <a:rPr lang="en-US" sz="1400" b="0" i="0" kern="1200" dirty="0">
                          <a:solidFill>
                            <a:schemeClr val="dk1"/>
                          </a:solidFill>
                          <a:effectLst/>
                          <a:latin typeface="+mn-lt"/>
                          <a:ea typeface="+mn-ea"/>
                          <a:cs typeface="+mn-cs"/>
                        </a:rPr>
                        <a:t>Step 3…………….</a:t>
                      </a:r>
                    </a:p>
                    <a:p>
                      <a:br>
                        <a:rPr lang="en-US" sz="1400" dirty="0"/>
                      </a:br>
                      <a:r>
                        <a:rPr lang="en-US" sz="1400" b="0" i="0" kern="1200" dirty="0">
                          <a:solidFill>
                            <a:schemeClr val="dk1"/>
                          </a:solidFill>
                          <a:effectLst/>
                          <a:latin typeface="+mn-lt"/>
                          <a:ea typeface="+mn-ea"/>
                          <a:cs typeface="+mn-cs"/>
                        </a:rPr>
                        <a:t>Therefore, the ANSWER is: Ian Thorpe.</a:t>
                      </a:r>
                      <a:endParaRPr lang="en-IN" sz="1400" dirty="0"/>
                    </a:p>
                  </a:txBody>
                  <a:tcPr/>
                </a:tc>
                <a:extLst>
                  <a:ext uri="{0D108BD9-81ED-4DB2-BD59-A6C34878D82A}">
                    <a16:rowId xmlns:a16="http://schemas.microsoft.com/office/drawing/2014/main" val="3222273842"/>
                  </a:ext>
                </a:extLst>
              </a:tr>
            </a:tbl>
          </a:graphicData>
        </a:graphic>
      </p:graphicFrame>
    </p:spTree>
    <p:extLst>
      <p:ext uri="{BB962C8B-B14F-4D97-AF65-F5344CB8AC3E}">
        <p14:creationId xmlns:p14="http://schemas.microsoft.com/office/powerpoint/2010/main" val="1647081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28714-E8DE-3E81-C067-1E4CB7F0FFEB}"/>
              </a:ext>
            </a:extLst>
          </p:cNvPr>
          <p:cNvSpPr>
            <a:spLocks noGrp="1"/>
          </p:cNvSpPr>
          <p:nvPr>
            <p:ph type="title"/>
          </p:nvPr>
        </p:nvSpPr>
        <p:spPr>
          <a:xfrm>
            <a:off x="951216" y="-220502"/>
            <a:ext cx="10515600" cy="1325563"/>
          </a:xfrm>
        </p:spPr>
        <p:txBody>
          <a:bodyPr/>
          <a:lstStyle/>
          <a:p>
            <a:pPr algn="ctr"/>
            <a:r>
              <a:rPr lang="en-US" dirty="0"/>
              <a:t>Specify the Output Structure</a:t>
            </a:r>
            <a:endParaRPr lang="en-IN" dirty="0"/>
          </a:p>
        </p:txBody>
      </p:sp>
      <p:graphicFrame>
        <p:nvGraphicFramePr>
          <p:cNvPr id="4" name="Table 3">
            <a:extLst>
              <a:ext uri="{FF2B5EF4-FFF2-40B4-BE49-F238E27FC236}">
                <a16:creationId xmlns:a16="http://schemas.microsoft.com/office/drawing/2014/main" id="{8F8A6E1A-2ABF-D34F-59F5-ADD0939615FE}"/>
              </a:ext>
            </a:extLst>
          </p:cNvPr>
          <p:cNvGraphicFramePr>
            <a:graphicFrameLocks noGrp="1"/>
          </p:cNvGraphicFramePr>
          <p:nvPr>
            <p:extLst>
              <p:ext uri="{D42A27DB-BD31-4B8C-83A1-F6EECF244321}">
                <p14:modId xmlns:p14="http://schemas.microsoft.com/office/powerpoint/2010/main" val="3352637719"/>
              </p:ext>
            </p:extLst>
          </p:nvPr>
        </p:nvGraphicFramePr>
        <p:xfrm>
          <a:off x="495015" y="1105061"/>
          <a:ext cx="11201970" cy="4942840"/>
        </p:xfrm>
        <a:graphic>
          <a:graphicData uri="http://schemas.openxmlformats.org/drawingml/2006/table">
            <a:tbl>
              <a:tblPr firstRow="1" bandRow="1">
                <a:tableStyleId>{5C22544A-7EE6-4342-B048-85BDC9FD1C3A}</a:tableStyleId>
              </a:tblPr>
              <a:tblGrid>
                <a:gridCol w="3733990">
                  <a:extLst>
                    <a:ext uri="{9D8B030D-6E8A-4147-A177-3AD203B41FA5}">
                      <a16:colId xmlns:a16="http://schemas.microsoft.com/office/drawing/2014/main" val="2188335044"/>
                    </a:ext>
                  </a:extLst>
                </a:gridCol>
                <a:gridCol w="3733990">
                  <a:extLst>
                    <a:ext uri="{9D8B030D-6E8A-4147-A177-3AD203B41FA5}">
                      <a16:colId xmlns:a16="http://schemas.microsoft.com/office/drawing/2014/main" val="3923857979"/>
                    </a:ext>
                  </a:extLst>
                </a:gridCol>
                <a:gridCol w="3733990">
                  <a:extLst>
                    <a:ext uri="{9D8B030D-6E8A-4147-A177-3AD203B41FA5}">
                      <a16:colId xmlns:a16="http://schemas.microsoft.com/office/drawing/2014/main" val="421265192"/>
                    </a:ext>
                  </a:extLst>
                </a:gridCol>
              </a:tblGrid>
              <a:tr h="370840">
                <a:tc>
                  <a:txBody>
                    <a:bodyPr/>
                    <a:lstStyle/>
                    <a:p>
                      <a:r>
                        <a:rPr lang="en-US" sz="1400" dirty="0"/>
                        <a:t>System Message</a:t>
                      </a:r>
                      <a:endParaRPr lang="en-IN" sz="1400" dirty="0"/>
                    </a:p>
                  </a:txBody>
                  <a:tcPr/>
                </a:tc>
                <a:tc>
                  <a:txBody>
                    <a:bodyPr/>
                    <a:lstStyle/>
                    <a:p>
                      <a:r>
                        <a:rPr lang="en-US" sz="1400" dirty="0"/>
                        <a:t>User </a:t>
                      </a:r>
                      <a:endParaRPr lang="en-IN" sz="1400" dirty="0"/>
                    </a:p>
                  </a:txBody>
                  <a:tcPr/>
                </a:tc>
                <a:tc>
                  <a:txBody>
                    <a:bodyPr/>
                    <a:lstStyle/>
                    <a:p>
                      <a:r>
                        <a:rPr lang="en-US" sz="1400" dirty="0"/>
                        <a:t>Assistant</a:t>
                      </a:r>
                      <a:endParaRPr lang="en-IN" sz="1400" dirty="0"/>
                    </a:p>
                  </a:txBody>
                  <a:tcPr/>
                </a:tc>
                <a:extLst>
                  <a:ext uri="{0D108BD9-81ED-4DB2-BD59-A6C34878D82A}">
                    <a16:rowId xmlns:a16="http://schemas.microsoft.com/office/drawing/2014/main" val="1869942416"/>
                  </a:ext>
                </a:extLst>
              </a:tr>
              <a:tr h="370840">
                <a:tc>
                  <a:txBody>
                    <a:bodyPr/>
                    <a:lstStyle/>
                    <a:p>
                      <a:r>
                        <a:rPr lang="en-US" sz="1400" dirty="0"/>
                        <a:t>You are an AI assistant that organizes text into structured categories.</a:t>
                      </a:r>
                    </a:p>
                    <a:p>
                      <a:r>
                        <a:rPr lang="en-US" sz="1400" dirty="0"/>
                        <a:t>Always follow the output format exactly as specified.</a:t>
                      </a:r>
                      <a:endParaRPr lang="en-IN" sz="1400" dirty="0"/>
                    </a:p>
                  </a:txBody>
                  <a:tcPr/>
                </a:tc>
                <a:tc>
                  <a:txBody>
                    <a:bodyPr/>
                    <a:lstStyle/>
                    <a:p>
                      <a:r>
                        <a:rPr lang="en-US" sz="1400" dirty="0"/>
                        <a:t>Group the following customer feedback into sentiment categories.</a:t>
                      </a:r>
                    </a:p>
                    <a:p>
                      <a:r>
                        <a:rPr lang="en-US" sz="1400" dirty="0"/>
                        <a:t>Also explain why each feedback belongs to that category.</a:t>
                      </a:r>
                    </a:p>
                    <a:p>
                      <a:endParaRPr lang="en-US" sz="1400" dirty="0"/>
                    </a:p>
                    <a:p>
                      <a:r>
                        <a:rPr lang="en-US" sz="1400" dirty="0"/>
                        <a:t>Output format:</a:t>
                      </a:r>
                    </a:p>
                    <a:p>
                      <a:r>
                        <a:rPr lang="en-US" sz="1400" dirty="0"/>
                        <a:t>{</a:t>
                      </a:r>
                    </a:p>
                    <a:p>
                      <a:r>
                        <a:rPr lang="en-US" sz="1400" dirty="0"/>
                        <a:t>  "SENTIMENT": "",</a:t>
                      </a:r>
                    </a:p>
                    <a:p>
                      <a:r>
                        <a:rPr lang="en-US" sz="1400" dirty="0"/>
                        <a:t>  "FEEDBACK": [],</a:t>
                      </a:r>
                    </a:p>
                    <a:p>
                      <a:r>
                        <a:rPr lang="en-US" sz="1400" dirty="0"/>
                        <a:t>  "REASONING": ""</a:t>
                      </a:r>
                    </a:p>
                    <a:p>
                      <a:r>
                        <a:rPr lang="en-US" sz="1400" dirty="0"/>
                        <a:t>}</a:t>
                      </a:r>
                    </a:p>
                    <a:p>
                      <a:endParaRPr lang="en-US" sz="1400" dirty="0"/>
                    </a:p>
                    <a:p>
                      <a:r>
                        <a:rPr lang="en-US" sz="1400" dirty="0"/>
                        <a:t>Input feedback:</a:t>
                      </a:r>
                    </a:p>
                    <a:p>
                      <a:r>
                        <a:rPr lang="en-US" sz="1400" dirty="0"/>
                        <a:t>1. "The app is very fast and easy to use."</a:t>
                      </a:r>
                    </a:p>
                    <a:p>
                      <a:r>
                        <a:rPr lang="en-US" sz="1400" dirty="0"/>
                        <a:t>2. "Customer support took days to respond."</a:t>
                      </a:r>
                    </a:p>
                    <a:p>
                      <a:r>
                        <a:rPr lang="en-US" sz="1400" dirty="0"/>
                        <a:t>3. "I love the new UI design."</a:t>
                      </a:r>
                    </a:p>
                    <a:p>
                      <a:r>
                        <a:rPr lang="en-US" sz="1400" dirty="0"/>
                        <a:t>4. "The app crashes frequently on startup."</a:t>
                      </a:r>
                    </a:p>
                    <a:p>
                      <a:endParaRPr lang="en-IN" sz="1400" dirty="0"/>
                    </a:p>
                  </a:txBody>
                  <a:tcPr/>
                </a:tc>
                <a:tc>
                  <a:txBody>
                    <a:bodyPr/>
                    <a:lstStyle/>
                    <a:p>
                      <a:r>
                        <a:rPr lang="en-US" sz="1400" dirty="0"/>
                        <a:t>{</a:t>
                      </a:r>
                    </a:p>
                    <a:p>
                      <a:r>
                        <a:rPr lang="en-US" sz="1400" dirty="0"/>
                        <a:t>  "POSITIVE": {</a:t>
                      </a:r>
                    </a:p>
                    <a:p>
                      <a:r>
                        <a:rPr lang="en-US" sz="1400" dirty="0"/>
                        <a:t>    "FEEDBACK": [</a:t>
                      </a:r>
                    </a:p>
                    <a:p>
                      <a:r>
                        <a:rPr lang="en-US" sz="1400" dirty="0"/>
                        <a:t>      "The app is very fast and easy to use.",</a:t>
                      </a:r>
                    </a:p>
                    <a:p>
                      <a:r>
                        <a:rPr lang="en-US" sz="1400" dirty="0"/>
                        <a:t>      "I love the new UI design."</a:t>
                      </a:r>
                    </a:p>
                    <a:p>
                      <a:r>
                        <a:rPr lang="en-US" sz="1400" dirty="0"/>
                        <a:t>    ],</a:t>
                      </a:r>
                    </a:p>
                    <a:p>
                      <a:r>
                        <a:rPr lang="en-US" sz="1400" dirty="0"/>
                        <a:t>    "REASONING": "These feedback statements express satisfaction and positive user experience with performance and design."</a:t>
                      </a:r>
                    </a:p>
                    <a:p>
                      <a:r>
                        <a:rPr lang="en-US" sz="1400" dirty="0"/>
                        <a:t>  },</a:t>
                      </a:r>
                    </a:p>
                    <a:p>
                      <a:r>
                        <a:rPr lang="en-US" sz="1400" dirty="0"/>
                        <a:t>  "NEGATIVE": {</a:t>
                      </a:r>
                    </a:p>
                    <a:p>
                      <a:r>
                        <a:rPr lang="en-US" sz="1400" dirty="0"/>
                        <a:t>    "FEEDBACK": [</a:t>
                      </a:r>
                    </a:p>
                    <a:p>
                      <a:r>
                        <a:rPr lang="en-US" sz="1400" dirty="0"/>
                        <a:t>      "Customer support took days to respond.",</a:t>
                      </a:r>
                    </a:p>
                    <a:p>
                      <a:r>
                        <a:rPr lang="en-US" sz="1400" dirty="0"/>
                        <a:t>      "The app crashes frequently on startup."</a:t>
                      </a:r>
                    </a:p>
                    <a:p>
                      <a:r>
                        <a:rPr lang="en-US" sz="1400" dirty="0"/>
                        <a:t>    ],</a:t>
                      </a:r>
                    </a:p>
                    <a:p>
                      <a:r>
                        <a:rPr lang="en-US" sz="1400" dirty="0"/>
                        <a:t>    "REASONING": "These feedback statements describe problems and dissatisfaction related to reliability and support."</a:t>
                      </a:r>
                    </a:p>
                    <a:p>
                      <a:r>
                        <a:rPr lang="en-US" sz="1400" dirty="0"/>
                        <a:t>  }</a:t>
                      </a:r>
                    </a:p>
                    <a:p>
                      <a:r>
                        <a:rPr lang="en-US" sz="1400" dirty="0"/>
                        <a:t>}</a:t>
                      </a:r>
                    </a:p>
                    <a:p>
                      <a:endParaRPr lang="en-IN" sz="1400" dirty="0"/>
                    </a:p>
                  </a:txBody>
                  <a:tcPr/>
                </a:tc>
                <a:extLst>
                  <a:ext uri="{0D108BD9-81ED-4DB2-BD59-A6C34878D82A}">
                    <a16:rowId xmlns:a16="http://schemas.microsoft.com/office/drawing/2014/main" val="125956991"/>
                  </a:ext>
                </a:extLst>
              </a:tr>
            </a:tbl>
          </a:graphicData>
        </a:graphic>
      </p:graphicFrame>
    </p:spTree>
    <p:extLst>
      <p:ext uri="{BB962C8B-B14F-4D97-AF65-F5344CB8AC3E}">
        <p14:creationId xmlns:p14="http://schemas.microsoft.com/office/powerpoint/2010/main" val="415304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1454</Words>
  <Application>Microsoft Office PowerPoint</Application>
  <PresentationFormat>Widescreen</PresentationFormat>
  <Paragraphs>94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Prompt Engineering Techniques</vt:lpstr>
      <vt:lpstr>What a typical LLM behavior looks like?</vt:lpstr>
      <vt:lpstr>Treat the LLM’s System Prompt with Love and Care!!</vt:lpstr>
      <vt:lpstr>Zero-Shot and Few-Shot Prompting</vt:lpstr>
      <vt:lpstr>Always add Clear Syntax</vt:lpstr>
      <vt:lpstr>Break the task down!!!</vt:lpstr>
      <vt:lpstr>Chain-of-Thought Prompting</vt:lpstr>
      <vt:lpstr>Specify the Output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kuljot bakshi</dc:creator>
  <cp:lastModifiedBy>kuljot bakshi</cp:lastModifiedBy>
  <cp:revision>1</cp:revision>
  <dcterms:created xsi:type="dcterms:W3CDTF">2026-01-12T12:12:46Z</dcterms:created>
  <dcterms:modified xsi:type="dcterms:W3CDTF">2026-01-12T12:33:15Z</dcterms:modified>
</cp:coreProperties>
</file>