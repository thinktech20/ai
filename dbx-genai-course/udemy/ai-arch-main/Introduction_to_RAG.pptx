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83D1F8-231A-414E-A05F-1DF779FBE786}" v="18" dt="2026-01-13T05:55:06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addSld modSld">
      <pc:chgData name="kuljot bakshi" userId="e18f591f5991c12c" providerId="LiveId" clId="{848BE52E-FEF7-44CF-B8AB-7264220E5FAA}" dt="2026-01-13T05:55:06.359" v="115" actId="1076"/>
      <pc:docMkLst>
        <pc:docMk/>
      </pc:docMkLst>
      <pc:sldChg chg="modSp mod">
        <pc:chgData name="kuljot bakshi" userId="e18f591f5991c12c" providerId="LiveId" clId="{848BE52E-FEF7-44CF-B8AB-7264220E5FAA}" dt="2026-01-13T05:52:34.547" v="26" actId="20577"/>
        <pc:sldMkLst>
          <pc:docMk/>
          <pc:sldMk cId="1444370168" sldId="256"/>
        </pc:sldMkLst>
        <pc:spChg chg="mod">
          <ac:chgData name="kuljot bakshi" userId="e18f591f5991c12c" providerId="LiveId" clId="{848BE52E-FEF7-44CF-B8AB-7264220E5FAA}" dt="2026-01-13T05:52:34.547" v="26" actId="20577"/>
          <ac:spMkLst>
            <pc:docMk/>
            <pc:sldMk cId="1444370168" sldId="256"/>
            <ac:spMk id="2" creationId="{1FE80818-B52E-4321-4D99-88D5CEAB0DD5}"/>
          </ac:spMkLst>
        </pc:spChg>
      </pc:sldChg>
      <pc:sldChg chg="addSp delSp modSp new mod">
        <pc:chgData name="kuljot bakshi" userId="e18f591f5991c12c" providerId="LiveId" clId="{848BE52E-FEF7-44CF-B8AB-7264220E5FAA}" dt="2026-01-13T05:55:06.359" v="115" actId="1076"/>
        <pc:sldMkLst>
          <pc:docMk/>
          <pc:sldMk cId="2862111819" sldId="264"/>
        </pc:sldMkLst>
        <pc:spChg chg="mod">
          <ac:chgData name="kuljot bakshi" userId="e18f591f5991c12c" providerId="LiveId" clId="{848BE52E-FEF7-44CF-B8AB-7264220E5FAA}" dt="2026-01-13T05:53:22.425" v="96" actId="1076"/>
          <ac:spMkLst>
            <pc:docMk/>
            <pc:sldMk cId="2862111819" sldId="264"/>
            <ac:spMk id="2" creationId="{0B90C495-7E6C-11E7-FA5C-E18B782A156D}"/>
          </ac:spMkLst>
        </pc:spChg>
        <pc:spChg chg="del">
          <ac:chgData name="kuljot bakshi" userId="e18f591f5991c12c" providerId="LiveId" clId="{848BE52E-FEF7-44CF-B8AB-7264220E5FAA}" dt="2026-01-13T05:52:44.934" v="28"/>
          <ac:spMkLst>
            <pc:docMk/>
            <pc:sldMk cId="2862111819" sldId="264"/>
            <ac:spMk id="3" creationId="{D3DEE4B0-1D2E-BEE7-25B6-E4120D64E9CD}"/>
          </ac:spMkLst>
        </pc:spChg>
        <pc:spChg chg="add del mod">
          <ac:chgData name="kuljot bakshi" userId="e18f591f5991c12c" providerId="LiveId" clId="{848BE52E-FEF7-44CF-B8AB-7264220E5FAA}" dt="2026-01-13T05:53:04.122" v="29" actId="931"/>
          <ac:spMkLst>
            <pc:docMk/>
            <pc:sldMk cId="2862111819" sldId="264"/>
            <ac:spMk id="4" creationId="{0569BAFD-8408-0511-7BFF-C0B4883B6AAE}"/>
          </ac:spMkLst>
        </pc:spChg>
        <pc:spChg chg="add">
          <ac:chgData name="kuljot bakshi" userId="e18f591f5991c12c" providerId="LiveId" clId="{848BE52E-FEF7-44CF-B8AB-7264220E5FAA}" dt="2026-01-13T05:54:01.028" v="103"/>
          <ac:spMkLst>
            <pc:docMk/>
            <pc:sldMk cId="2862111819" sldId="264"/>
            <ac:spMk id="7" creationId="{6A25A249-7AFC-D869-0EA0-F192B2DB4132}"/>
          </ac:spMkLst>
        </pc:spChg>
        <pc:picChg chg="add mod">
          <ac:chgData name="kuljot bakshi" userId="e18f591f5991c12c" providerId="LiveId" clId="{848BE52E-FEF7-44CF-B8AB-7264220E5FAA}" dt="2026-01-13T05:53:40.650" v="102" actId="1076"/>
          <ac:picMkLst>
            <pc:docMk/>
            <pc:sldMk cId="2862111819" sldId="264"/>
            <ac:picMk id="6" creationId="{8013437C-8690-194D-F4C7-85FB9D1E0073}"/>
          </ac:picMkLst>
        </pc:picChg>
        <pc:picChg chg="add mod">
          <ac:chgData name="kuljot bakshi" userId="e18f591f5991c12c" providerId="LiveId" clId="{848BE52E-FEF7-44CF-B8AB-7264220E5FAA}" dt="2026-01-13T05:54:31.864" v="108" actId="1076"/>
          <ac:picMkLst>
            <pc:docMk/>
            <pc:sldMk cId="2862111819" sldId="264"/>
            <ac:picMk id="9" creationId="{42B8A1E0-6DC5-4689-DEA9-CDF0D28DF8E9}"/>
          </ac:picMkLst>
        </pc:picChg>
        <pc:picChg chg="add mod">
          <ac:chgData name="kuljot bakshi" userId="e18f591f5991c12c" providerId="LiveId" clId="{848BE52E-FEF7-44CF-B8AB-7264220E5FAA}" dt="2026-01-13T05:55:06.359" v="115" actId="1076"/>
          <ac:picMkLst>
            <pc:docMk/>
            <pc:sldMk cId="2862111819" sldId="264"/>
            <ac:picMk id="2054" creationId="{536A1BE7-8912-9A6C-9EC6-E51D0F9045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B0A-88D7-62DF-68EC-047A9696B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1948D0-9384-9371-7965-531368AF3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9EBFE-649C-03DD-D684-10DB4B61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E2421-AA61-9883-E6C6-3967BFE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2142-8C2C-2FED-1DC8-57D7B8DB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06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1A67-3853-B7D9-2274-B30B6442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AA923-15B6-52A1-157D-1DF2AE706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6E71E-1599-E040-F630-950D2EE3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4AEE1-4A54-CE75-A4B4-D67944C8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A7501-DDFA-2FBB-9852-1AEDEF51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42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7D0A-7567-42AC-03DE-7795FFD6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6CB5C-C511-8562-1BEC-C9C855653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835A-E1CB-0B2B-3529-510F287E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FAF0B-71BA-B964-32C4-9B1E261C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660CB-D90D-EF69-FAF3-A0C81CECF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96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C9C43-B418-DA50-EC65-73D30FFA4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FC738-1AAE-88D8-36B2-ADA084B85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F8CAB-3C6B-3BD6-4E25-7BC6DEBF0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FE483-A753-BFEE-456A-861F72DB9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B47BC-4989-EA12-0AB6-0BAF3A1B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8A791-3A8F-C49A-3A29-24E5AE0F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10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8569-2FDE-B586-D3FF-A4F292D6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38241-596E-1464-2364-3435C592F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AE1EBB-E18F-C1E4-44DB-531A94BED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6E570-C9FA-9E64-B9B3-B06B34E5E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64621F-53D4-7689-14B8-370D26382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CC268D-00CA-D528-BEBF-95C3DC0D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54BB0-1D7F-ECF3-6D8A-BE94E3EEC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1CE4D-042C-5508-5AC7-A71692DDB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00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41B0-B521-B8F9-78AD-B22F047E6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2BEF5-AE02-A9BC-3FF8-29C5B724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E9C9C-5E70-DD14-E1E4-6A3637DE8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0B2FB-7308-FB10-0D2A-FEFC5679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95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DA834-CC0B-F2D4-C2B7-9750504A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7B3A4-FC31-07BB-8FD8-8778AE52D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6B918-D6F6-13E7-D629-8E9773EC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02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D51C-AD2A-53C4-56DC-61776812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40CC-B1FB-9174-791D-DBC8C2E0B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60C82-B8FF-48A1-5436-F69167A88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EE23A-22AD-DB4A-CD4A-F5B707C89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E7813-0DFE-553D-DA42-BC8E86F8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60D984-8B3C-8DE6-66C2-94CD1C5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210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A4BA-E04B-70B7-C28E-98F3B81A8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E5FC4E-4304-A508-CE37-A3E119F56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DC2E6F-0893-7FF7-69B7-71E69953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B192F-5BB6-0230-1988-A47FCB87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53083-7D6D-54E7-AD07-A55CAFBA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7092-30E6-18D6-904D-35C61A4E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11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5AC7-A3B2-EE9B-5B3C-94CA5D7F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4693A-9623-DB91-4A08-CC14EB89A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2774-5E4E-63E6-2B3A-37CCFCE2E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B0759-D92D-50CA-0D6D-50020D99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4E0E3-52FD-9B5E-2CB7-AB6D3B19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7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133A68-617C-27EE-C3B4-507787725B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C6F3B2-55F4-7166-5F4F-B15F96DA1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27CE6-2784-1CCE-DE30-13ADC655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201CA-2E27-3508-77D9-F0AED10C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11DD1-9FB2-9362-0FB9-8C42EF35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4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698B0A-7B79-19A2-C5F2-E829493B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2B9F7-37F2-ED4A-C51B-9128513AF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D3A3E-AFF2-15E1-E83A-69A698CBE5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88BC1-B2E9-421A-AFCD-46B05D62A3B4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07B3-9D83-A117-FDE5-31E63832A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2EF2-4814-6F41-1310-2587DAFBC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5A8ED-4C83-48ED-8AA7-DBDEE237F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69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0818-B52E-4321-4D99-88D5CEAB0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2194" y="3023082"/>
            <a:ext cx="12356387" cy="2387600"/>
          </a:xfrm>
        </p:spPr>
        <p:txBody>
          <a:bodyPr/>
          <a:lstStyle/>
          <a:p>
            <a:r>
              <a:rPr lang="en-US" dirty="0"/>
              <a:t>RAG on Databricks</a:t>
            </a:r>
            <a:endParaRPr lang="en-IN" dirty="0"/>
          </a:p>
        </p:txBody>
      </p:sp>
      <p:pic>
        <p:nvPicPr>
          <p:cNvPr id="1026" name="Picture 2" descr="DBRX (Databricks) Logo Free Download... · LobeHub">
            <a:extLst>
              <a:ext uri="{FF2B5EF4-FFF2-40B4-BE49-F238E27FC236}">
                <a16:creationId xmlns:a16="http://schemas.microsoft.com/office/drawing/2014/main" id="{64A245F6-DDEA-C4E7-9ACE-B4240668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427" y="1151562"/>
            <a:ext cx="2696110" cy="269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70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A1FE-7B91-2412-CD6B-E1299596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1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Problem with LLMs</a:t>
            </a:r>
            <a:endParaRPr lang="en-IN" dirty="0"/>
          </a:p>
        </p:txBody>
      </p:sp>
      <p:pic>
        <p:nvPicPr>
          <p:cNvPr id="1026" name="Picture 2" descr="Why Fine-Tuning is (Probably) Not for You">
            <a:extLst>
              <a:ext uri="{FF2B5EF4-FFF2-40B4-BE49-F238E27FC236}">
                <a16:creationId xmlns:a16="http://schemas.microsoft.com/office/drawing/2014/main" id="{26CEDCB7-D591-D3D4-7050-DA05ADEA72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945" y="1299063"/>
            <a:ext cx="5537770" cy="499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236773-C285-BCD7-FF85-1D33648FC638}"/>
              </a:ext>
            </a:extLst>
          </p:cNvPr>
          <p:cNvSpPr txBox="1"/>
          <p:nvPr/>
        </p:nvSpPr>
        <p:spPr>
          <a:xfrm>
            <a:off x="254285" y="1439457"/>
            <a:ext cx="5841715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with LLMs (Enterprise Context)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LLMs are </a:t>
            </a:r>
            <a:r>
              <a:rPr lang="en-US" b="1" dirty="0"/>
              <a:t>trained on static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</a:t>
            </a:r>
            <a:r>
              <a:rPr lang="en-US" b="1" dirty="0"/>
              <a:t>do not know your private or latest enterprise data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Retraining or fine-tuning is </a:t>
            </a:r>
            <a:r>
              <a:rPr lang="en-US" b="1" dirty="0"/>
              <a:t>slow, expensive, and brittle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risk of </a:t>
            </a:r>
            <a:r>
              <a:rPr lang="en-US" b="1" dirty="0"/>
              <a:t>hallucinations</a:t>
            </a:r>
            <a:r>
              <a:rPr lang="en-US" dirty="0"/>
              <a:t> without grounding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DE9E9-5F29-0FE5-50AF-20BC4D42BBC9}"/>
              </a:ext>
            </a:extLst>
          </p:cNvPr>
          <p:cNvSpPr txBox="1"/>
          <p:nvPr/>
        </p:nvSpPr>
        <p:spPr>
          <a:xfrm>
            <a:off x="254285" y="3941216"/>
            <a:ext cx="5841715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Fine-Tuning Falls Short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Requires </a:t>
            </a:r>
            <a:r>
              <a:rPr lang="en-US" b="1" dirty="0"/>
              <a:t>new data collection &amp; labeling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iteration cycles:</a:t>
            </a:r>
            <a:br>
              <a:rPr lang="en-US" dirty="0"/>
            </a:br>
            <a:r>
              <a:rPr lang="en-US" i="1" dirty="0"/>
              <a:t>Collect → Reformat → Retrain → Tune → Evaluate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 keep models </a:t>
            </a:r>
            <a:r>
              <a:rPr lang="en-US" b="1" dirty="0"/>
              <a:t>up-to-date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ideal for </a:t>
            </a:r>
            <a:r>
              <a:rPr lang="en-US" b="1" dirty="0"/>
              <a:t>frequently changing knowledge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Operationally heavy for enterprise systems</a:t>
            </a:r>
          </a:p>
        </p:txBody>
      </p:sp>
    </p:spTree>
    <p:extLst>
      <p:ext uri="{BB962C8B-B14F-4D97-AF65-F5344CB8AC3E}">
        <p14:creationId xmlns:p14="http://schemas.microsoft.com/office/powerpoint/2010/main" val="22925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9929-0369-0FB4-0DD0-0AE9AE5C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03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RAG – Retrieval Augmented Generation</a:t>
            </a:r>
            <a:endParaRPr lang="en-IN" dirty="0"/>
          </a:p>
        </p:txBody>
      </p:sp>
      <p:pic>
        <p:nvPicPr>
          <p:cNvPr id="3078" name="Picture 6" descr="What is RAG (Retrieval-Augmented Generation)? And what can RAG do for you?  - Conversed.ai | AI Assistants | AI Agents">
            <a:extLst>
              <a:ext uri="{FF2B5EF4-FFF2-40B4-BE49-F238E27FC236}">
                <a16:creationId xmlns:a16="http://schemas.microsoft.com/office/drawing/2014/main" id="{7417FD43-D20B-7BCA-E497-3198B28A19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721" y="1712610"/>
            <a:ext cx="653108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4C6C0-66CD-84B5-CFF0-B011D28CDA53}"/>
              </a:ext>
            </a:extLst>
          </p:cNvPr>
          <p:cNvSpPr txBox="1"/>
          <p:nvPr/>
        </p:nvSpPr>
        <p:spPr>
          <a:xfrm>
            <a:off x="354385" y="1080669"/>
            <a:ext cx="4566937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RAG – Retrieval-Augmented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Architecture that </a:t>
            </a:r>
            <a:r>
              <a:rPr lang="en-US" b="1" dirty="0"/>
              <a:t>grounds LLM responses in external knowledge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search + prompt augmentation + generation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Solves hallucination, freshness, and private-data limitations of LLMs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EC141-3C1D-DA2F-ED71-207DEFD5A960}"/>
              </a:ext>
            </a:extLst>
          </p:cNvPr>
          <p:cNvSpPr txBox="1"/>
          <p:nvPr/>
        </p:nvSpPr>
        <p:spPr>
          <a:xfrm>
            <a:off x="354385" y="4211517"/>
            <a:ext cx="4566937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RAG is Critical in Enterprise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responses </a:t>
            </a:r>
            <a:r>
              <a:rPr lang="en-US" b="1" dirty="0"/>
              <a:t>up-to-date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with </a:t>
            </a:r>
            <a:r>
              <a:rPr lang="en-US" b="1" dirty="0"/>
              <a:t>private and proprietary 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</a:t>
            </a:r>
            <a:r>
              <a:rPr lang="en-US" b="1" dirty="0"/>
              <a:t>accuracy and trust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and cheaper than fine-tuning</a:t>
            </a:r>
          </a:p>
        </p:txBody>
      </p:sp>
    </p:spTree>
    <p:extLst>
      <p:ext uri="{BB962C8B-B14F-4D97-AF65-F5344CB8AC3E}">
        <p14:creationId xmlns:p14="http://schemas.microsoft.com/office/powerpoint/2010/main" val="24599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C7A384-24A6-E644-0025-846A529CF8C8}"/>
              </a:ext>
            </a:extLst>
          </p:cNvPr>
          <p:cNvSpPr txBox="1"/>
          <p:nvPr/>
        </p:nvSpPr>
        <p:spPr>
          <a:xfrm>
            <a:off x="446314" y="345344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Vector embeddings are a way of representing words, sentences, images, or other data as numerical vectors in a high-dimensional space.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2EC29-1358-DB8A-6CC9-C90D8A495EFE}"/>
              </a:ext>
            </a:extLst>
          </p:cNvPr>
          <p:cNvSpPr txBox="1"/>
          <p:nvPr/>
        </p:nvSpPr>
        <p:spPr>
          <a:xfrm>
            <a:off x="5921828" y="1540328"/>
            <a:ext cx="60960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These vectors capture the semantic or contextual information in the data, allowing similar items to be closer together in that space</a:t>
            </a:r>
            <a:endParaRPr lang="en-IN" dirty="0"/>
          </a:p>
        </p:txBody>
      </p:sp>
      <p:pic>
        <p:nvPicPr>
          <p:cNvPr id="2050" name="Picture 2" descr="Screenshot of vector examples.">
            <a:extLst>
              <a:ext uri="{FF2B5EF4-FFF2-40B4-BE49-F238E27FC236}">
                <a16:creationId xmlns:a16="http://schemas.microsoft.com/office/drawing/2014/main" id="{4BB54C3C-4F65-7EB2-1A04-D9209AC51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384" y="2925323"/>
            <a:ext cx="863917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655FDD-3605-379E-5571-9B16F36FA5A7}"/>
              </a:ext>
            </a:extLst>
          </p:cNvPr>
          <p:cNvSpPr txBox="1"/>
          <p:nvPr/>
        </p:nvSpPr>
        <p:spPr>
          <a:xfrm>
            <a:off x="370114" y="2001993"/>
            <a:ext cx="453934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These vector embeddings are generated by text-embedding models that are offered by Azure OpenAI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32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creenshot of vector closeness.">
            <a:extLst>
              <a:ext uri="{FF2B5EF4-FFF2-40B4-BE49-F238E27FC236}">
                <a16:creationId xmlns:a16="http://schemas.microsoft.com/office/drawing/2014/main" id="{A5BC1D8F-3B32-DE69-BE57-6B444DFF79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69" y="162605"/>
            <a:ext cx="10452461" cy="653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0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reenshot of the formatted results from df_bills command.">
            <a:extLst>
              <a:ext uri="{FF2B5EF4-FFF2-40B4-BE49-F238E27FC236}">
                <a16:creationId xmlns:a16="http://schemas.microsoft.com/office/drawing/2014/main" id="{16C524AB-6ABD-45BB-6F23-C22AC2BFF8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48097"/>
            <a:ext cx="10905066" cy="4961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478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6021-9973-4086-F5CB-9D5B6B59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93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Visualize RAG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BDC23-B8F4-9295-F129-C0B390CC7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300" y="1094787"/>
            <a:ext cx="9405400" cy="5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46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0C495-7E6C-11E7-FA5C-E18B782A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6913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RAG Implementation on Databricks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13437C-8690-194D-F4C7-85FB9D1E0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1463339" y="1068507"/>
            <a:ext cx="9265321" cy="562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8A1E0-6DC5-4689-DEA9-CDF0D28DF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07" y="2552105"/>
            <a:ext cx="1188110" cy="435533"/>
          </a:xfrm>
          <a:prstGeom prst="rect">
            <a:avLst/>
          </a:prstGeom>
        </p:spPr>
      </p:pic>
      <p:pic>
        <p:nvPicPr>
          <p:cNvPr id="2054" name="Picture 6" descr="PyFunc: The domain name PyFunc.com is for sale">
            <a:extLst>
              <a:ext uri="{FF2B5EF4-FFF2-40B4-BE49-F238E27FC236}">
                <a16:creationId xmlns:a16="http://schemas.microsoft.com/office/drawing/2014/main" id="{536A1BE7-8912-9A6C-9EC6-E51D0F904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085" y="2532051"/>
            <a:ext cx="742600" cy="445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11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212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RAG on Databricks</vt:lpstr>
      <vt:lpstr>The Problem with LLMs</vt:lpstr>
      <vt:lpstr>RAG – Retrieval Augmented Generation</vt:lpstr>
      <vt:lpstr>PowerPoint Presentation</vt:lpstr>
      <vt:lpstr>PowerPoint Presentation</vt:lpstr>
      <vt:lpstr>PowerPoint Presentation</vt:lpstr>
      <vt:lpstr>Visualize RAG</vt:lpstr>
      <vt:lpstr>RAG Implementation on Databricks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2026-01-13T05:47:17Z</dcterms:created>
  <dcterms:modified xsi:type="dcterms:W3CDTF">2026-01-13T05:55:13Z</dcterms:modified>
</cp:coreProperties>
</file>