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256" r:id="rId2"/>
    <p:sldId id="2147479805" r:id="rId3"/>
    <p:sldId id="2147479806"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2" d="100"/>
          <a:sy n="62" d="100"/>
        </p:scale>
        <p:origin x="828" y="2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9T03:04:59.01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1,'2409'0,"-2381"0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5940AE-6B3D-4C7A-A6E1-02FFAAE1816B}" type="datetimeFigureOut">
              <a:rPr lang="en-IN" smtClean="0"/>
              <a:t>12-01-2026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8C32EE-AFF1-4782-9730-E7BD989AD4EB}" type="slidenum">
              <a:rPr lang="en-IN" smtClean="0"/>
              <a:t>‹#›</a:t>
            </a:fld>
            <a:endParaRPr lang="en-IN"/>
          </a:p>
        </p:txBody>
      </p:sp>
    </p:spTree>
    <p:extLst>
      <p:ext uri="{BB962C8B-B14F-4D97-AF65-F5344CB8AC3E}">
        <p14:creationId xmlns:p14="http://schemas.microsoft.com/office/powerpoint/2010/main" val="19388972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Storage Foundation</a:t>
            </a:r>
            <a:r>
              <a:rPr lang="en-US" dirty="0"/>
              <a:t>: ADLS serves as the underlying storage layer for a data </a:t>
            </a:r>
            <a:r>
              <a:rPr lang="en-US" dirty="0" err="1"/>
              <a:t>lakehouse</a:t>
            </a:r>
            <a:r>
              <a:rPr lang="en-US" dirty="0"/>
              <a:t>. It provides the scalable and cost-effective storage needed to hold large volumes of data.</a:t>
            </a:r>
          </a:p>
          <a:p>
            <a:r>
              <a:rPr lang="en-US" b="1" dirty="0"/>
              <a:t>Delta Lake Integration</a:t>
            </a:r>
            <a:r>
              <a:rPr lang="en-US" dirty="0"/>
              <a:t>: On top of ADLS, Delta Lake is often used to add data management capabilities. Delta Lake provides ACID transactions, schema enforcement, and other data management features that enhance the reliability and performance of the data </a:t>
            </a:r>
            <a:r>
              <a:rPr lang="en-US" dirty="0" err="1"/>
              <a:t>lakehouse</a:t>
            </a:r>
            <a:r>
              <a:rPr lang="en-US" dirty="0"/>
              <a:t>.</a:t>
            </a:r>
          </a:p>
          <a:p>
            <a:r>
              <a:rPr lang="en-US" b="1" dirty="0"/>
              <a:t>Unified Data Access</a:t>
            </a:r>
            <a:r>
              <a:rPr lang="en-US" dirty="0"/>
              <a:t>: The data </a:t>
            </a:r>
            <a:r>
              <a:rPr lang="en-US" dirty="0" err="1"/>
              <a:t>lakehouse</a:t>
            </a:r>
            <a:r>
              <a:rPr lang="en-US" dirty="0"/>
              <a:t> architecture allows users to access and analyze data stored in ADLS using a single platform, simplifying data workflows and reducing the need for multiple systems</a:t>
            </a:r>
          </a:p>
          <a:p>
            <a:endParaRPr lang="en-IN" dirty="0"/>
          </a:p>
          <a:p>
            <a:endParaRPr lang="en-IN" dirty="0"/>
          </a:p>
          <a:p>
            <a:r>
              <a:rPr lang="en-US" dirty="0"/>
              <a:t>Delta Lake can be considered a bridge between traditional data lakes and data warehouses. By adding data warehouse-like management capabilities to data lakes (like ACID transactions and schema enforcement), Delta Lake transforms a simple data lake into a more robust, reliable, and performance-optimized data platform, which is sometimes referred to as a </a:t>
            </a:r>
            <a:r>
              <a:rPr lang="en-US" b="1" dirty="0"/>
              <a:t>data </a:t>
            </a:r>
            <a:r>
              <a:rPr lang="en-US" b="1" dirty="0" err="1"/>
              <a:t>lakehouse</a:t>
            </a:r>
            <a:endParaRPr lang="en-IN" b="1" dirty="0"/>
          </a:p>
          <a:p>
            <a:endParaRPr lang="en-IN" b="1" dirty="0"/>
          </a:p>
          <a:p>
            <a:r>
              <a:rPr lang="en-US" dirty="0"/>
              <a:t>Delta lake = data warehouse</a:t>
            </a:r>
          </a:p>
          <a:p>
            <a:r>
              <a:rPr lang="en-US" b="1" dirty="0"/>
              <a:t>Not quite. </a:t>
            </a:r>
            <a:r>
              <a:rPr lang="en-US" dirty="0"/>
              <a:t>Although Delta Lake provides some data warehouse-like features, it is not a data warehouse itself. Here's a breakdown:</a:t>
            </a:r>
          </a:p>
          <a:p>
            <a:endParaRPr lang="en-US" dirty="0"/>
          </a:p>
          <a:p>
            <a:r>
              <a:rPr lang="en-US" dirty="0"/>
              <a:t>Delta lake = data warehouse</a:t>
            </a:r>
          </a:p>
          <a:p>
            <a:r>
              <a:rPr lang="en-US" dirty="0"/>
              <a:t>Not quite. Although Delta Lake provides some data warehouse-like features, it is not a data warehouse itself. Here's a breakdown:</a:t>
            </a:r>
          </a:p>
          <a:p>
            <a:r>
              <a:rPr lang="en-US" b="1" dirty="0"/>
              <a:t>Delta Lake</a:t>
            </a:r>
          </a:p>
          <a:p>
            <a:pPr>
              <a:buFont typeface="Arial" panose="020B0604020202020204" pitchFamily="34" charset="0"/>
              <a:buChar char="•"/>
            </a:pPr>
            <a:r>
              <a:rPr lang="en-US" b="1" dirty="0"/>
              <a:t>Purpose</a:t>
            </a:r>
            <a:r>
              <a:rPr lang="en-US" dirty="0"/>
              <a:t>: Delta Lake is an open-source storage layer that adds reliability and performance optimizations to data lakes.</a:t>
            </a:r>
          </a:p>
          <a:p>
            <a:pPr>
              <a:buFont typeface="Arial" panose="020B0604020202020204" pitchFamily="34" charset="0"/>
              <a:buChar char="•"/>
            </a:pPr>
            <a:r>
              <a:rPr lang="en-US" b="1" dirty="0"/>
              <a:t>Features</a:t>
            </a:r>
            <a:r>
              <a:rPr lang="en-US" dirty="0"/>
              <a:t>: It provides ACID transactions, scalable metadata handling, and unified batch and streaming data processing.</a:t>
            </a:r>
          </a:p>
          <a:p>
            <a:pPr>
              <a:buFont typeface="Arial" panose="020B0604020202020204" pitchFamily="34" charset="0"/>
              <a:buChar char="•"/>
            </a:pPr>
            <a:r>
              <a:rPr lang="en-US" b="1" dirty="0"/>
              <a:t>Integration</a:t>
            </a:r>
            <a:r>
              <a:rPr lang="en-US" dirty="0"/>
              <a:t>: It integrates with big data tools like Apache Spark to enhance the capabilities of a data lake.</a:t>
            </a:r>
          </a:p>
          <a:p>
            <a:pPr>
              <a:buFont typeface="Arial" panose="020B0604020202020204" pitchFamily="34" charset="0"/>
              <a:buChar char="•"/>
            </a:pPr>
            <a:endParaRPr lang="en-US" dirty="0"/>
          </a:p>
          <a:p>
            <a:r>
              <a:rPr lang="en-US" b="1" dirty="0"/>
              <a:t>Data Warehouse</a:t>
            </a:r>
          </a:p>
          <a:p>
            <a:pPr>
              <a:buFont typeface="Arial" panose="020B0604020202020204" pitchFamily="34" charset="0"/>
              <a:buChar char="•"/>
            </a:pPr>
            <a:r>
              <a:rPr lang="en-US" b="1" dirty="0"/>
              <a:t>Purpose</a:t>
            </a:r>
            <a:r>
              <a:rPr lang="en-US" dirty="0"/>
              <a:t>: A data warehouse is a system designed for querying and analyzing large volumes of structured data, typically from various sources.</a:t>
            </a:r>
          </a:p>
          <a:p>
            <a:pPr>
              <a:buFont typeface="Arial" panose="020B0604020202020204" pitchFamily="34" charset="0"/>
              <a:buChar char="•"/>
            </a:pPr>
            <a:r>
              <a:rPr lang="en-US" b="1" dirty="0"/>
              <a:t>Features</a:t>
            </a:r>
            <a:r>
              <a:rPr lang="en-US" dirty="0"/>
              <a:t>: It includes optimized storage, complex querying capabilities, and data transformation functionalities, usually structured in a star or snowflake schema.</a:t>
            </a:r>
          </a:p>
          <a:p>
            <a:pPr>
              <a:buFont typeface="Arial" panose="020B0604020202020204" pitchFamily="34" charset="0"/>
              <a:buChar char="•"/>
            </a:pPr>
            <a:r>
              <a:rPr lang="en-US" b="1" dirty="0"/>
              <a:t>Usage</a:t>
            </a:r>
            <a:r>
              <a:rPr lang="en-US" dirty="0"/>
              <a:t>: Data warehouses are used for Business Intelligence (BI) and reporting.</a:t>
            </a:r>
          </a:p>
          <a:p>
            <a:endParaRPr lang="en-US" dirty="0"/>
          </a:p>
          <a:p>
            <a:endParaRPr lang="en-IN"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1/12/2026 8:21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38517140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adding data warehouse-like management capabilities to data lakes (like ACID transactions and schema enforcement), Delta Lake transforms a simple data lake into a more robust, reliable, and performance-optimized data platform, which is sometimes referred to as a </a:t>
            </a:r>
            <a:r>
              <a:rPr lang="en-US" b="1" dirty="0"/>
              <a:t>data </a:t>
            </a:r>
            <a:r>
              <a:rPr lang="en-US" b="1" dirty="0" err="1"/>
              <a:t>lakehouse</a:t>
            </a:r>
            <a:r>
              <a:rPr lang="en-US" dirty="0"/>
              <a:t>.</a:t>
            </a:r>
            <a:endParaRPr lang="en-IN"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1/12/2026 8:19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a:t>
            </a:fld>
            <a:endParaRPr lang="en-US" dirty="0"/>
          </a:p>
        </p:txBody>
      </p:sp>
    </p:spTree>
    <p:extLst>
      <p:ext uri="{BB962C8B-B14F-4D97-AF65-F5344CB8AC3E}">
        <p14:creationId xmlns:p14="http://schemas.microsoft.com/office/powerpoint/2010/main" val="23719803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906B2-60FA-F744-6216-068217F69BF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351E755-4C1F-C3D8-839D-B467AD9E3C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961DADC-6CE9-AA58-7401-2D9397F12083}"/>
              </a:ext>
            </a:extLst>
          </p:cNvPr>
          <p:cNvSpPr>
            <a:spLocks noGrp="1"/>
          </p:cNvSpPr>
          <p:nvPr>
            <p:ph type="dt" sz="half" idx="10"/>
          </p:nvPr>
        </p:nvSpPr>
        <p:spPr/>
        <p:txBody>
          <a:bodyPr/>
          <a:lstStyle/>
          <a:p>
            <a:fld id="{E2B9EA97-371D-48FE-9F26-ECEDBBD4F49F}" type="datetimeFigureOut">
              <a:rPr lang="en-IN" smtClean="0"/>
              <a:t>12-01-2026</a:t>
            </a:fld>
            <a:endParaRPr lang="en-IN"/>
          </a:p>
        </p:txBody>
      </p:sp>
      <p:sp>
        <p:nvSpPr>
          <p:cNvPr id="5" name="Footer Placeholder 4">
            <a:extLst>
              <a:ext uri="{FF2B5EF4-FFF2-40B4-BE49-F238E27FC236}">
                <a16:creationId xmlns:a16="http://schemas.microsoft.com/office/drawing/2014/main" id="{2372F449-DB69-4297-7780-681875B578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1FBBBF-8AE2-97E6-27D5-AD77379B1096}"/>
              </a:ext>
            </a:extLst>
          </p:cNvPr>
          <p:cNvSpPr>
            <a:spLocks noGrp="1"/>
          </p:cNvSpPr>
          <p:nvPr>
            <p:ph type="sldNum" sz="quarter" idx="12"/>
          </p:nvPr>
        </p:nvSpPr>
        <p:spPr/>
        <p:txBody>
          <a:bodyPr/>
          <a:lstStyle/>
          <a:p>
            <a:fld id="{97D9CAAA-2CA6-484E-BC5E-D1D1F0D77FA9}" type="slidenum">
              <a:rPr lang="en-IN" smtClean="0"/>
              <a:t>‹#›</a:t>
            </a:fld>
            <a:endParaRPr lang="en-IN"/>
          </a:p>
        </p:txBody>
      </p:sp>
    </p:spTree>
    <p:extLst>
      <p:ext uri="{BB962C8B-B14F-4D97-AF65-F5344CB8AC3E}">
        <p14:creationId xmlns:p14="http://schemas.microsoft.com/office/powerpoint/2010/main" val="13195241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F09B8-18AF-066D-E366-EB8D81651E6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DF2312E-574D-56D9-00AF-2CD3455399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A44F810-DB84-F60F-6D11-C0B6E58979B3}"/>
              </a:ext>
            </a:extLst>
          </p:cNvPr>
          <p:cNvSpPr>
            <a:spLocks noGrp="1"/>
          </p:cNvSpPr>
          <p:nvPr>
            <p:ph type="dt" sz="half" idx="10"/>
          </p:nvPr>
        </p:nvSpPr>
        <p:spPr/>
        <p:txBody>
          <a:bodyPr/>
          <a:lstStyle/>
          <a:p>
            <a:fld id="{E2B9EA97-371D-48FE-9F26-ECEDBBD4F49F}" type="datetimeFigureOut">
              <a:rPr lang="en-IN" smtClean="0"/>
              <a:t>12-01-2026</a:t>
            </a:fld>
            <a:endParaRPr lang="en-IN"/>
          </a:p>
        </p:txBody>
      </p:sp>
      <p:sp>
        <p:nvSpPr>
          <p:cNvPr id="5" name="Footer Placeholder 4">
            <a:extLst>
              <a:ext uri="{FF2B5EF4-FFF2-40B4-BE49-F238E27FC236}">
                <a16:creationId xmlns:a16="http://schemas.microsoft.com/office/drawing/2014/main" id="{02B30D73-3FB0-BC38-E527-EDA09549A3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EAAE5B-3144-C755-654E-C6E40704E03C}"/>
              </a:ext>
            </a:extLst>
          </p:cNvPr>
          <p:cNvSpPr>
            <a:spLocks noGrp="1"/>
          </p:cNvSpPr>
          <p:nvPr>
            <p:ph type="sldNum" sz="quarter" idx="12"/>
          </p:nvPr>
        </p:nvSpPr>
        <p:spPr/>
        <p:txBody>
          <a:bodyPr/>
          <a:lstStyle/>
          <a:p>
            <a:fld id="{97D9CAAA-2CA6-484E-BC5E-D1D1F0D77FA9}" type="slidenum">
              <a:rPr lang="en-IN" smtClean="0"/>
              <a:t>‹#›</a:t>
            </a:fld>
            <a:endParaRPr lang="en-IN"/>
          </a:p>
        </p:txBody>
      </p:sp>
    </p:spTree>
    <p:extLst>
      <p:ext uri="{BB962C8B-B14F-4D97-AF65-F5344CB8AC3E}">
        <p14:creationId xmlns:p14="http://schemas.microsoft.com/office/powerpoint/2010/main" val="28433337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0C7F9-BC92-4339-71EE-7E031474FB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64BF5A6-40E4-E964-5522-1E2A7E508C6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FEAAB5-7D12-EA56-71BF-E2A255D79AD5}"/>
              </a:ext>
            </a:extLst>
          </p:cNvPr>
          <p:cNvSpPr>
            <a:spLocks noGrp="1"/>
          </p:cNvSpPr>
          <p:nvPr>
            <p:ph type="dt" sz="half" idx="10"/>
          </p:nvPr>
        </p:nvSpPr>
        <p:spPr/>
        <p:txBody>
          <a:bodyPr/>
          <a:lstStyle/>
          <a:p>
            <a:fld id="{E2B9EA97-371D-48FE-9F26-ECEDBBD4F49F}" type="datetimeFigureOut">
              <a:rPr lang="en-IN" smtClean="0"/>
              <a:t>12-01-2026</a:t>
            </a:fld>
            <a:endParaRPr lang="en-IN"/>
          </a:p>
        </p:txBody>
      </p:sp>
      <p:sp>
        <p:nvSpPr>
          <p:cNvPr id="5" name="Footer Placeholder 4">
            <a:extLst>
              <a:ext uri="{FF2B5EF4-FFF2-40B4-BE49-F238E27FC236}">
                <a16:creationId xmlns:a16="http://schemas.microsoft.com/office/drawing/2014/main" id="{6D64C0AB-3B14-DC62-48B6-BAE642D2E6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B5AB6C-B68E-8DE7-715D-B58191C41FEA}"/>
              </a:ext>
            </a:extLst>
          </p:cNvPr>
          <p:cNvSpPr>
            <a:spLocks noGrp="1"/>
          </p:cNvSpPr>
          <p:nvPr>
            <p:ph type="sldNum" sz="quarter" idx="12"/>
          </p:nvPr>
        </p:nvSpPr>
        <p:spPr/>
        <p:txBody>
          <a:bodyPr/>
          <a:lstStyle/>
          <a:p>
            <a:fld id="{97D9CAAA-2CA6-484E-BC5E-D1D1F0D77FA9}" type="slidenum">
              <a:rPr lang="en-IN" smtClean="0"/>
              <a:t>‹#›</a:t>
            </a:fld>
            <a:endParaRPr lang="en-IN"/>
          </a:p>
        </p:txBody>
      </p:sp>
    </p:spTree>
    <p:extLst>
      <p:ext uri="{BB962C8B-B14F-4D97-AF65-F5344CB8AC3E}">
        <p14:creationId xmlns:p14="http://schemas.microsoft.com/office/powerpoint/2010/main" val="1585584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CC0E3-A0CA-93A5-0B64-7A43F94C856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93C4F1D-B6D9-CA31-9AAA-5B3B25D359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9BF0775-839D-934F-3E3E-709E59BB18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D5D1322-CA7E-68F5-AFA6-5353B32BC633}"/>
              </a:ext>
            </a:extLst>
          </p:cNvPr>
          <p:cNvSpPr>
            <a:spLocks noGrp="1"/>
          </p:cNvSpPr>
          <p:nvPr>
            <p:ph type="dt" sz="half" idx="10"/>
          </p:nvPr>
        </p:nvSpPr>
        <p:spPr/>
        <p:txBody>
          <a:bodyPr/>
          <a:lstStyle/>
          <a:p>
            <a:fld id="{E2B9EA97-371D-48FE-9F26-ECEDBBD4F49F}" type="datetimeFigureOut">
              <a:rPr lang="en-IN" smtClean="0"/>
              <a:t>12-01-2026</a:t>
            </a:fld>
            <a:endParaRPr lang="en-IN"/>
          </a:p>
        </p:txBody>
      </p:sp>
      <p:sp>
        <p:nvSpPr>
          <p:cNvPr id="6" name="Footer Placeholder 5">
            <a:extLst>
              <a:ext uri="{FF2B5EF4-FFF2-40B4-BE49-F238E27FC236}">
                <a16:creationId xmlns:a16="http://schemas.microsoft.com/office/drawing/2014/main" id="{5404014B-CF5C-16C0-4186-679E9F5E9B0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027D608-285D-8AD9-435B-B337A5F17CE7}"/>
              </a:ext>
            </a:extLst>
          </p:cNvPr>
          <p:cNvSpPr>
            <a:spLocks noGrp="1"/>
          </p:cNvSpPr>
          <p:nvPr>
            <p:ph type="sldNum" sz="quarter" idx="12"/>
          </p:nvPr>
        </p:nvSpPr>
        <p:spPr/>
        <p:txBody>
          <a:bodyPr/>
          <a:lstStyle/>
          <a:p>
            <a:fld id="{97D9CAAA-2CA6-484E-BC5E-D1D1F0D77FA9}" type="slidenum">
              <a:rPr lang="en-IN" smtClean="0"/>
              <a:t>‹#›</a:t>
            </a:fld>
            <a:endParaRPr lang="en-IN"/>
          </a:p>
        </p:txBody>
      </p:sp>
    </p:spTree>
    <p:extLst>
      <p:ext uri="{BB962C8B-B14F-4D97-AF65-F5344CB8AC3E}">
        <p14:creationId xmlns:p14="http://schemas.microsoft.com/office/powerpoint/2010/main" val="7817596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4AAE7-2358-DD3E-B193-C13368D4270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9C0734D-2095-ADA7-9DA0-9DB27079AB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F7E9D3B-4C54-2AC0-C646-0655D2EDDB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48265C0-2E38-CC9B-BDE3-6081315E48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3E137AE-4346-23CD-05F6-72042F07034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5348FA9-6EFF-32BD-9765-05F88B59766F}"/>
              </a:ext>
            </a:extLst>
          </p:cNvPr>
          <p:cNvSpPr>
            <a:spLocks noGrp="1"/>
          </p:cNvSpPr>
          <p:nvPr>
            <p:ph type="dt" sz="half" idx="10"/>
          </p:nvPr>
        </p:nvSpPr>
        <p:spPr/>
        <p:txBody>
          <a:bodyPr/>
          <a:lstStyle/>
          <a:p>
            <a:fld id="{E2B9EA97-371D-48FE-9F26-ECEDBBD4F49F}" type="datetimeFigureOut">
              <a:rPr lang="en-IN" smtClean="0"/>
              <a:t>12-01-2026</a:t>
            </a:fld>
            <a:endParaRPr lang="en-IN"/>
          </a:p>
        </p:txBody>
      </p:sp>
      <p:sp>
        <p:nvSpPr>
          <p:cNvPr id="8" name="Footer Placeholder 7">
            <a:extLst>
              <a:ext uri="{FF2B5EF4-FFF2-40B4-BE49-F238E27FC236}">
                <a16:creationId xmlns:a16="http://schemas.microsoft.com/office/drawing/2014/main" id="{C28B6CCC-AEC9-A8DC-1097-E16857BAFE4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BAE03E2-1066-9545-0ACC-88565C28F8F5}"/>
              </a:ext>
            </a:extLst>
          </p:cNvPr>
          <p:cNvSpPr>
            <a:spLocks noGrp="1"/>
          </p:cNvSpPr>
          <p:nvPr>
            <p:ph type="sldNum" sz="quarter" idx="12"/>
          </p:nvPr>
        </p:nvSpPr>
        <p:spPr/>
        <p:txBody>
          <a:bodyPr/>
          <a:lstStyle/>
          <a:p>
            <a:fld id="{97D9CAAA-2CA6-484E-BC5E-D1D1F0D77FA9}" type="slidenum">
              <a:rPr lang="en-IN" smtClean="0"/>
              <a:t>‹#›</a:t>
            </a:fld>
            <a:endParaRPr lang="en-IN"/>
          </a:p>
        </p:txBody>
      </p:sp>
    </p:spTree>
    <p:extLst>
      <p:ext uri="{BB962C8B-B14F-4D97-AF65-F5344CB8AC3E}">
        <p14:creationId xmlns:p14="http://schemas.microsoft.com/office/powerpoint/2010/main" val="19657710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B7B11-E9F3-45BE-533B-1CB464978F4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0820B79-23CA-99C4-A579-48674881A9A6}"/>
              </a:ext>
            </a:extLst>
          </p:cNvPr>
          <p:cNvSpPr>
            <a:spLocks noGrp="1"/>
          </p:cNvSpPr>
          <p:nvPr>
            <p:ph type="dt" sz="half" idx="10"/>
          </p:nvPr>
        </p:nvSpPr>
        <p:spPr/>
        <p:txBody>
          <a:bodyPr/>
          <a:lstStyle/>
          <a:p>
            <a:fld id="{E2B9EA97-371D-48FE-9F26-ECEDBBD4F49F}" type="datetimeFigureOut">
              <a:rPr lang="en-IN" smtClean="0"/>
              <a:t>12-01-2026</a:t>
            </a:fld>
            <a:endParaRPr lang="en-IN"/>
          </a:p>
        </p:txBody>
      </p:sp>
      <p:sp>
        <p:nvSpPr>
          <p:cNvPr id="4" name="Footer Placeholder 3">
            <a:extLst>
              <a:ext uri="{FF2B5EF4-FFF2-40B4-BE49-F238E27FC236}">
                <a16:creationId xmlns:a16="http://schemas.microsoft.com/office/drawing/2014/main" id="{D11D499D-BC01-8615-3509-2A1F28D8672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D0FF2ED-26D7-0047-B2E2-52A6B62AB86A}"/>
              </a:ext>
            </a:extLst>
          </p:cNvPr>
          <p:cNvSpPr>
            <a:spLocks noGrp="1"/>
          </p:cNvSpPr>
          <p:nvPr>
            <p:ph type="sldNum" sz="quarter" idx="12"/>
          </p:nvPr>
        </p:nvSpPr>
        <p:spPr/>
        <p:txBody>
          <a:bodyPr/>
          <a:lstStyle/>
          <a:p>
            <a:fld id="{97D9CAAA-2CA6-484E-BC5E-D1D1F0D77FA9}" type="slidenum">
              <a:rPr lang="en-IN" smtClean="0"/>
              <a:t>‹#›</a:t>
            </a:fld>
            <a:endParaRPr lang="en-IN"/>
          </a:p>
        </p:txBody>
      </p:sp>
    </p:spTree>
    <p:extLst>
      <p:ext uri="{BB962C8B-B14F-4D97-AF65-F5344CB8AC3E}">
        <p14:creationId xmlns:p14="http://schemas.microsoft.com/office/powerpoint/2010/main" val="2471897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3BD8F0-BEF6-0838-A207-C562E7F618B0}"/>
              </a:ext>
            </a:extLst>
          </p:cNvPr>
          <p:cNvSpPr>
            <a:spLocks noGrp="1"/>
          </p:cNvSpPr>
          <p:nvPr>
            <p:ph type="dt" sz="half" idx="10"/>
          </p:nvPr>
        </p:nvSpPr>
        <p:spPr/>
        <p:txBody>
          <a:bodyPr/>
          <a:lstStyle/>
          <a:p>
            <a:fld id="{E2B9EA97-371D-48FE-9F26-ECEDBBD4F49F}" type="datetimeFigureOut">
              <a:rPr lang="en-IN" smtClean="0"/>
              <a:t>12-01-2026</a:t>
            </a:fld>
            <a:endParaRPr lang="en-IN"/>
          </a:p>
        </p:txBody>
      </p:sp>
      <p:sp>
        <p:nvSpPr>
          <p:cNvPr id="3" name="Footer Placeholder 2">
            <a:extLst>
              <a:ext uri="{FF2B5EF4-FFF2-40B4-BE49-F238E27FC236}">
                <a16:creationId xmlns:a16="http://schemas.microsoft.com/office/drawing/2014/main" id="{5156141E-BA78-F6C7-0EF0-F56BD2AABF0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AD29D69-97E8-75A7-8931-AC55A2E295B1}"/>
              </a:ext>
            </a:extLst>
          </p:cNvPr>
          <p:cNvSpPr>
            <a:spLocks noGrp="1"/>
          </p:cNvSpPr>
          <p:nvPr>
            <p:ph type="sldNum" sz="quarter" idx="12"/>
          </p:nvPr>
        </p:nvSpPr>
        <p:spPr/>
        <p:txBody>
          <a:bodyPr/>
          <a:lstStyle/>
          <a:p>
            <a:fld id="{97D9CAAA-2CA6-484E-BC5E-D1D1F0D77FA9}" type="slidenum">
              <a:rPr lang="en-IN" smtClean="0"/>
              <a:t>‹#›</a:t>
            </a:fld>
            <a:endParaRPr lang="en-IN"/>
          </a:p>
        </p:txBody>
      </p:sp>
    </p:spTree>
    <p:extLst>
      <p:ext uri="{BB962C8B-B14F-4D97-AF65-F5344CB8AC3E}">
        <p14:creationId xmlns:p14="http://schemas.microsoft.com/office/powerpoint/2010/main" val="3449003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A73B8-7D97-CC68-44C4-8F5DA26F36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2F0278F-5398-B59B-4061-385EEA4CEC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CB11268-0E90-6BED-A0C0-EBF57E7249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9478A7-D80A-A460-5973-835085B95846}"/>
              </a:ext>
            </a:extLst>
          </p:cNvPr>
          <p:cNvSpPr>
            <a:spLocks noGrp="1"/>
          </p:cNvSpPr>
          <p:nvPr>
            <p:ph type="dt" sz="half" idx="10"/>
          </p:nvPr>
        </p:nvSpPr>
        <p:spPr/>
        <p:txBody>
          <a:bodyPr/>
          <a:lstStyle/>
          <a:p>
            <a:fld id="{E2B9EA97-371D-48FE-9F26-ECEDBBD4F49F}" type="datetimeFigureOut">
              <a:rPr lang="en-IN" smtClean="0"/>
              <a:t>12-01-2026</a:t>
            </a:fld>
            <a:endParaRPr lang="en-IN"/>
          </a:p>
        </p:txBody>
      </p:sp>
      <p:sp>
        <p:nvSpPr>
          <p:cNvPr id="6" name="Footer Placeholder 5">
            <a:extLst>
              <a:ext uri="{FF2B5EF4-FFF2-40B4-BE49-F238E27FC236}">
                <a16:creationId xmlns:a16="http://schemas.microsoft.com/office/drawing/2014/main" id="{43E9A208-680F-BAD9-09F2-093536748CF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C3AD266-4BB2-9F47-ABE7-083ACF773BA5}"/>
              </a:ext>
            </a:extLst>
          </p:cNvPr>
          <p:cNvSpPr>
            <a:spLocks noGrp="1"/>
          </p:cNvSpPr>
          <p:nvPr>
            <p:ph type="sldNum" sz="quarter" idx="12"/>
          </p:nvPr>
        </p:nvSpPr>
        <p:spPr/>
        <p:txBody>
          <a:bodyPr/>
          <a:lstStyle/>
          <a:p>
            <a:fld id="{97D9CAAA-2CA6-484E-BC5E-D1D1F0D77FA9}" type="slidenum">
              <a:rPr lang="en-IN" smtClean="0"/>
              <a:t>‹#›</a:t>
            </a:fld>
            <a:endParaRPr lang="en-IN"/>
          </a:p>
        </p:txBody>
      </p:sp>
    </p:spTree>
    <p:extLst>
      <p:ext uri="{BB962C8B-B14F-4D97-AF65-F5344CB8AC3E}">
        <p14:creationId xmlns:p14="http://schemas.microsoft.com/office/powerpoint/2010/main" val="15182143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4E789-6566-1C00-FE49-B0246817A4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723814A-1CFE-A661-0C34-FAD60BF997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CD5CA2C-0A2B-491C-DE4D-7DD3DDA6BE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BE1D8B-9060-0B0E-5355-BB5ACB20E980}"/>
              </a:ext>
            </a:extLst>
          </p:cNvPr>
          <p:cNvSpPr>
            <a:spLocks noGrp="1"/>
          </p:cNvSpPr>
          <p:nvPr>
            <p:ph type="dt" sz="half" idx="10"/>
          </p:nvPr>
        </p:nvSpPr>
        <p:spPr/>
        <p:txBody>
          <a:bodyPr/>
          <a:lstStyle/>
          <a:p>
            <a:fld id="{E2B9EA97-371D-48FE-9F26-ECEDBBD4F49F}" type="datetimeFigureOut">
              <a:rPr lang="en-IN" smtClean="0"/>
              <a:t>12-01-2026</a:t>
            </a:fld>
            <a:endParaRPr lang="en-IN"/>
          </a:p>
        </p:txBody>
      </p:sp>
      <p:sp>
        <p:nvSpPr>
          <p:cNvPr id="6" name="Footer Placeholder 5">
            <a:extLst>
              <a:ext uri="{FF2B5EF4-FFF2-40B4-BE49-F238E27FC236}">
                <a16:creationId xmlns:a16="http://schemas.microsoft.com/office/drawing/2014/main" id="{3BD5769E-50DF-E3A1-C592-14F6AE05BEA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8F967DA-1D2B-077D-7E8C-D4E62DB31AF9}"/>
              </a:ext>
            </a:extLst>
          </p:cNvPr>
          <p:cNvSpPr>
            <a:spLocks noGrp="1"/>
          </p:cNvSpPr>
          <p:nvPr>
            <p:ph type="sldNum" sz="quarter" idx="12"/>
          </p:nvPr>
        </p:nvSpPr>
        <p:spPr/>
        <p:txBody>
          <a:bodyPr/>
          <a:lstStyle/>
          <a:p>
            <a:fld id="{97D9CAAA-2CA6-484E-BC5E-D1D1F0D77FA9}" type="slidenum">
              <a:rPr lang="en-IN" smtClean="0"/>
              <a:t>‹#›</a:t>
            </a:fld>
            <a:endParaRPr lang="en-IN"/>
          </a:p>
        </p:txBody>
      </p:sp>
    </p:spTree>
    <p:extLst>
      <p:ext uri="{BB962C8B-B14F-4D97-AF65-F5344CB8AC3E}">
        <p14:creationId xmlns:p14="http://schemas.microsoft.com/office/powerpoint/2010/main" val="3567742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857C1-CD29-51ED-9F3B-17EB2162F37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0CA54D8-292A-4A04-AB70-A86066256BF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732472-1760-92BF-605C-E23342428531}"/>
              </a:ext>
            </a:extLst>
          </p:cNvPr>
          <p:cNvSpPr>
            <a:spLocks noGrp="1"/>
          </p:cNvSpPr>
          <p:nvPr>
            <p:ph type="dt" sz="half" idx="10"/>
          </p:nvPr>
        </p:nvSpPr>
        <p:spPr/>
        <p:txBody>
          <a:bodyPr/>
          <a:lstStyle/>
          <a:p>
            <a:fld id="{E2B9EA97-371D-48FE-9F26-ECEDBBD4F49F}" type="datetimeFigureOut">
              <a:rPr lang="en-IN" smtClean="0"/>
              <a:t>12-01-2026</a:t>
            </a:fld>
            <a:endParaRPr lang="en-IN"/>
          </a:p>
        </p:txBody>
      </p:sp>
      <p:sp>
        <p:nvSpPr>
          <p:cNvPr id="5" name="Footer Placeholder 4">
            <a:extLst>
              <a:ext uri="{FF2B5EF4-FFF2-40B4-BE49-F238E27FC236}">
                <a16:creationId xmlns:a16="http://schemas.microsoft.com/office/drawing/2014/main" id="{BD3D70DC-0785-49DE-7F0D-5098293D26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8CF7B8-338D-1B34-4CE9-3B4091E57C06}"/>
              </a:ext>
            </a:extLst>
          </p:cNvPr>
          <p:cNvSpPr>
            <a:spLocks noGrp="1"/>
          </p:cNvSpPr>
          <p:nvPr>
            <p:ph type="sldNum" sz="quarter" idx="12"/>
          </p:nvPr>
        </p:nvSpPr>
        <p:spPr/>
        <p:txBody>
          <a:bodyPr/>
          <a:lstStyle/>
          <a:p>
            <a:fld id="{97D9CAAA-2CA6-484E-BC5E-D1D1F0D77FA9}" type="slidenum">
              <a:rPr lang="en-IN" smtClean="0"/>
              <a:t>‹#›</a:t>
            </a:fld>
            <a:endParaRPr lang="en-IN"/>
          </a:p>
        </p:txBody>
      </p:sp>
    </p:spTree>
    <p:extLst>
      <p:ext uri="{BB962C8B-B14F-4D97-AF65-F5344CB8AC3E}">
        <p14:creationId xmlns:p14="http://schemas.microsoft.com/office/powerpoint/2010/main" val="23529750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A77181F-B059-969B-E9DD-578FE4BC809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147903D-8001-140C-796A-E9222FDF657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5E5DBE1-685E-2B5A-E3CE-971427AA410E}"/>
              </a:ext>
            </a:extLst>
          </p:cNvPr>
          <p:cNvSpPr>
            <a:spLocks noGrp="1"/>
          </p:cNvSpPr>
          <p:nvPr>
            <p:ph type="dt" sz="half" idx="10"/>
          </p:nvPr>
        </p:nvSpPr>
        <p:spPr/>
        <p:txBody>
          <a:bodyPr/>
          <a:lstStyle/>
          <a:p>
            <a:fld id="{E2B9EA97-371D-48FE-9F26-ECEDBBD4F49F}" type="datetimeFigureOut">
              <a:rPr lang="en-IN" smtClean="0"/>
              <a:t>12-01-2026</a:t>
            </a:fld>
            <a:endParaRPr lang="en-IN"/>
          </a:p>
        </p:txBody>
      </p:sp>
      <p:sp>
        <p:nvSpPr>
          <p:cNvPr id="5" name="Footer Placeholder 4">
            <a:extLst>
              <a:ext uri="{FF2B5EF4-FFF2-40B4-BE49-F238E27FC236}">
                <a16:creationId xmlns:a16="http://schemas.microsoft.com/office/drawing/2014/main" id="{A7799A8B-3E21-4269-6F17-57EC755716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3234C2-78C9-28F2-8AE3-290E90A61363}"/>
              </a:ext>
            </a:extLst>
          </p:cNvPr>
          <p:cNvSpPr>
            <a:spLocks noGrp="1"/>
          </p:cNvSpPr>
          <p:nvPr>
            <p:ph type="sldNum" sz="quarter" idx="12"/>
          </p:nvPr>
        </p:nvSpPr>
        <p:spPr/>
        <p:txBody>
          <a:bodyPr/>
          <a:lstStyle/>
          <a:p>
            <a:fld id="{97D9CAAA-2CA6-484E-BC5E-D1D1F0D77FA9}" type="slidenum">
              <a:rPr lang="en-IN" smtClean="0"/>
              <a:t>‹#›</a:t>
            </a:fld>
            <a:endParaRPr lang="en-IN"/>
          </a:p>
        </p:txBody>
      </p:sp>
    </p:spTree>
    <p:extLst>
      <p:ext uri="{BB962C8B-B14F-4D97-AF65-F5344CB8AC3E}">
        <p14:creationId xmlns:p14="http://schemas.microsoft.com/office/powerpoint/2010/main" val="27131911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3474" cy="369332"/>
          </a:xfrm>
        </p:spPr>
        <p:txBody>
          <a:bodyPr/>
          <a:lstStyle>
            <a:lvl1pPr>
              <a:defRPr sz="2400" b="0" i="0">
                <a:solidFill>
                  <a:schemeClr val="tx1"/>
                </a:solidFill>
                <a:latin typeface="+mj-lt"/>
                <a:cs typeface="Segoe UI Semibold" panose="020B0502040204020203" pitchFamily="34" charset="0"/>
              </a:defRPr>
            </a:lvl1pPr>
          </a:lstStyle>
          <a:p>
            <a:r>
              <a:rPr lang="en-US" dirty="0"/>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1101347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F16CAC6C-E57B-D312-6754-C68FA11C55E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236858359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E0EF12F-1968-ED4D-B38A-A70C886B7C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DAAD723-CB2F-7F1C-881B-409499A431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225C997-3B88-6195-A485-9F0A212900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B9EA97-371D-48FE-9F26-ECEDBBD4F49F}" type="datetimeFigureOut">
              <a:rPr lang="en-IN" smtClean="0"/>
              <a:t>12-01-2026</a:t>
            </a:fld>
            <a:endParaRPr lang="en-IN"/>
          </a:p>
        </p:txBody>
      </p:sp>
      <p:sp>
        <p:nvSpPr>
          <p:cNvPr id="5" name="Footer Placeholder 4">
            <a:extLst>
              <a:ext uri="{FF2B5EF4-FFF2-40B4-BE49-F238E27FC236}">
                <a16:creationId xmlns:a16="http://schemas.microsoft.com/office/drawing/2014/main" id="{7F9576B6-2CAC-82D9-22DD-1C37A10C6B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3ECA611-A379-6236-B774-BB29619DBD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7D9CAAA-2CA6-484E-BC5E-D1D1F0D77FA9}" type="slidenum">
              <a:rPr lang="en-IN" smtClean="0"/>
              <a:t>‹#›</a:t>
            </a:fld>
            <a:endParaRPr lang="en-IN"/>
          </a:p>
        </p:txBody>
      </p:sp>
    </p:spTree>
    <p:extLst>
      <p:ext uri="{BB962C8B-B14F-4D97-AF65-F5344CB8AC3E}">
        <p14:creationId xmlns:p14="http://schemas.microsoft.com/office/powerpoint/2010/main" val="14877338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58.png"/><Relationship Id="rId4" Type="http://schemas.openxmlformats.org/officeDocument/2006/relationships/customXml" Target="../ink/ink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586DC-F7B4-E49B-12C9-731CA08E6175}"/>
              </a:ext>
            </a:extLst>
          </p:cNvPr>
          <p:cNvSpPr>
            <a:spLocks noGrp="1"/>
          </p:cNvSpPr>
          <p:nvPr>
            <p:ph type="ctrTitle"/>
          </p:nvPr>
        </p:nvSpPr>
        <p:spPr>
          <a:xfrm>
            <a:off x="1524000" y="3095001"/>
            <a:ext cx="9144000" cy="2387600"/>
          </a:xfrm>
        </p:spPr>
        <p:txBody>
          <a:bodyPr/>
          <a:lstStyle/>
          <a:p>
            <a:r>
              <a:rPr lang="en-US" dirty="0"/>
              <a:t>The Entire Data Estate</a:t>
            </a:r>
            <a:endParaRPr lang="en-IN" dirty="0"/>
          </a:p>
        </p:txBody>
      </p:sp>
      <p:pic>
        <p:nvPicPr>
          <p:cNvPr id="4" name="Picture 4" descr="Databricks Logo and symbol, meaning, history, PNG, brand">
            <a:extLst>
              <a:ext uri="{FF2B5EF4-FFF2-40B4-BE49-F238E27FC236}">
                <a16:creationId xmlns:a16="http://schemas.microsoft.com/office/drawing/2014/main" id="{C6847EEB-68D1-7D1F-429E-4725BD9A80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8599" y="791022"/>
            <a:ext cx="5634802" cy="31695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38607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B0B90-0A94-E0BE-B24D-1966662B7611}"/>
              </a:ext>
            </a:extLst>
          </p:cNvPr>
          <p:cNvSpPr>
            <a:spLocks noGrp="1"/>
          </p:cNvSpPr>
          <p:nvPr>
            <p:ph type="title"/>
          </p:nvPr>
        </p:nvSpPr>
        <p:spPr>
          <a:xfrm>
            <a:off x="385062" y="54275"/>
            <a:ext cx="11013474" cy="369332"/>
          </a:xfrm>
        </p:spPr>
        <p:txBody>
          <a:bodyPr>
            <a:normAutofit fontScale="90000"/>
          </a:bodyPr>
          <a:lstStyle/>
          <a:p>
            <a:pPr algn="ctr"/>
            <a:r>
              <a:rPr lang="en-US" dirty="0"/>
              <a:t>Data Lakehouse</a:t>
            </a:r>
            <a:endParaRPr lang="en-IN" dirty="0"/>
          </a:p>
        </p:txBody>
      </p:sp>
      <p:sp>
        <p:nvSpPr>
          <p:cNvPr id="8" name="TextBox 7">
            <a:extLst>
              <a:ext uri="{FF2B5EF4-FFF2-40B4-BE49-F238E27FC236}">
                <a16:creationId xmlns:a16="http://schemas.microsoft.com/office/drawing/2014/main" id="{838786C2-7E88-6E96-F91D-27669FBB0D94}"/>
              </a:ext>
            </a:extLst>
          </p:cNvPr>
          <p:cNvSpPr txBox="1"/>
          <p:nvPr/>
        </p:nvSpPr>
        <p:spPr>
          <a:xfrm>
            <a:off x="258786" y="453911"/>
            <a:ext cx="11551897" cy="1815882"/>
          </a:xfrm>
          <a:prstGeom prst="rect">
            <a:avLst/>
          </a:prstGeom>
          <a:noFill/>
          <a:ln>
            <a:solidFill>
              <a:schemeClr val="accent1"/>
            </a:solidFill>
          </a:ln>
        </p:spPr>
        <p:style>
          <a:lnRef idx="0">
            <a:scrgbClr r="0" g="0" b="0"/>
          </a:lnRef>
          <a:fillRef idx="0">
            <a:scrgbClr r="0" g="0" b="0"/>
          </a:fillRef>
          <a:effectRef idx="0">
            <a:scrgbClr r="0" g="0" b="0"/>
          </a:effectRef>
          <a:fontRef idx="minor">
            <a:schemeClr val="dk1"/>
          </a:fontRef>
        </p:style>
        <p:txBody>
          <a:bodyPr wrap="square">
            <a:spAutoFit/>
          </a:bodyPr>
          <a:lstStyle/>
          <a:p>
            <a:pPr marL="285750" indent="-285750">
              <a:buFont typeface="Wingdings" panose="05000000000000000000" pitchFamily="2" charset="2"/>
              <a:buChar char="Ø"/>
            </a:pPr>
            <a:r>
              <a:rPr lang="en-US" sz="1600" b="1" dirty="0"/>
              <a:t>A data lakehouse </a:t>
            </a:r>
            <a:r>
              <a:rPr lang="en-US" sz="1600" dirty="0"/>
              <a:t>provides scalable storage and processing capabilities for modern organizations that want to avoid isolated systems for processing different workloads, like machine learning (ML) and business intelligence (BI). </a:t>
            </a:r>
          </a:p>
          <a:p>
            <a:pPr marL="285750" indent="-285750">
              <a:buFont typeface="Wingdings" panose="05000000000000000000" pitchFamily="2" charset="2"/>
              <a:buChar char="Ø"/>
            </a:pPr>
            <a:r>
              <a:rPr lang="en-US" sz="1600" dirty="0"/>
              <a:t>A </a:t>
            </a:r>
            <a:r>
              <a:rPr lang="en-US" sz="1600" b="1" dirty="0"/>
              <a:t>data </a:t>
            </a:r>
            <a:r>
              <a:rPr lang="en-US" sz="1600" b="1" dirty="0" err="1"/>
              <a:t>lakehouse</a:t>
            </a:r>
            <a:r>
              <a:rPr lang="en-US" sz="1600" dirty="0"/>
              <a:t> is a modern data management architecture that combines the best features of data lakes and data warehouses. It provides the scalability and flexibility of data lakes with the data management and transactional capabilities of data warehouse</a:t>
            </a:r>
          </a:p>
          <a:p>
            <a:pPr marL="285750" indent="-285750">
              <a:buFont typeface="Wingdings" panose="05000000000000000000" pitchFamily="2" charset="2"/>
              <a:buChar char="Ø"/>
            </a:pPr>
            <a:r>
              <a:rPr lang="en-US" sz="1600" b="1" dirty="0"/>
              <a:t>A data lakehouse can help establish a single source of truth, eliminate redundant costs, and ensure data freshness.</a:t>
            </a:r>
          </a:p>
          <a:p>
            <a:pPr marL="285750" indent="-285750">
              <a:buFont typeface="Wingdings" panose="05000000000000000000" pitchFamily="2" charset="2"/>
              <a:buChar char="Ø"/>
            </a:pPr>
            <a:endParaRPr lang="en-IN" sz="1600" b="1" dirty="0"/>
          </a:p>
        </p:txBody>
      </p:sp>
      <p:pic>
        <p:nvPicPr>
          <p:cNvPr id="9" name="Picture 4" descr="What Is a Lakehouse? | Databricks Blog">
            <a:extLst>
              <a:ext uri="{FF2B5EF4-FFF2-40B4-BE49-F238E27FC236}">
                <a16:creationId xmlns:a16="http://schemas.microsoft.com/office/drawing/2014/main" id="{4F899A5F-E99A-D8D5-5822-DEABA8EEC9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7876" y="2300097"/>
            <a:ext cx="7973050" cy="418585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3C27A09-0A7F-8BCA-1A3D-F6BB74A26A50}"/>
              </a:ext>
            </a:extLst>
          </p:cNvPr>
          <p:cNvSpPr txBox="1"/>
          <p:nvPr/>
        </p:nvSpPr>
        <p:spPr>
          <a:xfrm>
            <a:off x="155686" y="2807422"/>
            <a:ext cx="2630509" cy="2031325"/>
          </a:xfrm>
          <a:prstGeom prst="rect">
            <a:avLst/>
          </a:prstGeom>
          <a:noFill/>
          <a:ln>
            <a:solidFill>
              <a:schemeClr val="accent1"/>
            </a:solidFill>
          </a:ln>
        </p:spPr>
        <p:txBody>
          <a:bodyPr wrap="square">
            <a:spAutoFit/>
          </a:bodyPr>
          <a:lstStyle/>
          <a:p>
            <a:r>
              <a:rPr lang="en-US" b="1" dirty="0"/>
              <a:t>When you combine the data storage layer of Data Lake and transactional capabilities of Delta Lake, you get a </a:t>
            </a:r>
            <a:r>
              <a:rPr lang="en-US" b="1" dirty="0">
                <a:highlight>
                  <a:srgbClr val="FFFF00"/>
                </a:highlight>
              </a:rPr>
              <a:t>Data Lakehouse</a:t>
            </a:r>
            <a:endParaRPr lang="en-IN" dirty="0">
              <a:highlight>
                <a:srgbClr val="FFFF00"/>
              </a:highlight>
            </a:endParaRPr>
          </a:p>
        </p:txBody>
      </p:sp>
      <p:sp>
        <p:nvSpPr>
          <p:cNvPr id="10" name="TextBox 9">
            <a:extLst>
              <a:ext uri="{FF2B5EF4-FFF2-40B4-BE49-F238E27FC236}">
                <a16:creationId xmlns:a16="http://schemas.microsoft.com/office/drawing/2014/main" id="{9E4ECAF0-8D9F-991E-DEA5-8D7F24C4F6E9}"/>
              </a:ext>
            </a:extLst>
          </p:cNvPr>
          <p:cNvSpPr txBox="1"/>
          <p:nvPr/>
        </p:nvSpPr>
        <p:spPr>
          <a:xfrm>
            <a:off x="11099984" y="4162189"/>
            <a:ext cx="936330" cy="461665"/>
          </a:xfrm>
          <a:prstGeom prst="rect">
            <a:avLst/>
          </a:prstGeom>
          <a:noFill/>
        </p:spPr>
        <p:txBody>
          <a:bodyPr wrap="square">
            <a:spAutoFit/>
          </a:bodyPr>
          <a:lstStyle/>
          <a:p>
            <a:r>
              <a:rPr lang="en-IN" sz="1200" dirty="0"/>
              <a:t>Delta Lake Integration</a:t>
            </a:r>
          </a:p>
        </p:txBody>
      </p:sp>
      <p:cxnSp>
        <p:nvCxnSpPr>
          <p:cNvPr id="12" name="Straight Arrow Connector 11">
            <a:extLst>
              <a:ext uri="{FF2B5EF4-FFF2-40B4-BE49-F238E27FC236}">
                <a16:creationId xmlns:a16="http://schemas.microsoft.com/office/drawing/2014/main" id="{5714562C-D19D-EBFC-512D-22D7A50FDF7D}"/>
              </a:ext>
            </a:extLst>
          </p:cNvPr>
          <p:cNvCxnSpPr/>
          <p:nvPr/>
        </p:nvCxnSpPr>
        <p:spPr>
          <a:xfrm flipH="1">
            <a:off x="10616540" y="4512623"/>
            <a:ext cx="483444" cy="111231"/>
          </a:xfrm>
          <a:prstGeom prst="straightConnector1">
            <a:avLst/>
          </a:prstGeom>
          <a:ln w="57150">
            <a:solidFill>
              <a:srgbClr val="FF0000"/>
            </a:solidFill>
            <a:headEnd type="none" w="lg"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4">
            <p14:nvContentPartPr>
              <p14:cNvPr id="13" name="Ink 12">
                <a:extLst>
                  <a:ext uri="{FF2B5EF4-FFF2-40B4-BE49-F238E27FC236}">
                    <a16:creationId xmlns:a16="http://schemas.microsoft.com/office/drawing/2014/main" id="{FF6394AC-899C-9AB8-9CBC-B0F30E24204E}"/>
                  </a:ext>
                </a:extLst>
              </p14:cNvPr>
              <p14:cNvContentPartPr/>
              <p14:nvPr/>
            </p14:nvContentPartPr>
            <p14:xfrm>
              <a:off x="9238830" y="4797594"/>
              <a:ext cx="877680" cy="360"/>
            </p14:xfrm>
          </p:contentPart>
        </mc:Choice>
        <mc:Fallback xmlns="">
          <p:pic>
            <p:nvPicPr>
              <p:cNvPr id="13" name="Ink 12">
                <a:extLst>
                  <a:ext uri="{FF2B5EF4-FFF2-40B4-BE49-F238E27FC236}">
                    <a16:creationId xmlns:a16="http://schemas.microsoft.com/office/drawing/2014/main" id="{FF6394AC-899C-9AB8-9CBC-B0F30E24204E}"/>
                  </a:ext>
                </a:extLst>
              </p:cNvPr>
              <p:cNvPicPr/>
              <p:nvPr/>
            </p:nvPicPr>
            <p:blipFill>
              <a:blip r:embed="rId5"/>
              <a:stretch>
                <a:fillRect/>
              </a:stretch>
            </p:blipFill>
            <p:spPr>
              <a:xfrm>
                <a:off x="9185190" y="4689954"/>
                <a:ext cx="985320" cy="216000"/>
              </a:xfrm>
              <a:prstGeom prst="rect">
                <a:avLst/>
              </a:prstGeom>
            </p:spPr>
          </p:pic>
        </mc:Fallback>
      </mc:AlternateContent>
    </p:spTree>
    <p:extLst>
      <p:ext uri="{BB962C8B-B14F-4D97-AF65-F5344CB8AC3E}">
        <p14:creationId xmlns:p14="http://schemas.microsoft.com/office/powerpoint/2010/main" val="391338530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405857BF-93D8-6083-6DDE-8A418601BA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523" y="-208344"/>
            <a:ext cx="8763000" cy="31242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74F584A-1938-BF6F-FD36-ADF4FFF47C55}"/>
              </a:ext>
            </a:extLst>
          </p:cNvPr>
          <p:cNvSpPr txBox="1"/>
          <p:nvPr/>
        </p:nvSpPr>
        <p:spPr>
          <a:xfrm>
            <a:off x="447040" y="4145280"/>
            <a:ext cx="4283710" cy="101566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200" dirty="0"/>
              <a:t>The transaction log controls commit atomicity. During a transaction, data files are written to the file directory backing the table. When the transaction completes, a new entry is committed to the transaction log that includes the paths to all files written during the transaction.</a:t>
            </a:r>
            <a:endParaRPr lang="en-IN" sz="1200" dirty="0"/>
          </a:p>
        </p:txBody>
      </p:sp>
      <p:cxnSp>
        <p:nvCxnSpPr>
          <p:cNvPr id="10" name="Straight Arrow Connector 9">
            <a:extLst>
              <a:ext uri="{FF2B5EF4-FFF2-40B4-BE49-F238E27FC236}">
                <a16:creationId xmlns:a16="http://schemas.microsoft.com/office/drawing/2014/main" id="{0B6135BE-355C-0423-B956-B977BFB5A5CA}"/>
              </a:ext>
            </a:extLst>
          </p:cNvPr>
          <p:cNvCxnSpPr/>
          <p:nvPr/>
        </p:nvCxnSpPr>
        <p:spPr>
          <a:xfrm flipH="1">
            <a:off x="2042160" y="2550160"/>
            <a:ext cx="1158240" cy="1595120"/>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E8490917-44DA-B136-E464-AD3A643F8B3E}"/>
              </a:ext>
            </a:extLst>
          </p:cNvPr>
          <p:cNvSpPr txBox="1"/>
          <p:nvPr/>
        </p:nvSpPr>
        <p:spPr>
          <a:xfrm>
            <a:off x="3200400" y="5811446"/>
            <a:ext cx="6096000" cy="46166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200" dirty="0"/>
              <a:t>Delta Lake uses optimistic concurrency control to provide transactional guarantees between writes.</a:t>
            </a:r>
            <a:endParaRPr lang="en-IN" sz="1200" dirty="0"/>
          </a:p>
        </p:txBody>
      </p:sp>
      <p:cxnSp>
        <p:nvCxnSpPr>
          <p:cNvPr id="15" name="Straight Arrow Connector 14">
            <a:extLst>
              <a:ext uri="{FF2B5EF4-FFF2-40B4-BE49-F238E27FC236}">
                <a16:creationId xmlns:a16="http://schemas.microsoft.com/office/drawing/2014/main" id="{0FDB988F-23EE-3FB4-893B-257E5B5F5312}"/>
              </a:ext>
            </a:extLst>
          </p:cNvPr>
          <p:cNvCxnSpPr>
            <a:cxnSpLocks/>
          </p:cNvCxnSpPr>
          <p:nvPr/>
        </p:nvCxnSpPr>
        <p:spPr>
          <a:xfrm>
            <a:off x="5222240" y="2550160"/>
            <a:ext cx="473453" cy="3113314"/>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E47102CA-9AD3-C53D-61B8-95F47BDB49C4}"/>
              </a:ext>
            </a:extLst>
          </p:cNvPr>
          <p:cNvSpPr txBox="1"/>
          <p:nvPr/>
        </p:nvSpPr>
        <p:spPr>
          <a:xfrm>
            <a:off x="6177023" y="5044963"/>
            <a:ext cx="5567937" cy="46166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200" dirty="0"/>
              <a:t>Azure Databricks uses write serializable isolation by default for all table writes and updates. Snapshot isolation is used for all table reads.</a:t>
            </a:r>
            <a:endParaRPr lang="en-IN" sz="1200" dirty="0"/>
          </a:p>
        </p:txBody>
      </p:sp>
      <p:cxnSp>
        <p:nvCxnSpPr>
          <p:cNvPr id="23" name="Straight Arrow Connector 22">
            <a:extLst>
              <a:ext uri="{FF2B5EF4-FFF2-40B4-BE49-F238E27FC236}">
                <a16:creationId xmlns:a16="http://schemas.microsoft.com/office/drawing/2014/main" id="{29492EDC-827B-26DB-B0E8-601B5EE8A237}"/>
              </a:ext>
            </a:extLst>
          </p:cNvPr>
          <p:cNvCxnSpPr>
            <a:cxnSpLocks/>
          </p:cNvCxnSpPr>
          <p:nvPr/>
        </p:nvCxnSpPr>
        <p:spPr>
          <a:xfrm>
            <a:off x="7226043" y="2576927"/>
            <a:ext cx="1481077" cy="2468036"/>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B7554E9-CED0-784F-4ED3-38897C9F181B}"/>
              </a:ext>
            </a:extLst>
          </p:cNvPr>
          <p:cNvSpPr txBox="1"/>
          <p:nvPr/>
        </p:nvSpPr>
        <p:spPr>
          <a:xfrm>
            <a:off x="8688070" y="3544716"/>
            <a:ext cx="3056890" cy="83099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200" dirty="0"/>
              <a:t>Azure Databricks uses cloud object storage to store all data files and transaction logs. Cloud object storage has high availability and durability.</a:t>
            </a:r>
            <a:endParaRPr lang="en-IN" sz="1200" dirty="0"/>
          </a:p>
        </p:txBody>
      </p:sp>
      <p:cxnSp>
        <p:nvCxnSpPr>
          <p:cNvPr id="32" name="Straight Arrow Connector 31">
            <a:extLst>
              <a:ext uri="{FF2B5EF4-FFF2-40B4-BE49-F238E27FC236}">
                <a16:creationId xmlns:a16="http://schemas.microsoft.com/office/drawing/2014/main" id="{93843B40-B214-58AD-2E06-152320F309E9}"/>
              </a:ext>
            </a:extLst>
          </p:cNvPr>
          <p:cNvCxnSpPr>
            <a:cxnSpLocks/>
            <a:endCxn id="29" idx="0"/>
          </p:cNvCxnSpPr>
          <p:nvPr/>
        </p:nvCxnSpPr>
        <p:spPr>
          <a:xfrm>
            <a:off x="9296400" y="2576927"/>
            <a:ext cx="920115" cy="967789"/>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789AD088-23E2-0FA8-D483-68761B607EA9}"/>
              </a:ext>
            </a:extLst>
          </p:cNvPr>
          <p:cNvSpPr txBox="1"/>
          <p:nvPr/>
        </p:nvSpPr>
        <p:spPr>
          <a:xfrm>
            <a:off x="7305426" y="142884"/>
            <a:ext cx="4886574" cy="276999"/>
          </a:xfrm>
          <a:prstGeom prst="rect">
            <a:avLst/>
          </a:prstGeom>
          <a:noFill/>
        </p:spPr>
        <p:txBody>
          <a:bodyPr wrap="square" lIns="0" tIns="0" rIns="0" bIns="0" rtlCol="0">
            <a:spAutoFit/>
          </a:bodyPr>
          <a:lstStyle/>
          <a:p>
            <a:pPr algn="l"/>
            <a:r>
              <a:rPr lang="en-US" sz="1800" dirty="0">
                <a:solidFill>
                  <a:srgbClr val="C00000"/>
                </a:solidFill>
                <a:highlight>
                  <a:srgbClr val="FFFF00"/>
                </a:highlight>
              </a:rPr>
              <a:t>Data becomes your single source of truth</a:t>
            </a:r>
            <a:endParaRPr lang="en-IN" sz="1800" dirty="0">
              <a:solidFill>
                <a:srgbClr val="C00000"/>
              </a:solidFill>
              <a:highlight>
                <a:srgbClr val="FFFF00"/>
              </a:highlight>
            </a:endParaRPr>
          </a:p>
        </p:txBody>
      </p:sp>
    </p:spTree>
    <p:extLst>
      <p:ext uri="{BB962C8B-B14F-4D97-AF65-F5344CB8AC3E}">
        <p14:creationId xmlns:p14="http://schemas.microsoft.com/office/powerpoint/2010/main" val="937728146"/>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700</Words>
  <Application>Microsoft Office PowerPoint</Application>
  <PresentationFormat>Widescreen</PresentationFormat>
  <Paragraphs>40</Paragraphs>
  <Slides>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Aptos</vt:lpstr>
      <vt:lpstr>Aptos Display</vt:lpstr>
      <vt:lpstr>Arial</vt:lpstr>
      <vt:lpstr>Segoe UI</vt:lpstr>
      <vt:lpstr>Wingdings</vt:lpstr>
      <vt:lpstr>Office Theme</vt:lpstr>
      <vt:lpstr>The Entire Data Estate</vt:lpstr>
      <vt:lpstr>Data Lakehouse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kuljot bakshi</dc:creator>
  <cp:lastModifiedBy>kuljot bakshi</cp:lastModifiedBy>
  <cp:revision>1</cp:revision>
  <dcterms:created xsi:type="dcterms:W3CDTF">2026-01-12T02:49:48Z</dcterms:created>
  <dcterms:modified xsi:type="dcterms:W3CDTF">2026-01-12T02:52:53Z</dcterms:modified>
</cp:coreProperties>
</file>