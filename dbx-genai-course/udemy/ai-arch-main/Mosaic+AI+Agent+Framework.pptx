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147479724" r:id="rId3"/>
    <p:sldId id="2147479725" r:id="rId4"/>
    <p:sldId id="2147479732" r:id="rId5"/>
    <p:sldId id="2147479733" r:id="rId6"/>
    <p:sldId id="2147479734" r:id="rId7"/>
    <p:sldId id="2147479730" r:id="rId8"/>
    <p:sldId id="2147479731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86" autoAdjust="0"/>
    <p:restoredTop sz="94660"/>
  </p:normalViewPr>
  <p:slideViewPr>
    <p:cSldViewPr snapToGrid="0">
      <p:cViewPr varScale="1">
        <p:scale>
          <a:sx n="62" d="100"/>
          <a:sy n="62" d="100"/>
        </p:scale>
        <p:origin x="828" y="2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F9BC05-B601-376B-42CA-EFA5D825CD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B28040-2B93-4D69-DB7E-5E33BD5BA6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12203F-0416-8172-9C6F-E78AF8B2D0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56FDDA-C28A-4CD8-8052-800409F9F306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64ED5E-9BE5-282C-A012-1322A6D1A3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1C47A7-B1DF-0C74-2170-CA062936FC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B3EFE-72AE-4D07-A2E7-C6E45F853D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27530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433E69-4658-9C98-3DD8-F23F9A1E33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3C9EED-5983-76F7-0301-468330F936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D7C8DD-9F6F-240A-96A3-51F9FF67D6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56FDDA-C28A-4CD8-8052-800409F9F306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A98D1E-7325-17DC-8F04-CB047DC483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FFE775-F7FD-ADD6-DDA2-515E835C21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B3EFE-72AE-4D07-A2E7-C6E45F853D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54411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88A149-7184-F978-D785-E669A51B5E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76AE22-6A4B-12F9-7CF9-10E3A7A89A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7817EB-1859-9828-336A-110B07B8E5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56FDDA-C28A-4CD8-8052-800409F9F306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EC3B58-FEA0-0FFA-94FA-41FFEC357E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A58AD0-684D-3F35-FD67-E0DD3522A2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B3EFE-72AE-4D07-A2E7-C6E45F853D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14468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7FB4E7-F0E5-0A0B-FC80-849EC40B3F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220787-53FA-52D1-AE2F-E4A8AAE9777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83BEAF-D5CF-7EAC-5195-8701501104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BFE532-5445-E916-95F4-76976CAE8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56FDDA-C28A-4CD8-8052-800409F9F306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9196C4-CE8D-86B7-3E3C-87A0200F3F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17A439-0DCC-BBB3-D3CC-FE5E9AF0B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B3EFE-72AE-4D07-A2E7-C6E45F853D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51424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84FE9B-F37D-3067-5BF3-2693356AFF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C569C0-2973-97D4-971C-BC745A07C2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6958FA-5ABD-7EE8-1522-81752C4085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56BD8B0-063C-54C0-8489-ABA47A9D1C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CCAD89A-6504-6903-3204-663BBB39478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A7EF50B-20CD-0342-9B8A-ED7832411D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56FDDA-C28A-4CD8-8052-800409F9F306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C9154AB-4588-F6CA-7666-9843635310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C7DD7FB-77EF-74F3-5808-BABD7B34D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B3EFE-72AE-4D07-A2E7-C6E45F853D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11756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75C261-C6D0-00A3-C6DE-0EDBD4DA85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6542EF3-11DF-B3F8-54F5-8046A56200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56FDDA-C28A-4CD8-8052-800409F9F306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2A6FC1-C392-1A96-C54B-C1A4DFA4A7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4C77B1-A893-E48D-FE1F-D24BCE3B7D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B3EFE-72AE-4D07-A2E7-C6E45F853D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33175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749209F-BF11-DCA0-58D3-FB10459C59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56FDDA-C28A-4CD8-8052-800409F9F306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6977696-6464-C7C3-974D-87702EDB68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2A0BE6-8C9C-A385-89B6-080D3243C6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B3EFE-72AE-4D07-A2E7-C6E45F853D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74038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242215-B988-7BAB-A118-684FD0FF4A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9FE246-C4CF-FCB0-0061-21A899CAEC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193BB3-C8EE-3756-195A-08E2F026C7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423700-5BB5-1A3A-1975-3E0D9836D7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56FDDA-C28A-4CD8-8052-800409F9F306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03AEA5-5312-FD1F-417E-9AE5172319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26572D-DEA9-425D-BE59-7C5CC61AA1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B3EFE-72AE-4D07-A2E7-C6E45F853D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76188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F1086A-0E2C-51CB-FBEE-4D64DE45C9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927D61F-66EC-0C13-D554-0A63A4FD3F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AB2B56-A331-840D-57EB-90BAE570AD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3C3E40-B5F6-87B3-040E-ACF509806A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56FDDA-C28A-4CD8-8052-800409F9F306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BEF89E-4E0E-B76D-E078-F08763DF1F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0D6E4C-8838-148E-6739-22AF4F6408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B3EFE-72AE-4D07-A2E7-C6E45F853D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32338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579D2F-FD26-2915-7781-0FD22D8866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21E564-CE95-8CD7-0EAC-6266AF98B3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7A0ECE-4C02-29E1-8FC1-97BCC32E16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56FDDA-C28A-4CD8-8052-800409F9F306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B43062-8FDF-8B96-6492-CA68581C25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5DA83B-6535-016F-61F0-8BFD71FD6E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B3EFE-72AE-4D07-A2E7-C6E45F853D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31283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3411EF7-6788-9CB5-C329-DA3CD63133E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1331FD-28A0-F920-DAC3-257FCAE9D0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C88D2E-BE2B-5F34-013C-614CF96688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56FDDA-C28A-4CD8-8052-800409F9F306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C10B89-9A22-A46F-FAC5-CF7D62B49B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A600F4-CD0F-C04E-48DC-D7D39CC3F2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B3EFE-72AE-4D07-A2E7-C6E45F853D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6289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9C8DA41-66AA-D8C7-8727-3210AF7E06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3E5D6C-9561-FE60-1E9A-52FD8144B9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B539B1-262F-8502-49AB-70C275FA979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756FDDA-C28A-4CD8-8052-800409F9F306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CF3612-5211-235A-0EA5-5A29B36CBB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22BA90-7220-4965-3068-764874286D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F3B3EFE-72AE-4D07-A2E7-C6E45F853D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18227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FA8EAE-0D0B-9AE5-71C4-CA6462A81C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166920"/>
            <a:ext cx="9144000" cy="2387600"/>
          </a:xfrm>
        </p:spPr>
        <p:txBody>
          <a:bodyPr/>
          <a:lstStyle/>
          <a:p>
            <a:r>
              <a:rPr lang="en-US" dirty="0"/>
              <a:t>Mosaic AI Agent Framework</a:t>
            </a:r>
            <a:endParaRPr lang="en-IN" dirty="0"/>
          </a:p>
        </p:txBody>
      </p:sp>
      <p:pic>
        <p:nvPicPr>
          <p:cNvPr id="1026" name="Picture 2" descr="Databricks Mosaic - LLM Reference">
            <a:extLst>
              <a:ext uri="{FF2B5EF4-FFF2-40B4-BE49-F238E27FC236}">
                <a16:creationId xmlns:a16="http://schemas.microsoft.com/office/drawing/2014/main" id="{595E84E3-1B47-1F73-9732-B2045E7930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26062" y="431087"/>
            <a:ext cx="3539875" cy="3539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750129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4508A0-6B82-D90B-9EB8-D610A2CC13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5657" y="-200706"/>
            <a:ext cx="9840686" cy="1009651"/>
          </a:xfrm>
        </p:spPr>
        <p:txBody>
          <a:bodyPr/>
          <a:lstStyle/>
          <a:p>
            <a:pPr algn="ctr"/>
            <a:r>
              <a:rPr lang="en-US" dirty="0"/>
              <a:t>Mosaic AI in Azure Databricks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802D00-B72E-8EB5-C706-31A94AB42A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969961"/>
            <a:ext cx="10428514" cy="612775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1800" dirty="0"/>
              <a:t>Mosaic AI is part of the Databricks Data Intelligence Platform, which unifies data, model training and production environments in a single solution.</a:t>
            </a:r>
            <a:endParaRPr lang="en-IN" sz="1800" dirty="0"/>
          </a:p>
        </p:txBody>
      </p:sp>
      <p:pic>
        <p:nvPicPr>
          <p:cNvPr id="4098" name="Picture 2" descr="Complete ownership over your models and data">
            <a:extLst>
              <a:ext uri="{FF2B5EF4-FFF2-40B4-BE49-F238E27FC236}">
                <a16:creationId xmlns:a16="http://schemas.microsoft.com/office/drawing/2014/main" id="{B56D8761-99F6-6908-266C-89D62F6595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629" y="1928054"/>
            <a:ext cx="5376636" cy="36985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7323E46-0834-35B3-BA74-93495C35363F}"/>
              </a:ext>
            </a:extLst>
          </p:cNvPr>
          <p:cNvSpPr txBox="1"/>
          <p:nvPr/>
        </p:nvSpPr>
        <p:spPr>
          <a:xfrm>
            <a:off x="5965371" y="2284338"/>
            <a:ext cx="6096000" cy="298601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Aft>
                <a:spcPts val="1200"/>
              </a:spcAft>
            </a:pPr>
            <a:r>
              <a:rPr lang="en-US" dirty="0">
                <a:solidFill>
                  <a:srgbClr val="1B3139"/>
                </a:solidFill>
                <a:latin typeface="DM Sans" pitchFamily="2" charset="0"/>
              </a:rPr>
              <a:t>Model Serving</a:t>
            </a:r>
            <a:r>
              <a:rPr lang="en-US" b="0" i="0" dirty="0">
                <a:solidFill>
                  <a:srgbClr val="1B3139"/>
                </a:solidFill>
                <a:effectLst/>
                <a:latin typeface="DM Sans" pitchFamily="2" charset="0"/>
              </a:rPr>
              <a:t> is a unified service for deploying, governing and querying AI models. This unified approach makes it easy to experiment with and productionize models. This includes:</a:t>
            </a:r>
          </a:p>
          <a:p>
            <a:pPr algn="l">
              <a:lnSpc>
                <a:spcPts val="1800"/>
              </a:lnSpc>
              <a:spcBef>
                <a:spcPts val="3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1B3139"/>
                </a:solidFill>
                <a:effectLst/>
                <a:latin typeface="DM Sans" pitchFamily="2" charset="0"/>
              </a:rPr>
              <a:t>Custom ML models like </a:t>
            </a:r>
            <a:r>
              <a:rPr lang="en-US" b="0" i="0" dirty="0" err="1">
                <a:solidFill>
                  <a:srgbClr val="1B3139"/>
                </a:solidFill>
                <a:effectLst/>
                <a:latin typeface="DM Sans" pitchFamily="2" charset="0"/>
              </a:rPr>
              <a:t>PyFunc</a:t>
            </a:r>
            <a:r>
              <a:rPr lang="en-US" b="0" i="0" dirty="0">
                <a:solidFill>
                  <a:srgbClr val="1B3139"/>
                </a:solidFill>
                <a:effectLst/>
                <a:latin typeface="DM Sans" pitchFamily="2" charset="0"/>
              </a:rPr>
              <a:t>, scikit-learn and </a:t>
            </a:r>
            <a:r>
              <a:rPr lang="en-US" b="0" i="0" dirty="0" err="1">
                <a:solidFill>
                  <a:srgbClr val="1B3139"/>
                </a:solidFill>
                <a:effectLst/>
                <a:latin typeface="DM Sans" pitchFamily="2" charset="0"/>
              </a:rPr>
              <a:t>LangChain</a:t>
            </a:r>
            <a:endParaRPr lang="en-US" b="0" i="0" dirty="0">
              <a:solidFill>
                <a:srgbClr val="1B3139"/>
              </a:solidFill>
              <a:effectLst/>
              <a:latin typeface="DM Sans" pitchFamily="2" charset="0"/>
            </a:endParaRPr>
          </a:p>
          <a:p>
            <a:pPr algn="l">
              <a:lnSpc>
                <a:spcPts val="1800"/>
              </a:lnSpc>
              <a:spcBef>
                <a:spcPts val="3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1B3139"/>
                </a:solidFill>
                <a:effectLst/>
                <a:latin typeface="DM Sans" pitchFamily="2" charset="0"/>
              </a:rPr>
              <a:t>Foundation models (FMs) on Databricks like Llama 3, MPT, Mistral and BGE</a:t>
            </a:r>
          </a:p>
          <a:p>
            <a:pPr algn="l">
              <a:lnSpc>
                <a:spcPts val="1800"/>
              </a:lnSpc>
              <a:spcBef>
                <a:spcPts val="3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1B3139"/>
                </a:solidFill>
                <a:effectLst/>
                <a:latin typeface="DM Sans" pitchFamily="2" charset="0"/>
              </a:rPr>
              <a:t>Foundation models hosted elsewhere like ChatGPT, Claude 3, Cohere and Stable Diffusion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38398C0-8379-3FD3-14D0-6BB938B6F6B4}"/>
              </a:ext>
            </a:extLst>
          </p:cNvPr>
          <p:cNvSpPr txBox="1"/>
          <p:nvPr/>
        </p:nvSpPr>
        <p:spPr>
          <a:xfrm>
            <a:off x="2754086" y="5971950"/>
            <a:ext cx="8262257" cy="64633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/>
              <a:t>Mosaic AI enables organizations to securely and cost-effectively build production-quality compound AI systems integrated with their enterprise data.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910996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Deploy and govern all your AI models centrally">
            <a:extLst>
              <a:ext uri="{FF2B5EF4-FFF2-40B4-BE49-F238E27FC236}">
                <a16:creationId xmlns:a16="http://schemas.microsoft.com/office/drawing/2014/main" id="{83F63C86-374A-FDB4-D696-161C5E19381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527834" y="98937"/>
            <a:ext cx="9136331" cy="60552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F5BBB8C-E06B-653E-17A3-3A9F1C6BCC26}"/>
              </a:ext>
            </a:extLst>
          </p:cNvPr>
          <p:cNvSpPr txBox="1"/>
          <p:nvPr/>
        </p:nvSpPr>
        <p:spPr>
          <a:xfrm>
            <a:off x="3110501" y="6056785"/>
            <a:ext cx="5961580" cy="11464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700"/>
              </a:lnSpc>
              <a:spcAft>
                <a:spcPts val="1200"/>
              </a:spcAft>
              <a:buNone/>
            </a:pPr>
            <a:r>
              <a:rPr lang="en-US" b="1" dirty="0">
                <a:effectLst/>
                <a:highlight>
                  <a:srgbClr val="FFFF00"/>
                </a:highlight>
                <a:latin typeface="DM Sans" pitchFamily="2" charset="0"/>
              </a:rPr>
              <a:t>Simplified deployment for all AI models and agents</a:t>
            </a:r>
          </a:p>
          <a:p>
            <a:pPr>
              <a:buNone/>
            </a:pPr>
            <a:br>
              <a:rPr lang="en-US" b="1" dirty="0">
                <a:effectLst/>
                <a:highlight>
                  <a:srgbClr val="FFFF00"/>
                </a:highlight>
                <a:latin typeface="DM Sans" pitchFamily="2" charset="0"/>
              </a:rPr>
            </a:br>
            <a:endParaRPr lang="en-IN" b="1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2209629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Simplified deployment">
            <a:extLst>
              <a:ext uri="{FF2B5EF4-FFF2-40B4-BE49-F238E27FC236}">
                <a16:creationId xmlns:a16="http://schemas.microsoft.com/office/drawing/2014/main" id="{47E845DB-C4BA-CC39-EDA1-03259A5ABB3B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8216" y="104692"/>
            <a:ext cx="8175567" cy="58081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BE6DCDA-557B-DAFA-172A-E03CFE4F3817}"/>
              </a:ext>
            </a:extLst>
          </p:cNvPr>
          <p:cNvSpPr txBox="1"/>
          <p:nvPr/>
        </p:nvSpPr>
        <p:spPr>
          <a:xfrm>
            <a:off x="3192694" y="6025962"/>
            <a:ext cx="8026686" cy="11464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700"/>
              </a:lnSpc>
              <a:spcAft>
                <a:spcPts val="1200"/>
              </a:spcAft>
              <a:buNone/>
            </a:pPr>
            <a:r>
              <a:rPr lang="en-US" b="1" dirty="0">
                <a:effectLst/>
                <a:highlight>
                  <a:srgbClr val="FFFF00"/>
                </a:highlight>
                <a:latin typeface="DM Sans" pitchFamily="2" charset="0"/>
              </a:rPr>
              <a:t>Simplified deployment for all AI models and agents</a:t>
            </a:r>
          </a:p>
          <a:p>
            <a:pPr>
              <a:buNone/>
            </a:pPr>
            <a:br>
              <a:rPr lang="en-US" b="1" dirty="0">
                <a:effectLst/>
                <a:highlight>
                  <a:srgbClr val="FFFF00"/>
                </a:highlight>
                <a:latin typeface="DM Sans" pitchFamily="2" charset="0"/>
              </a:rPr>
            </a:br>
            <a:endParaRPr lang="en-IN" b="1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139255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Create serving endpoint graphic image">
            <a:extLst>
              <a:ext uri="{FF2B5EF4-FFF2-40B4-BE49-F238E27FC236}">
                <a16:creationId xmlns:a16="http://schemas.microsoft.com/office/drawing/2014/main" id="{C5C5C8B1-C5B5-BE2C-D5D7-8DBA8F791E8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30673" y="94231"/>
            <a:ext cx="7181147" cy="57539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F193F54-6A9D-3D35-A04E-E705CA49E028}"/>
              </a:ext>
            </a:extLst>
          </p:cNvPr>
          <p:cNvSpPr txBox="1"/>
          <p:nvPr/>
        </p:nvSpPr>
        <p:spPr>
          <a:xfrm>
            <a:off x="1928973" y="6046510"/>
            <a:ext cx="8026686" cy="4174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700"/>
              </a:lnSpc>
              <a:spcAft>
                <a:spcPts val="1200"/>
              </a:spcAft>
              <a:buNone/>
            </a:pPr>
            <a:r>
              <a:rPr lang="en-US" b="1" dirty="0">
                <a:effectLst/>
                <a:highlight>
                  <a:srgbClr val="FFFF00"/>
                </a:highlight>
                <a:latin typeface="DM Sans" pitchFamily="2" charset="0"/>
              </a:rPr>
              <a:t>Governance built-in</a:t>
            </a:r>
            <a:endParaRPr lang="en-IN" b="1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7003263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Serving endpoints graphic image">
            <a:extLst>
              <a:ext uri="{FF2B5EF4-FFF2-40B4-BE49-F238E27FC236}">
                <a16:creationId xmlns:a16="http://schemas.microsoft.com/office/drawing/2014/main" id="{0D6F0CAB-0ED0-9805-8B69-FE389AD10FB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1562" y="146963"/>
            <a:ext cx="8948876" cy="57298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A0B9E83-0BD0-FD75-DB6D-8A354FF33E22}"/>
              </a:ext>
            </a:extLst>
          </p:cNvPr>
          <p:cNvSpPr txBox="1"/>
          <p:nvPr/>
        </p:nvSpPr>
        <p:spPr>
          <a:xfrm>
            <a:off x="1928973" y="6046510"/>
            <a:ext cx="8026686" cy="4174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700"/>
              </a:lnSpc>
              <a:spcAft>
                <a:spcPts val="1200"/>
              </a:spcAft>
              <a:buNone/>
            </a:pPr>
            <a:r>
              <a:rPr lang="en-US" b="1" dirty="0">
                <a:effectLst/>
                <a:highlight>
                  <a:srgbClr val="FFFF00"/>
                </a:highlight>
                <a:latin typeface="DM Sans" pitchFamily="2" charset="0"/>
              </a:rPr>
              <a:t>Unified Management for all Models</a:t>
            </a:r>
            <a:endParaRPr lang="en-IN" b="1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3847630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EAFB76-4B16-AF9A-068A-3C49EBA88F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-179161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Mosaic AI Agent Framework for GenAI</a:t>
            </a:r>
            <a:endParaRPr lang="en-IN" dirty="0"/>
          </a:p>
        </p:txBody>
      </p:sp>
      <p:pic>
        <p:nvPicPr>
          <p:cNvPr id="8194" name="Picture 2" descr="Start building your generative AI solution">
            <a:extLst>
              <a:ext uri="{FF2B5EF4-FFF2-40B4-BE49-F238E27FC236}">
                <a16:creationId xmlns:a16="http://schemas.microsoft.com/office/drawing/2014/main" id="{87AA7E89-209E-E530-6382-722132C38B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476" y="1146402"/>
            <a:ext cx="5835524" cy="29342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41EEE3D-6F6B-BF5C-B4CC-A24F49B5C68A}"/>
              </a:ext>
            </a:extLst>
          </p:cNvPr>
          <p:cNvSpPr txBox="1"/>
          <p:nvPr/>
        </p:nvSpPr>
        <p:spPr>
          <a:xfrm>
            <a:off x="914400" y="4909457"/>
            <a:ext cx="10624457" cy="120032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You can deploy Foundational Large Language Models in Azure Databricks. Base models, like DBRX Instruct, Meta-Llama-3.1-70B-Instruct, GTE-Large, and Mistral-7B are available for immediate use with pay-per-token pricing, and workloads that require performance guarantees, like fine-tuned model variants, can be deployed with provisioned throughput.</a:t>
            </a: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7164207-61AF-2B4A-9DE2-AB045C7A13C2}"/>
              </a:ext>
            </a:extLst>
          </p:cNvPr>
          <p:cNvSpPr txBox="1"/>
          <p:nvPr/>
        </p:nvSpPr>
        <p:spPr>
          <a:xfrm>
            <a:off x="6096000" y="2228671"/>
            <a:ext cx="6096000" cy="12003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/>
              <a:t>Mosaic AI Agent Framework comprises a set of tools on Databricks designed to help developers build, deploy, and evaluate production-quality agents like Retrieval Augmented Generation (RAG) applications.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778042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DB8DBD-5B80-A43B-8F44-5BF3843CE7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0393" y="-97212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Mosaic AI Agent Framework Python SDK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B0B2557-2D00-EDC5-BABC-8D9DFE1B4501}"/>
              </a:ext>
            </a:extLst>
          </p:cNvPr>
          <p:cNvSpPr txBox="1"/>
          <p:nvPr/>
        </p:nvSpPr>
        <p:spPr>
          <a:xfrm>
            <a:off x="2246189" y="3079679"/>
            <a:ext cx="7391400" cy="183640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ts val="1500"/>
              </a:lnSpc>
              <a:buNone/>
            </a:pPr>
            <a:r>
              <a:rPr lang="en-IN" b="0" dirty="0">
                <a:solidFill>
                  <a:srgbClr val="0000FF"/>
                </a:solidFill>
                <a:effectLst/>
                <a:latin typeface="Menlo"/>
              </a:rPr>
              <a:t>from</a:t>
            </a:r>
            <a:r>
              <a:rPr lang="en-IN" b="0" dirty="0">
                <a:solidFill>
                  <a:srgbClr val="000000"/>
                </a:solidFill>
                <a:effectLst/>
                <a:latin typeface="Menlo"/>
              </a:rPr>
              <a:t> </a:t>
            </a:r>
            <a:r>
              <a:rPr lang="en-IN" b="0" dirty="0" err="1">
                <a:solidFill>
                  <a:srgbClr val="000000"/>
                </a:solidFill>
                <a:effectLst/>
                <a:latin typeface="Menlo"/>
              </a:rPr>
              <a:t>databricks</a:t>
            </a:r>
            <a:r>
              <a:rPr lang="en-IN" b="0" dirty="0">
                <a:solidFill>
                  <a:srgbClr val="000000"/>
                </a:solidFill>
                <a:effectLst/>
                <a:latin typeface="Menlo"/>
              </a:rPr>
              <a:t> </a:t>
            </a:r>
            <a:r>
              <a:rPr lang="en-IN" b="0" dirty="0">
                <a:solidFill>
                  <a:srgbClr val="0000FF"/>
                </a:solidFill>
                <a:effectLst/>
                <a:latin typeface="Menlo"/>
              </a:rPr>
              <a:t>import</a:t>
            </a:r>
            <a:r>
              <a:rPr lang="en-IN" b="0" dirty="0">
                <a:solidFill>
                  <a:srgbClr val="000000"/>
                </a:solidFill>
                <a:effectLst/>
                <a:latin typeface="Menlo"/>
              </a:rPr>
              <a:t> agents</a:t>
            </a:r>
          </a:p>
          <a:p>
            <a:pPr>
              <a:lnSpc>
                <a:spcPts val="1500"/>
              </a:lnSpc>
              <a:buNone/>
            </a:pPr>
            <a:br>
              <a:rPr lang="en-IN" b="0" dirty="0">
                <a:solidFill>
                  <a:srgbClr val="000000"/>
                </a:solidFill>
                <a:effectLst/>
                <a:latin typeface="Menlo"/>
              </a:rPr>
            </a:br>
            <a:endParaRPr lang="en-IN" b="0" dirty="0">
              <a:solidFill>
                <a:srgbClr val="000000"/>
              </a:solidFill>
              <a:effectLst/>
              <a:latin typeface="Menlo"/>
            </a:endParaRPr>
          </a:p>
          <a:p>
            <a:pPr>
              <a:lnSpc>
                <a:spcPts val="1500"/>
              </a:lnSpc>
              <a:buNone/>
            </a:pPr>
            <a:r>
              <a:rPr lang="en-IN" b="0" dirty="0" err="1">
                <a:solidFill>
                  <a:srgbClr val="000000"/>
                </a:solidFill>
                <a:effectLst/>
                <a:latin typeface="Menlo"/>
              </a:rPr>
              <a:t>deployment_info</a:t>
            </a:r>
            <a:r>
              <a:rPr lang="en-IN" b="0" dirty="0">
                <a:solidFill>
                  <a:srgbClr val="000000"/>
                </a:solidFill>
                <a:effectLst/>
                <a:latin typeface="Menlo"/>
              </a:rPr>
              <a:t> = </a:t>
            </a:r>
            <a:r>
              <a:rPr lang="en-IN" b="0" dirty="0" err="1">
                <a:solidFill>
                  <a:srgbClr val="000000"/>
                </a:solidFill>
                <a:effectLst/>
                <a:latin typeface="Menlo"/>
              </a:rPr>
              <a:t>agents.deploy</a:t>
            </a:r>
            <a:r>
              <a:rPr lang="en-IN" b="0" dirty="0">
                <a:solidFill>
                  <a:srgbClr val="000000"/>
                </a:solidFill>
                <a:effectLst/>
                <a:latin typeface="Menlo"/>
              </a:rPr>
              <a:t>(</a:t>
            </a:r>
          </a:p>
          <a:p>
            <a:pPr>
              <a:lnSpc>
                <a:spcPts val="1500"/>
              </a:lnSpc>
              <a:buNone/>
            </a:pPr>
            <a:r>
              <a:rPr lang="en-IN" b="0" dirty="0">
                <a:solidFill>
                  <a:srgbClr val="000000"/>
                </a:solidFill>
                <a:effectLst/>
                <a:latin typeface="Menlo"/>
              </a:rPr>
              <a:t>    </a:t>
            </a:r>
            <a:r>
              <a:rPr lang="en-IN" b="0" dirty="0" err="1">
                <a:solidFill>
                  <a:srgbClr val="000000"/>
                </a:solidFill>
                <a:effectLst/>
                <a:latin typeface="Menlo"/>
              </a:rPr>
              <a:t>model_name</a:t>
            </a:r>
            <a:r>
              <a:rPr lang="en-IN" b="0" dirty="0">
                <a:solidFill>
                  <a:srgbClr val="000000"/>
                </a:solidFill>
                <a:effectLst/>
                <a:latin typeface="Menlo"/>
              </a:rPr>
              <a:t>=</a:t>
            </a:r>
            <a:r>
              <a:rPr lang="en-IN" b="0" dirty="0" err="1">
                <a:solidFill>
                  <a:srgbClr val="000000"/>
                </a:solidFill>
                <a:effectLst/>
                <a:latin typeface="Menlo"/>
              </a:rPr>
              <a:t>registered_model_name</a:t>
            </a:r>
            <a:r>
              <a:rPr lang="en-IN" b="0" dirty="0">
                <a:solidFill>
                  <a:srgbClr val="000000"/>
                </a:solidFill>
                <a:effectLst/>
                <a:latin typeface="Menlo"/>
              </a:rPr>
              <a:t>,</a:t>
            </a:r>
          </a:p>
          <a:p>
            <a:pPr>
              <a:lnSpc>
                <a:spcPts val="1500"/>
              </a:lnSpc>
              <a:buNone/>
            </a:pPr>
            <a:r>
              <a:rPr lang="en-IN" b="0" dirty="0">
                <a:solidFill>
                  <a:srgbClr val="000000"/>
                </a:solidFill>
                <a:effectLst/>
                <a:latin typeface="Menlo"/>
              </a:rPr>
              <a:t>    </a:t>
            </a:r>
            <a:r>
              <a:rPr lang="en-IN" b="0" dirty="0" err="1">
                <a:solidFill>
                  <a:srgbClr val="000000"/>
                </a:solidFill>
                <a:effectLst/>
                <a:latin typeface="Menlo"/>
              </a:rPr>
              <a:t>model_version</a:t>
            </a:r>
            <a:r>
              <a:rPr lang="en-IN" b="0" dirty="0">
                <a:solidFill>
                  <a:srgbClr val="000000"/>
                </a:solidFill>
                <a:effectLst/>
                <a:latin typeface="Menlo"/>
              </a:rPr>
              <a:t>=</a:t>
            </a:r>
            <a:r>
              <a:rPr lang="en-IN" b="0" dirty="0" err="1">
                <a:solidFill>
                  <a:srgbClr val="000000"/>
                </a:solidFill>
                <a:effectLst/>
                <a:latin typeface="Menlo"/>
              </a:rPr>
              <a:t>logged_agent_info.registered_model_version</a:t>
            </a:r>
            <a:r>
              <a:rPr lang="en-IN" b="0" dirty="0">
                <a:solidFill>
                  <a:srgbClr val="000000"/>
                </a:solidFill>
                <a:effectLst/>
                <a:latin typeface="Menlo"/>
              </a:rPr>
              <a:t>,</a:t>
            </a:r>
          </a:p>
          <a:p>
            <a:pPr>
              <a:lnSpc>
                <a:spcPts val="1500"/>
              </a:lnSpc>
              <a:buNone/>
            </a:pPr>
            <a:r>
              <a:rPr lang="en-IN" b="0" dirty="0">
                <a:solidFill>
                  <a:srgbClr val="000000"/>
                </a:solidFill>
                <a:effectLst/>
                <a:latin typeface="Menlo"/>
              </a:rPr>
              <a:t>    </a:t>
            </a:r>
            <a:r>
              <a:rPr lang="en-IN" b="0" dirty="0" err="1">
                <a:solidFill>
                  <a:srgbClr val="000000"/>
                </a:solidFill>
                <a:effectLst/>
                <a:latin typeface="Menlo"/>
              </a:rPr>
              <a:t>scale_to_zero</a:t>
            </a:r>
            <a:r>
              <a:rPr lang="en-IN" b="0" dirty="0">
                <a:solidFill>
                  <a:srgbClr val="000000"/>
                </a:solidFill>
                <a:effectLst/>
                <a:latin typeface="Menlo"/>
              </a:rPr>
              <a:t>=</a:t>
            </a:r>
            <a:r>
              <a:rPr lang="en-IN" b="0" dirty="0">
                <a:solidFill>
                  <a:srgbClr val="0000FF"/>
                </a:solidFill>
                <a:effectLst/>
                <a:latin typeface="Menlo"/>
              </a:rPr>
              <a:t>True</a:t>
            </a:r>
            <a:r>
              <a:rPr lang="en-IN" b="0" dirty="0">
                <a:solidFill>
                  <a:srgbClr val="000000"/>
                </a:solidFill>
                <a:effectLst/>
                <a:latin typeface="Menlo"/>
              </a:rPr>
              <a:t>,</a:t>
            </a:r>
          </a:p>
          <a:p>
            <a:pPr>
              <a:lnSpc>
                <a:spcPts val="1500"/>
              </a:lnSpc>
              <a:buNone/>
            </a:pPr>
            <a:r>
              <a:rPr lang="en-IN" b="0" dirty="0">
                <a:solidFill>
                  <a:srgbClr val="000000"/>
                </a:solidFill>
                <a:effectLst/>
                <a:latin typeface="Menlo"/>
              </a:rPr>
              <a:t>    </a:t>
            </a:r>
            <a:r>
              <a:rPr lang="en-IN" b="0" dirty="0" err="1">
                <a:solidFill>
                  <a:srgbClr val="000000"/>
                </a:solidFill>
                <a:effectLst/>
                <a:latin typeface="Menlo"/>
              </a:rPr>
              <a:t>deploy_feedback_model</a:t>
            </a:r>
            <a:r>
              <a:rPr lang="en-IN" b="0" dirty="0">
                <a:solidFill>
                  <a:srgbClr val="000000"/>
                </a:solidFill>
                <a:effectLst/>
                <a:latin typeface="Menlo"/>
              </a:rPr>
              <a:t>=</a:t>
            </a:r>
            <a:r>
              <a:rPr lang="en-IN" b="0" dirty="0">
                <a:solidFill>
                  <a:srgbClr val="0000FF"/>
                </a:solidFill>
                <a:effectLst/>
                <a:latin typeface="Menlo"/>
              </a:rPr>
              <a:t>False</a:t>
            </a:r>
            <a:endParaRPr lang="en-IN" b="0" dirty="0">
              <a:solidFill>
                <a:srgbClr val="000000"/>
              </a:solidFill>
              <a:effectLst/>
              <a:latin typeface="Menlo"/>
            </a:endParaRPr>
          </a:p>
          <a:p>
            <a:pPr>
              <a:lnSpc>
                <a:spcPts val="1500"/>
              </a:lnSpc>
              <a:buNone/>
            </a:pPr>
            <a:r>
              <a:rPr lang="en-IN" b="0" dirty="0">
                <a:solidFill>
                  <a:srgbClr val="000000"/>
                </a:solidFill>
                <a:effectLst/>
                <a:latin typeface="Menlo"/>
              </a:rPr>
              <a:t>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36C8C34-57CF-D5F1-78A4-93CDDB535A47}"/>
              </a:ext>
            </a:extLst>
          </p:cNvPr>
          <p:cNvSpPr txBox="1"/>
          <p:nvPr/>
        </p:nvSpPr>
        <p:spPr>
          <a:xfrm>
            <a:off x="2246189" y="1592600"/>
            <a:ext cx="7391399" cy="489878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ts val="1500"/>
              </a:lnSpc>
              <a:buNone/>
            </a:pPr>
            <a:r>
              <a:rPr lang="en-IN" b="0" dirty="0">
                <a:solidFill>
                  <a:srgbClr val="000000"/>
                </a:solidFill>
                <a:effectLst/>
                <a:latin typeface="Menlo"/>
              </a:rPr>
              <a:t>%pip install -U -</a:t>
            </a:r>
            <a:r>
              <a:rPr lang="en-IN" b="0" dirty="0" err="1">
                <a:solidFill>
                  <a:srgbClr val="000000"/>
                </a:solidFill>
                <a:effectLst/>
                <a:latin typeface="Menlo"/>
              </a:rPr>
              <a:t>qqqq</a:t>
            </a:r>
            <a:r>
              <a:rPr lang="en-IN" b="0" dirty="0">
                <a:solidFill>
                  <a:srgbClr val="000000"/>
                </a:solidFill>
                <a:effectLst/>
                <a:latin typeface="Menlo"/>
              </a:rPr>
              <a:t> </a:t>
            </a:r>
            <a:r>
              <a:rPr lang="en-IN" b="0" dirty="0" err="1">
                <a:solidFill>
                  <a:srgbClr val="000000"/>
                </a:solidFill>
                <a:effectLst/>
                <a:latin typeface="Menlo"/>
              </a:rPr>
              <a:t>mlflow</a:t>
            </a:r>
            <a:r>
              <a:rPr lang="en-IN" b="0" dirty="0">
                <a:solidFill>
                  <a:srgbClr val="000000"/>
                </a:solidFill>
                <a:effectLst/>
                <a:latin typeface="Menlo"/>
              </a:rPr>
              <a:t> </a:t>
            </a:r>
            <a:r>
              <a:rPr lang="en-IN" b="0" dirty="0" err="1">
                <a:solidFill>
                  <a:srgbClr val="000000"/>
                </a:solidFill>
                <a:effectLst/>
                <a:latin typeface="Menlo"/>
              </a:rPr>
              <a:t>databricks-openai</a:t>
            </a:r>
            <a:r>
              <a:rPr lang="en-IN" b="0" dirty="0">
                <a:solidFill>
                  <a:srgbClr val="000000"/>
                </a:solidFill>
                <a:effectLst/>
                <a:latin typeface="Menlo"/>
              </a:rPr>
              <a:t> </a:t>
            </a:r>
            <a:r>
              <a:rPr lang="en-IN" b="0" dirty="0" err="1">
                <a:solidFill>
                  <a:srgbClr val="000000"/>
                </a:solidFill>
                <a:effectLst/>
                <a:latin typeface="Menlo"/>
              </a:rPr>
              <a:t>databricks</a:t>
            </a:r>
            <a:r>
              <a:rPr lang="en-IN" b="0" dirty="0">
                <a:solidFill>
                  <a:srgbClr val="000000"/>
                </a:solidFill>
                <a:effectLst/>
                <a:latin typeface="Menlo"/>
              </a:rPr>
              <a:t>-agents</a:t>
            </a:r>
          </a:p>
          <a:p>
            <a:pPr>
              <a:lnSpc>
                <a:spcPts val="1500"/>
              </a:lnSpc>
              <a:buNone/>
            </a:pPr>
            <a:r>
              <a:rPr lang="en-IN" b="0" dirty="0" err="1">
                <a:solidFill>
                  <a:srgbClr val="000000"/>
                </a:solidFill>
                <a:effectLst/>
                <a:latin typeface="Menlo"/>
              </a:rPr>
              <a:t>dbutils.library.restartPython</a:t>
            </a:r>
            <a:r>
              <a:rPr lang="en-IN" b="0" dirty="0">
                <a:solidFill>
                  <a:srgbClr val="000000"/>
                </a:solidFill>
                <a:effectLst/>
                <a:latin typeface="Menlo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37689104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319</Words>
  <Application>Microsoft Office PowerPoint</Application>
  <PresentationFormat>Widescreen</PresentationFormat>
  <Paragraphs>28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Aptos</vt:lpstr>
      <vt:lpstr>Aptos Display</vt:lpstr>
      <vt:lpstr>Arial</vt:lpstr>
      <vt:lpstr>DM Sans</vt:lpstr>
      <vt:lpstr>Menlo</vt:lpstr>
      <vt:lpstr>Office Theme</vt:lpstr>
      <vt:lpstr>Mosaic AI Agent Framework</vt:lpstr>
      <vt:lpstr>Mosaic AI in Azure Databricks</vt:lpstr>
      <vt:lpstr>PowerPoint Presentation</vt:lpstr>
      <vt:lpstr>PowerPoint Presentation</vt:lpstr>
      <vt:lpstr>PowerPoint Presentation</vt:lpstr>
      <vt:lpstr>PowerPoint Presentation</vt:lpstr>
      <vt:lpstr>Mosaic AI Agent Framework for GenAI</vt:lpstr>
      <vt:lpstr>Mosaic AI Agent Framework Python SDK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prabhjot bakshi</dc:creator>
  <cp:lastModifiedBy>kuljot bakshi</cp:lastModifiedBy>
  <cp:revision>1</cp:revision>
  <dcterms:created xsi:type="dcterms:W3CDTF">2026-01-12T19:36:09Z</dcterms:created>
  <dcterms:modified xsi:type="dcterms:W3CDTF">2026-01-12T19:51:40Z</dcterms:modified>
</cp:coreProperties>
</file>