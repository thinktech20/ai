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147479772" r:id="rId4"/>
    <p:sldId id="28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DEC5E2-B265-4F50-91ED-A06926938189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869DA-1599-4238-A047-BEA267F70B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14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New Skillset requirement In the Organization </a:t>
            </a:r>
            <a:endParaRPr lang="en-US" i="0" dirty="0"/>
          </a:p>
          <a:p>
            <a:endParaRPr lang="en-US" i="0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512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27A7F7-BB1E-479D-AFAA-B52F4D0C99F2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1/12/2026 5:40 PM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0667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299AD-F5FA-05BA-040E-FD75FA623D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693B0-7DB9-96C3-4D13-2C0EDAC4F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45274-93E2-B3EB-605D-7C701408E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76C21-C570-4E91-A23F-D47C44AC3357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6D875-4208-7864-D511-AFF99316E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4733A-A4F5-0B86-512B-FFBA9506C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9427E-873C-4685-AEBC-E244AC9FD2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586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279C6-0256-6977-1CAF-1786879AE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38628-5DBB-0CD7-A8A2-407E70227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860DE-5BA6-146E-5B30-AF62B4032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76C21-C570-4E91-A23F-D47C44AC3357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91809-F8D7-CD2A-6EB7-DE24640AA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E2C74-1614-B012-56D0-D1F4A884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9427E-873C-4685-AEBC-E244AC9FD2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911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70BA4-E351-5B22-F75D-BFA13D180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B39854-7699-F778-9840-1686CD58F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8DE18-FA5F-69D2-D76A-BB08C800A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76C21-C570-4E91-A23F-D47C44AC3357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85EB4-F402-7D0D-A5CB-45E4289C0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E75B6-56D7-03B9-6E83-549542604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9427E-873C-4685-AEBC-E244AC9FD2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24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50EF6-C7A6-0887-8D2D-82DF2B205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0DAB1-5316-2F17-D734-E1D6CDAF41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8EFEDA-337A-C40B-7588-044023A7E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A189E-E3D5-A236-B188-92E288F9B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76C21-C570-4E91-A23F-D47C44AC3357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E71636-D09C-E884-892A-C348A90C7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7A8FCB-4CBA-4057-BAB4-84E26B762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9427E-873C-4685-AEBC-E244AC9FD2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019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E9AF8-8F7A-7233-C29B-75DFE044C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D3A2B-FE5A-AF16-1CF8-4031B61F9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D4450-B7EA-0967-78C3-E7C088DFDA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3D8059-E95E-F982-0F88-601EFE379A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894BE0-3F73-D6EA-8E70-0891B15BA1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F52380-DC18-E70F-6EDE-1D6077C83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76C21-C570-4E91-A23F-D47C44AC3357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B08854-8AE2-9EDE-8F6F-4D7076D66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ACC8E3-3A7E-996C-FBF3-CB2D253DC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9427E-873C-4685-AEBC-E244AC9FD2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29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511A3-1D0D-6090-3AFF-32B63712A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3D2C12-23C6-6D0E-0EBC-529ED5CB9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76C21-C570-4E91-A23F-D47C44AC3357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48F8-4DD7-BD48-43E7-2C507D73E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C0A4AF-B684-4D5F-C84E-D87A7357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9427E-873C-4685-AEBC-E244AC9FD2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347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D2B740-F764-D639-D3C0-01B3F5EC1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76C21-C570-4E91-A23F-D47C44AC3357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F18DA7-D8E3-D5A5-0B54-F12119CA1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25545-EDD7-EE7C-0FEB-338C30268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9427E-873C-4685-AEBC-E244AC9FD2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708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1E2A1-0682-6F7F-0804-C1D767317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36301-FD67-F625-F2A8-228DCC4C6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F1C109-60F4-A744-89DE-61DCD18B07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873A1C-3B30-5C4E-2C79-21D5DA5D9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76C21-C570-4E91-A23F-D47C44AC3357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369BA7-9C76-6AFA-0FEA-E6C5F6C2A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DA005-010E-5E2E-7B23-0BA029E5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9427E-873C-4685-AEBC-E244AC9FD2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359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B64D7-2A2C-B358-013F-0490AD36D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A9E19C-39EA-927A-39A5-D03BD5D1B7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B675B9-052B-F94F-7371-EFD629BCAA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6CFB15-C38F-12C8-177B-986F6A409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76C21-C570-4E91-A23F-D47C44AC3357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8ED8B-CF70-325E-225F-1521710AC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6C1EE-6C78-39A1-1CE4-3E53E6344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9427E-873C-4685-AEBC-E244AC9FD2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224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30794-3D01-0333-1A7C-9B305C2AE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FD790F-36D4-5803-6414-00C5C23EE6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FC538-0D13-A577-3DED-29BEA47B9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76C21-C570-4E91-A23F-D47C44AC3357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6B069-54C5-2266-8F14-36D623A9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9A0F6-E639-4CCC-89B6-2EB5719E9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9427E-873C-4685-AEBC-E244AC9FD2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186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63C7F8-7F38-F10C-CDED-7CE19032CC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FAEC03-4F29-A1E3-C080-E57D1E41CA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D836F-99A0-3BAF-6F93-EF28E329F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76C21-C570-4E91-A23F-D47C44AC3357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1AF2A-E85F-60DB-73B0-CA0600255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44F0F-CA0F-95FA-7EAD-7C74EDEF0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9427E-873C-4685-AEBC-E244AC9FD2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07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8DE11004-7523-2D12-4A1D-616A3705EF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6AF792E-2826-565D-310F-F62B3394C44B}"/>
              </a:ext>
            </a:extLst>
          </p:cNvPr>
          <p:cNvSpPr/>
          <p:nvPr userDrawn="1"/>
        </p:nvSpPr>
        <p:spPr bwMode="auto">
          <a:xfrm>
            <a:off x="0" y="0"/>
            <a:ext cx="1229644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8000">
                <a:schemeClr val="bg1">
                  <a:alpha val="0"/>
                </a:schemeClr>
              </a:gs>
            </a:gsLst>
            <a:lin ang="24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313" y="478382"/>
            <a:ext cx="11018520" cy="430887"/>
          </a:xfrm>
          <a:noFill/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79755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column_Callou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44938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07B0D1-31C1-C209-CE85-DD1D42B62A7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4064000" y="1581150"/>
            <a:ext cx="7535862" cy="443072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BA3E60F0-F025-04E8-0E46-71699A62E43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3174143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D105096-7BC3-1383-8EE1-744002B706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31728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618742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60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20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esenter-BI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AA94852-62BE-D975-5820-B3227B110B53}"/>
              </a:ext>
            </a:extLst>
          </p:cNvPr>
          <p:cNvSpPr/>
          <p:nvPr userDrawn="1"/>
        </p:nvSpPr>
        <p:spPr bwMode="auto">
          <a:xfrm>
            <a:off x="1" y="0"/>
            <a:ext cx="7036066" cy="6858000"/>
          </a:xfrm>
          <a:prstGeom prst="rect">
            <a:avLst/>
          </a:prstGeom>
          <a:solidFill>
            <a:srgbClr val="F4F3F5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749038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3B5AFD-1A0C-9C6A-B579-7F4B7918234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ltGray">
          <a:xfrm>
            <a:off x="7554590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8B296A1-E2FF-6AD0-056E-6FFA0EA08B6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 bwMode="ltGray">
          <a:xfrm>
            <a:off x="10568728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8F4ACC-A223-94FA-AF57-8B62501B059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 bwMode="ltGray">
          <a:xfrm>
            <a:off x="9061659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8133D48-744E-F029-079E-2E16C280989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 bwMode="ltGray">
          <a:xfrm>
            <a:off x="7554590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09D3DDE-EAFB-B57D-9147-8827F7743E1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 bwMode="ltGray">
          <a:xfrm>
            <a:off x="10568728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FDB12BE-8B16-4DC3-C014-945C54E8CD7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 bwMode="ltGray">
          <a:xfrm>
            <a:off x="9061659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0375802-7BB3-7A20-1210-E5FEEE1A56F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8165231" y="457200"/>
            <a:ext cx="2849035" cy="2874212"/>
          </a:xfrm>
          <a:prstGeom prst="roundRect">
            <a:avLst>
              <a:gd name="adj" fmla="val 21738"/>
            </a:avLst>
          </a:prstGeom>
          <a:blipFill>
            <a:blip r:embed="rId2"/>
            <a:stretch>
              <a:fillRect/>
            </a:stretch>
          </a:blipFill>
          <a:effectLst>
            <a:outerShdw blurRad="314198" dist="111760" dir="8040000" algn="ctr" rotWithShape="0">
              <a:schemeClr val="tx1">
                <a:alpha val="22000"/>
              </a:schemeClr>
            </a:outerShdw>
          </a:effectLst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4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icon to </a:t>
            </a:r>
            <a:br>
              <a:rPr lang="en-US" dirty="0"/>
            </a:br>
            <a:r>
              <a:rPr lang="en-US" dirty="0"/>
              <a:t>add your picture here</a:t>
            </a:r>
          </a:p>
        </p:txBody>
      </p:sp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D3ECBC57-006B-CB8F-1EDC-04C18F0D01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 dirty="0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847168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C347AA-51CB-C9B7-6F78-6D5FA8F11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458050-D5B0-4F4F-78A5-144FFFF6F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E07EB-F8DB-33C5-5F23-6F3E7A830B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D76C21-C570-4E91-A23F-D47C44AC3357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25ADA-C366-8CEF-E21A-FD4037549E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D033B-D96F-D3E0-1FCA-9CCE41E915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A9427E-873C-4685-AEBC-E244AC9FD2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404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697E6-E454-A72B-298D-D4ACE95E19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3429000"/>
            <a:ext cx="9144000" cy="2387600"/>
          </a:xfrm>
        </p:spPr>
        <p:txBody>
          <a:bodyPr/>
          <a:lstStyle/>
          <a:p>
            <a:r>
              <a:rPr lang="en-US" dirty="0"/>
              <a:t>Prompt Engineering</a:t>
            </a:r>
            <a:endParaRPr lang="en-IN" dirty="0"/>
          </a:p>
        </p:txBody>
      </p:sp>
      <p:pic>
        <p:nvPicPr>
          <p:cNvPr id="1026" name="Picture 2" descr="Learn how to use Microsoft 365 Copilot | Microsoft Learn">
            <a:extLst>
              <a:ext uri="{FF2B5EF4-FFF2-40B4-BE49-F238E27FC236}">
                <a16:creationId xmlns:a16="http://schemas.microsoft.com/office/drawing/2014/main" id="{3CC01727-CC7C-850D-D242-98E4C2ADC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1843" y="676157"/>
            <a:ext cx="6548313" cy="368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4637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D517041-2391-FEF3-8073-3211A31D2448}"/>
              </a:ext>
            </a:extLst>
          </p:cNvPr>
          <p:cNvGraphicFramePr>
            <a:graphicFrameLocks noGrp="1"/>
          </p:cNvGraphicFramePr>
          <p:nvPr/>
        </p:nvGraphicFramePr>
        <p:xfrm>
          <a:off x="418643" y="2567053"/>
          <a:ext cx="11292711" cy="3703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650">
                  <a:extLst>
                    <a:ext uri="{9D8B030D-6E8A-4147-A177-3AD203B41FA5}">
                      <a16:colId xmlns:a16="http://schemas.microsoft.com/office/drawing/2014/main" val="1098241013"/>
                    </a:ext>
                  </a:extLst>
                </a:gridCol>
                <a:gridCol w="3535978">
                  <a:extLst>
                    <a:ext uri="{9D8B030D-6E8A-4147-A177-3AD203B41FA5}">
                      <a16:colId xmlns:a16="http://schemas.microsoft.com/office/drawing/2014/main" val="127269092"/>
                    </a:ext>
                  </a:extLst>
                </a:gridCol>
                <a:gridCol w="3496515">
                  <a:extLst>
                    <a:ext uri="{9D8B030D-6E8A-4147-A177-3AD203B41FA5}">
                      <a16:colId xmlns:a16="http://schemas.microsoft.com/office/drawing/2014/main" val="1685239788"/>
                    </a:ext>
                  </a:extLst>
                </a:gridCol>
                <a:gridCol w="3091568">
                  <a:extLst>
                    <a:ext uri="{9D8B030D-6E8A-4147-A177-3AD203B41FA5}">
                      <a16:colId xmlns:a16="http://schemas.microsoft.com/office/drawing/2014/main" val="1575972024"/>
                    </a:ext>
                  </a:extLst>
                </a:gridCol>
              </a:tblGrid>
              <a:tr h="36985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Language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Code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Image Generation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1959618"/>
                  </a:ext>
                </a:extLst>
              </a:tr>
              <a:tr h="1047299">
                <a:tc>
                  <a:txBody>
                    <a:bodyPr/>
                    <a:lstStyle/>
                    <a:p>
                      <a:r>
                        <a:rPr lang="en-US" dirty="0"/>
                        <a:t>Prompt: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Write a haiku about marmalade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Write a Python function to add two numbers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Paint a pink fox in a field in the style of Monet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4922377"/>
                  </a:ext>
                </a:extLst>
              </a:tr>
              <a:tr h="2131486">
                <a:tc>
                  <a:txBody>
                    <a:bodyPr/>
                    <a:lstStyle/>
                    <a:p>
                      <a:r>
                        <a:rPr lang="en-US" dirty="0"/>
                        <a:t>Output: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Orange sunrise, sweet</a:t>
                      </a:r>
                    </a:p>
                    <a:p>
                      <a:r>
                        <a:rPr lang="en-US" i="1" dirty="0"/>
                        <a:t>Spread on toast with morning tea</a:t>
                      </a:r>
                    </a:p>
                    <a:p>
                      <a:r>
                        <a:rPr lang="en-US" i="1" dirty="0"/>
                        <a:t>A marmalade treat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add_two_numbers(a, b):</a:t>
                      </a:r>
                    </a:p>
                    <a:p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a +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404342"/>
                  </a:ext>
                </a:extLst>
              </a:tr>
            </a:tbl>
          </a:graphicData>
        </a:graphic>
      </p:graphicFrame>
      <p:pic>
        <p:nvPicPr>
          <p:cNvPr id="6" name="Picture 5" descr="A picture of a pink fox in a field in the style of Monet">
            <a:extLst>
              <a:ext uri="{FF2B5EF4-FFF2-40B4-BE49-F238E27FC236}">
                <a16:creationId xmlns:a16="http://schemas.microsoft.com/office/drawing/2014/main" id="{D579BD04-299D-EDA9-963C-320DD5F402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982" t="3145" r="50742" b="4053"/>
          <a:stretch/>
        </p:blipFill>
        <p:spPr>
          <a:xfrm>
            <a:off x="9074054" y="4259030"/>
            <a:ext cx="1895873" cy="18566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119EA4-F081-976B-720A-056BD7C9489E}"/>
              </a:ext>
            </a:extLst>
          </p:cNvPr>
          <p:cNvSpPr txBox="1"/>
          <p:nvPr/>
        </p:nvSpPr>
        <p:spPr>
          <a:xfrm>
            <a:off x="418643" y="300910"/>
            <a:ext cx="6097464" cy="467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400" b="1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prompt engineering?</a:t>
            </a:r>
            <a:endParaRPr lang="en-IN" sz="2400" b="1" kern="100" dirty="0">
              <a:solidFill>
                <a:srgbClr val="37415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1317FD-787E-4C3C-096D-6CF2AE4C7C18}"/>
              </a:ext>
            </a:extLst>
          </p:cNvPr>
          <p:cNvSpPr txBox="1"/>
          <p:nvPr/>
        </p:nvSpPr>
        <p:spPr>
          <a:xfrm>
            <a:off x="418643" y="724818"/>
            <a:ext cx="1182415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it's about crafting precise and well-thought-out prompts that maximize the AI's potential to deliver accurate and meaningful results. For 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 poorly designed prompt: </a:t>
            </a:r>
            <a:r>
              <a:rPr lang="en-US" i="1" dirty="0"/>
              <a:t>"Tell me about history."</a:t>
            </a:r>
            <a:r>
              <a:rPr lang="en-US" dirty="0"/>
              <a:t> (This is too vague.)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 well-engineered prompt: </a:t>
            </a:r>
            <a:r>
              <a:rPr lang="en-US" i="1" dirty="0"/>
              <a:t>"Explain the causes and effects of World War II in a clear and concise manner."</a:t>
            </a:r>
            <a:r>
              <a:rPr lang="en-US" dirty="0"/>
              <a:t> (This narrows down the focus.)</a:t>
            </a:r>
          </a:p>
          <a:p>
            <a:r>
              <a:rPr lang="en-US" b="1" dirty="0">
                <a:solidFill>
                  <a:srgbClr val="FF0000"/>
                </a:solidFill>
              </a:rPr>
              <a:t>Prompt engineering is an essential skill for using AI effectively, especially</a:t>
            </a:r>
          </a:p>
        </p:txBody>
      </p:sp>
    </p:spTree>
    <p:extLst>
      <p:ext uri="{BB962C8B-B14F-4D97-AF65-F5344CB8AC3E}">
        <p14:creationId xmlns:p14="http://schemas.microsoft.com/office/powerpoint/2010/main" val="84207161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6">
            <a:extLst>
              <a:ext uri="{FF2B5EF4-FFF2-40B4-BE49-F238E27FC236}">
                <a16:creationId xmlns:a16="http://schemas.microsoft.com/office/drawing/2014/main" id="{ADB1C8F7-B6D1-DF8C-15A9-34813758D8E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41607" y="585216"/>
            <a:ext cx="11044938" cy="49244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i="0" kern="1200" cap="none" spc="0" baseline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 Semibold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 w="3175"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Segoe UI Semibold" panose="020B0502040204020203" pitchFamily="34" charset="0"/>
              </a:rPr>
              <a:t>Examine how to build an effective prompt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F2572DC-6CA8-DC13-F922-B03D6680FF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1605196"/>
            <a:ext cx="10631860" cy="553998"/>
          </a:xfrm>
        </p:spPr>
        <p:txBody>
          <a:bodyPr wrap="square">
            <a:spAutoFit/>
          </a:bodyPr>
          <a:lstStyle/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800" dirty="0">
                <a:latin typeface="+mj-lt"/>
              </a:rPr>
              <a:t>Prompts can include four parts—the goal, context, expectations, and source, as described in the following image:</a:t>
            </a:r>
          </a:p>
        </p:txBody>
      </p:sp>
      <p:pic>
        <p:nvPicPr>
          <p:cNvPr id="3" name="Picture 2" descr="Diagram showing the four parts of an effective Copilot prompt - the goal, context, expectations, and source.">
            <a:extLst>
              <a:ext uri="{FF2B5EF4-FFF2-40B4-BE49-F238E27FC236}">
                <a16:creationId xmlns:a16="http://schemas.microsoft.com/office/drawing/2014/main" id="{96998AB9-16F4-EC0E-592C-8F4A47EFB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50" y="2330305"/>
            <a:ext cx="10244500" cy="3513491"/>
          </a:xfrm>
          <a:prstGeom prst="rect">
            <a:avLst/>
          </a:prstGeom>
          <a:solidFill>
            <a:schemeClr val="bg1"/>
          </a:solidFill>
          <a:ln w="38100">
            <a:solidFill>
              <a:srgbClr val="C73ECC"/>
            </a:solidFill>
          </a:ln>
        </p:spPr>
      </p:pic>
    </p:spTree>
    <p:extLst>
      <p:ext uri="{BB962C8B-B14F-4D97-AF65-F5344CB8AC3E}">
        <p14:creationId xmlns:p14="http://schemas.microsoft.com/office/powerpoint/2010/main" val="4085886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4E7D1203-5E6C-BA65-239D-7D070129C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1D9263-B32F-4816-EA26-FF0B5D41AD83}"/>
              </a:ext>
            </a:extLst>
          </p:cNvPr>
          <p:cNvSpPr txBox="1"/>
          <p:nvPr/>
        </p:nvSpPr>
        <p:spPr>
          <a:xfrm>
            <a:off x="130629" y="1164772"/>
            <a:ext cx="6988628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Prompt - "Make a picture of a 3D action figure toy, named "YOUR-NAME-HERE" Make it look like it's being displayed in a transparent plastic package, blister packaging model. The figure is as in the photo, [GENDER/HIS/HER/THEIR] style is very [DEFINE EVERYTHING ABOUT HAIR/FACE/ETC]. On the top of the packaging there is a large writing: "[NAME-AGAIN]" in white text then below it "[TITLE]” Dressed in [CLOTHING/ACCESSORIES]. Also add some supporting items for the job next to the figure, like [ALL-THE-THINGS]. The packaging design is minimalist, cardboard </a:t>
            </a:r>
            <a:r>
              <a:rPr lang="en-US" sz="2000" dirty="0" err="1"/>
              <a:t>colour</a:t>
            </a:r>
            <a:r>
              <a:rPr lang="en-US" sz="2000" dirty="0"/>
              <a:t>, cute toy style sold in stores. The style is cartoonish, cute but still neat, also put [BRAND] logo in the top right </a:t>
            </a:r>
            <a:r>
              <a:rPr lang="en-US" sz="2000" dirty="0">
                <a:ea typeface="+mn-lt"/>
                <a:cs typeface="+mn-lt"/>
              </a:rPr>
              <a:t>corner</a:t>
            </a:r>
          </a:p>
        </p:txBody>
      </p:sp>
    </p:spTree>
    <p:extLst>
      <p:ext uri="{BB962C8B-B14F-4D97-AF65-F5344CB8AC3E}">
        <p14:creationId xmlns:p14="http://schemas.microsoft.com/office/powerpoint/2010/main" val="273985337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</Words>
  <Application>Microsoft Office PowerPoint</Application>
  <PresentationFormat>Widescreen</PresentationFormat>
  <Paragraphs>34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Courier New</vt:lpstr>
      <vt:lpstr>Segoe UI</vt:lpstr>
      <vt:lpstr>Office Theme</vt:lpstr>
      <vt:lpstr>Prompt Engineering</vt:lpstr>
      <vt:lpstr>PowerPoint Presentation</vt:lpstr>
      <vt:lpstr>Examine how to build an effective prompt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2025-12-22T05:21:30Z</dcterms:created>
  <dcterms:modified xsi:type="dcterms:W3CDTF">2026-01-12T12:10:43Z</dcterms:modified>
</cp:coreProperties>
</file>