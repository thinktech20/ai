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147479807" r:id="rId3"/>
    <p:sldId id="214747980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7EF9E-773E-4D38-937D-93A5F5915747}" type="datetimeFigureOut">
              <a:rPr lang="en-IN" smtClean="0"/>
              <a:t>12-01-2026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A3526-5EC8-4D9B-8465-0B52213CF204}" type="slidenum">
              <a:rPr lang="en-IN" smtClean="0"/>
              <a:t>‹#›</a:t>
            </a:fld>
            <a:endParaRPr lang="en-IN"/>
          </a:p>
        </p:txBody>
      </p:sp>
    </p:spTree>
    <p:extLst>
      <p:ext uri="{BB962C8B-B14F-4D97-AF65-F5344CB8AC3E}">
        <p14:creationId xmlns:p14="http://schemas.microsoft.com/office/powerpoint/2010/main" val="1485623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Medallion architecture</a:t>
            </a:r>
            <a:r>
              <a:rPr lang="en-US" dirty="0"/>
              <a:t> is a data design pattern used to logically organize data in a </a:t>
            </a:r>
            <a:r>
              <a:rPr lang="en-US" dirty="0" err="1"/>
              <a:t>lakehouse</a:t>
            </a:r>
            <a:r>
              <a:rPr lang="en-US" dirty="0"/>
              <a:t>, with the goal of incrementally and progressively improving the structure and quality of data as it flows through each  layer of the architecture. It consists of three layers: Bronze, Silver, and Gold.</a:t>
            </a:r>
          </a:p>
          <a:p>
            <a:endParaRPr lang="en-US" dirty="0"/>
          </a:p>
          <a:p>
            <a:r>
              <a:rPr lang="en-US" b="1" dirty="0"/>
              <a:t>Layers of the Medallion Architecture:</a:t>
            </a:r>
          </a:p>
          <a:p>
            <a:pPr>
              <a:buFont typeface="+mj-lt"/>
              <a:buAutoNum type="arabicPeriod"/>
            </a:pPr>
            <a:r>
              <a:rPr lang="en-US" b="1" dirty="0"/>
              <a:t>Bronze Layer</a:t>
            </a:r>
            <a:r>
              <a:rPr lang="en-US" dirty="0"/>
              <a:t>: This is the raw data layer where data is ingested in its original format. It is typically unprocessed and may contain duplicates, missing values, and other inconsistencies</a:t>
            </a:r>
            <a:r>
              <a:rPr lang="en-US" dirty="0">
                <a:effectLst/>
              </a:rPr>
              <a:t>1</a:t>
            </a:r>
            <a:r>
              <a:rPr lang="en-US" dirty="0"/>
              <a:t>.</a:t>
            </a:r>
          </a:p>
          <a:p>
            <a:pPr>
              <a:buFont typeface="+mj-lt"/>
              <a:buAutoNum type="arabicPeriod"/>
            </a:pPr>
            <a:r>
              <a:rPr lang="en-US" b="1" dirty="0"/>
              <a:t>Silver Layer</a:t>
            </a:r>
            <a:r>
              <a:rPr lang="en-US" dirty="0"/>
              <a:t>: This is the cleaned and enriched data layer. Data in this layer has been processed to remove duplicates, handle missing values, and apply basic transformations</a:t>
            </a:r>
            <a:r>
              <a:rPr lang="en-US" dirty="0">
                <a:effectLst/>
              </a:rPr>
              <a:t>1</a:t>
            </a:r>
            <a:r>
              <a:rPr lang="en-US" dirty="0"/>
              <a:t>. It is more structured and ready for further analysis.</a:t>
            </a:r>
          </a:p>
          <a:p>
            <a:pPr>
              <a:buFont typeface="+mj-lt"/>
              <a:buAutoNum type="arabicPeriod"/>
            </a:pPr>
            <a:r>
              <a:rPr lang="en-US" b="1" dirty="0">
                <a:effectLst/>
              </a:rPr>
              <a:t>Gold Layer</a:t>
            </a:r>
            <a:r>
              <a:rPr lang="en-US" dirty="0">
                <a:effectLst/>
              </a:rPr>
              <a:t>: This is the curated and aggregated data layer. Data in this layer is highly processed, aggregated, and optimized for business intelligence and analytics1. It is ready for consumption by end-users and applications</a:t>
            </a:r>
          </a:p>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1/12/2026 7:07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215921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7BDE5-71BD-8390-246A-A82A580634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E3D82F-EADF-F71D-4C02-B9B7E025ED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07CB4B-8721-AC01-AB55-859A89930816}"/>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5" name="Footer Placeholder 4">
            <a:extLst>
              <a:ext uri="{FF2B5EF4-FFF2-40B4-BE49-F238E27FC236}">
                <a16:creationId xmlns:a16="http://schemas.microsoft.com/office/drawing/2014/main" id="{11389844-BAE4-55B2-82F8-543563A3E3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4F24BD-5EE3-7227-BFEB-1C0EC39AEE74}"/>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2891566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B865-FAB3-2145-DF6E-B383F498B4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F0FDD2-0A18-AAB6-64C1-24FFEBA7D0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AC29E5-61BE-520B-141F-ADE96BAD4B5B}"/>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5" name="Footer Placeholder 4">
            <a:extLst>
              <a:ext uri="{FF2B5EF4-FFF2-40B4-BE49-F238E27FC236}">
                <a16:creationId xmlns:a16="http://schemas.microsoft.com/office/drawing/2014/main" id="{267B3E56-B124-9AD0-029D-07FC0DE8E6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4FCD22-6E07-181B-3E03-58BADE9E32BD}"/>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3674992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9E7E-B1B6-39CA-8BA2-FF2A295910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64178A-5C45-0A16-35F8-FAB226BC99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B729EF-A8EB-A861-17E3-BA49FAC0A0E2}"/>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5" name="Footer Placeholder 4">
            <a:extLst>
              <a:ext uri="{FF2B5EF4-FFF2-40B4-BE49-F238E27FC236}">
                <a16:creationId xmlns:a16="http://schemas.microsoft.com/office/drawing/2014/main" id="{AC78AB92-A4DC-6F20-36F7-08DDD50929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9AAC5D-99F5-F90A-22C0-4A185129C837}"/>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3719260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D3C0-B39C-F5D0-F1E0-045B0390CA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3FD790-29FC-9F01-893F-13A11D2694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FC153E-164B-D841-1A51-7F63317DB3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30FD7C-6D00-33CF-77B5-3E1E2F7136C1}"/>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6" name="Footer Placeholder 5">
            <a:extLst>
              <a:ext uri="{FF2B5EF4-FFF2-40B4-BE49-F238E27FC236}">
                <a16:creationId xmlns:a16="http://schemas.microsoft.com/office/drawing/2014/main" id="{9EE72034-89A3-2198-ACB7-5E2B552B1B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372680-0283-666F-80FC-4E0ECB8F986C}"/>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1517527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89978-3A9D-1C2C-928B-AA7E274C89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7EC868-C279-6A4D-BBAF-DC2757CD43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6675A3-E139-36AA-A8E5-4CDEBFFB66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52824D-F73B-9668-9C22-5482473D92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9AADD2-E9CA-B187-6F14-329E9FFF58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9B12765-864A-00EA-0B7C-DE510187D26D}"/>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8" name="Footer Placeholder 7">
            <a:extLst>
              <a:ext uri="{FF2B5EF4-FFF2-40B4-BE49-F238E27FC236}">
                <a16:creationId xmlns:a16="http://schemas.microsoft.com/office/drawing/2014/main" id="{E905CA4B-1532-0C2D-54C0-8B0A7F177F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BEB775-C820-1E4A-042C-6E0F81F3BCD7}"/>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80256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61F1A-4CD7-EF30-4854-D723A6DAF4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B578DD-2715-D74B-003B-6DB4772581F4}"/>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4" name="Footer Placeholder 3">
            <a:extLst>
              <a:ext uri="{FF2B5EF4-FFF2-40B4-BE49-F238E27FC236}">
                <a16:creationId xmlns:a16="http://schemas.microsoft.com/office/drawing/2014/main" id="{15D81690-349B-391E-2463-22D70DA13F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17019F-AE03-E31A-79C0-C911FEAA0075}"/>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354990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A815E3-F6A5-EA92-B9FE-0EA62B9992D5}"/>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3" name="Footer Placeholder 2">
            <a:extLst>
              <a:ext uri="{FF2B5EF4-FFF2-40B4-BE49-F238E27FC236}">
                <a16:creationId xmlns:a16="http://schemas.microsoft.com/office/drawing/2014/main" id="{4047D992-AA3D-34E6-8469-6731AF02B8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AE636F-AC9A-132A-A0D3-41018686ED49}"/>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4178543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3510A-B5FF-4CC5-B898-468AB178AA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4ECEF0-B459-66A7-79D0-88F80FCEA5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FB9391-011A-495F-5644-534167256C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8706F7-B53A-AA44-1C33-E15F4B7049CF}"/>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6" name="Footer Placeholder 5">
            <a:extLst>
              <a:ext uri="{FF2B5EF4-FFF2-40B4-BE49-F238E27FC236}">
                <a16:creationId xmlns:a16="http://schemas.microsoft.com/office/drawing/2014/main" id="{B4DEC949-6E77-9545-BFEB-5F9E3E6EE9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CDAA6C-F7DE-AD3B-1A02-1F89BDA3410A}"/>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3018950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69BF1-52F9-DFC0-825B-504B69509A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E603F3-1F3A-A6DC-2DFB-51D47FD0ED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74D6E2-9631-71C0-3A9F-8FAC5993F6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1499A8-8688-110F-7B1A-B7D79A4A2881}"/>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6" name="Footer Placeholder 5">
            <a:extLst>
              <a:ext uri="{FF2B5EF4-FFF2-40B4-BE49-F238E27FC236}">
                <a16:creationId xmlns:a16="http://schemas.microsoft.com/office/drawing/2014/main" id="{5D70F340-3330-2813-E8CE-0609287C05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08AC31-DE9A-5C10-821A-CB4F72F72CF5}"/>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539087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4E85-2027-3258-538D-A33BF4659CA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189088-A9F1-CE7E-D055-2285624E5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DCAF29-D87F-5701-9A0A-9EB1FC6E26FD}"/>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5" name="Footer Placeholder 4">
            <a:extLst>
              <a:ext uri="{FF2B5EF4-FFF2-40B4-BE49-F238E27FC236}">
                <a16:creationId xmlns:a16="http://schemas.microsoft.com/office/drawing/2014/main" id="{8E5EEDAA-EB67-5311-E49E-451633C51A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60AA1A-B8F6-DCB3-CE53-FAF2CE0A64C6}"/>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2332066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317A96-3FFE-4ADF-1B1F-BA3DFF7567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8FD8D6-56B6-9ADB-D79B-3C47437D06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6F5B1A-7CAA-D814-F1FF-A439357DC3B1}"/>
              </a:ext>
            </a:extLst>
          </p:cNvPr>
          <p:cNvSpPr>
            <a:spLocks noGrp="1"/>
          </p:cNvSpPr>
          <p:nvPr>
            <p:ph type="dt" sz="half" idx="10"/>
          </p:nvPr>
        </p:nvSpPr>
        <p:spPr/>
        <p:txBody>
          <a:bodyPr/>
          <a:lstStyle/>
          <a:p>
            <a:fld id="{6A0BCF2C-7A28-498E-A8C0-B0907951DFC8}" type="datetimeFigureOut">
              <a:rPr lang="en-IN" smtClean="0"/>
              <a:t>12-01-2026</a:t>
            </a:fld>
            <a:endParaRPr lang="en-IN"/>
          </a:p>
        </p:txBody>
      </p:sp>
      <p:sp>
        <p:nvSpPr>
          <p:cNvPr id="5" name="Footer Placeholder 4">
            <a:extLst>
              <a:ext uri="{FF2B5EF4-FFF2-40B4-BE49-F238E27FC236}">
                <a16:creationId xmlns:a16="http://schemas.microsoft.com/office/drawing/2014/main" id="{E8D89D2A-05AF-91D1-9AD6-41D1ADC183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5D33E3-E268-9DC1-7F73-E2E265A7772E}"/>
              </a:ext>
            </a:extLst>
          </p:cNvPr>
          <p:cNvSpPr>
            <a:spLocks noGrp="1"/>
          </p:cNvSpPr>
          <p:nvPr>
            <p:ph type="sldNum" sz="quarter" idx="12"/>
          </p:nvPr>
        </p:nvSpPr>
        <p:spPr/>
        <p:txBody>
          <a:bodyPr/>
          <a:lstStyle/>
          <a:p>
            <a:fld id="{3D400849-2D77-4529-AB48-1201E731C1B7}" type="slidenum">
              <a:rPr lang="en-IN" smtClean="0"/>
              <a:t>‹#›</a:t>
            </a:fld>
            <a:endParaRPr lang="en-IN"/>
          </a:p>
        </p:txBody>
      </p:sp>
    </p:spTree>
    <p:extLst>
      <p:ext uri="{BB962C8B-B14F-4D97-AF65-F5344CB8AC3E}">
        <p14:creationId xmlns:p14="http://schemas.microsoft.com/office/powerpoint/2010/main" val="2751518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24462649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53CA62-5DE2-8FE3-C67C-53A91C5162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9140E0-1F96-BA05-4436-1593E0DD26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D47EAE-6834-79C1-8EBD-3CF807FBBD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0BCF2C-7A28-498E-A8C0-B0907951DFC8}" type="datetimeFigureOut">
              <a:rPr lang="en-IN" smtClean="0"/>
              <a:t>12-01-2026</a:t>
            </a:fld>
            <a:endParaRPr lang="en-IN"/>
          </a:p>
        </p:txBody>
      </p:sp>
      <p:sp>
        <p:nvSpPr>
          <p:cNvPr id="5" name="Footer Placeholder 4">
            <a:extLst>
              <a:ext uri="{FF2B5EF4-FFF2-40B4-BE49-F238E27FC236}">
                <a16:creationId xmlns:a16="http://schemas.microsoft.com/office/drawing/2014/main" id="{352FA901-A84C-6785-92FF-4493F9EF23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3701BC9-2813-4E17-5491-25D91D887D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400849-2D77-4529-AB48-1201E731C1B7}" type="slidenum">
              <a:rPr lang="en-IN" smtClean="0"/>
              <a:t>‹#›</a:t>
            </a:fld>
            <a:endParaRPr lang="en-IN"/>
          </a:p>
        </p:txBody>
      </p:sp>
    </p:spTree>
    <p:extLst>
      <p:ext uri="{BB962C8B-B14F-4D97-AF65-F5344CB8AC3E}">
        <p14:creationId xmlns:p14="http://schemas.microsoft.com/office/powerpoint/2010/main" val="3412965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55D50-A701-7DFD-BDDD-AC8B1E561F39}"/>
              </a:ext>
            </a:extLst>
          </p:cNvPr>
          <p:cNvSpPr>
            <a:spLocks noGrp="1"/>
          </p:cNvSpPr>
          <p:nvPr>
            <p:ph type="ctrTitle"/>
          </p:nvPr>
        </p:nvSpPr>
        <p:spPr>
          <a:xfrm>
            <a:off x="1176391" y="3697251"/>
            <a:ext cx="9839218" cy="2387600"/>
          </a:xfrm>
        </p:spPr>
        <p:txBody>
          <a:bodyPr>
            <a:normAutofit fontScale="90000"/>
          </a:bodyPr>
          <a:lstStyle/>
          <a:p>
            <a:r>
              <a:rPr lang="en-US" dirty="0"/>
              <a:t>Medallion Architecture and Spark Declarative Pipelines (SDP)</a:t>
            </a:r>
            <a:endParaRPr lang="en-IN" dirty="0"/>
          </a:p>
        </p:txBody>
      </p:sp>
      <p:pic>
        <p:nvPicPr>
          <p:cNvPr id="1030" name="Picture 6" descr="Databricks Consulting Services | B EYE">
            <a:extLst>
              <a:ext uri="{FF2B5EF4-FFF2-40B4-BE49-F238E27FC236}">
                <a16:creationId xmlns:a16="http://schemas.microsoft.com/office/drawing/2014/main" id="{764C6D0D-E43B-768A-5962-BDD534400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6085" y="256851"/>
            <a:ext cx="6185043" cy="3955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739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edallion architecture bronze, silver, and gold layers">
            <a:extLst>
              <a:ext uri="{FF2B5EF4-FFF2-40B4-BE49-F238E27FC236}">
                <a16:creationId xmlns:a16="http://schemas.microsoft.com/office/drawing/2014/main" id="{802A119B-3BA2-F099-A806-880B7A7D36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6484" y="1520771"/>
            <a:ext cx="7910622" cy="444972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1E12BC-5F9C-206A-49E3-5C4D43C121B6}"/>
              </a:ext>
            </a:extLst>
          </p:cNvPr>
          <p:cNvSpPr txBox="1"/>
          <p:nvPr/>
        </p:nvSpPr>
        <p:spPr>
          <a:xfrm>
            <a:off x="2910390" y="98988"/>
            <a:ext cx="7141580" cy="430887"/>
          </a:xfrm>
          <a:prstGeom prst="rect">
            <a:avLst/>
          </a:prstGeom>
          <a:noFill/>
        </p:spPr>
        <p:txBody>
          <a:bodyPr wrap="square" lIns="0" tIns="0" rIns="0" bIns="0" rtlCol="0">
            <a:spAutoFit/>
          </a:bodyPr>
          <a:lstStyle/>
          <a:p>
            <a:pPr algn="ctr"/>
            <a:r>
              <a:rPr lang="en-US" sz="2800" dirty="0"/>
              <a:t>The Medallion architecture</a:t>
            </a:r>
            <a:endParaRPr lang="en-IN" sz="2800" dirty="0"/>
          </a:p>
        </p:txBody>
      </p:sp>
      <p:sp>
        <p:nvSpPr>
          <p:cNvPr id="10" name="TextBox 9">
            <a:extLst>
              <a:ext uri="{FF2B5EF4-FFF2-40B4-BE49-F238E27FC236}">
                <a16:creationId xmlns:a16="http://schemas.microsoft.com/office/drawing/2014/main" id="{55B51D07-DC32-BD25-8E06-8FD769C1E3C8}"/>
              </a:ext>
            </a:extLst>
          </p:cNvPr>
          <p:cNvSpPr txBox="1"/>
          <p:nvPr/>
        </p:nvSpPr>
        <p:spPr>
          <a:xfrm>
            <a:off x="301214" y="631696"/>
            <a:ext cx="11555892"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000" b="0" i="0" dirty="0">
                <a:effectLst/>
                <a:latin typeface="Segoe UI" panose="020B0502040204020203" pitchFamily="34" charset="0"/>
              </a:rPr>
              <a:t>This example of a medallion architecture shows bronze, silver, and gold layers for use by a business operations team. Each layer is stored in a different schema of the ops catalog.</a:t>
            </a:r>
            <a:endParaRPr lang="en-IN" sz="2000" dirty="0"/>
          </a:p>
        </p:txBody>
      </p:sp>
      <p:sp>
        <p:nvSpPr>
          <p:cNvPr id="3" name="TextBox 2">
            <a:extLst>
              <a:ext uri="{FF2B5EF4-FFF2-40B4-BE49-F238E27FC236}">
                <a16:creationId xmlns:a16="http://schemas.microsoft.com/office/drawing/2014/main" id="{6A86EB5F-A75D-9E3D-3410-E01D70629D45}"/>
              </a:ext>
            </a:extLst>
          </p:cNvPr>
          <p:cNvSpPr txBox="1"/>
          <p:nvPr/>
        </p:nvSpPr>
        <p:spPr>
          <a:xfrm>
            <a:off x="110267" y="1545030"/>
            <a:ext cx="3836217" cy="4401205"/>
          </a:xfrm>
          <a:prstGeom prst="rect">
            <a:avLst/>
          </a:prstGeom>
          <a:noFill/>
          <a:ln>
            <a:solidFill>
              <a:schemeClr val="tx1"/>
            </a:solidFill>
          </a:ln>
        </p:spPr>
        <p:txBody>
          <a:bodyPr wrap="square">
            <a:spAutoFit/>
          </a:bodyPr>
          <a:lstStyle/>
          <a:p>
            <a:r>
              <a:rPr lang="en-US" sz="1400" b="1" dirty="0"/>
              <a:t>Bronze Layer</a:t>
            </a:r>
            <a:r>
              <a:rPr lang="en-US" sz="1400" dirty="0"/>
              <a:t>: This is the raw data layer where data is ingested in its original format. It is typically unprocessed and may contain duplicates, missing values, and other inconsistencies.</a:t>
            </a:r>
          </a:p>
          <a:p>
            <a:endParaRPr lang="en-US" sz="1400" dirty="0"/>
          </a:p>
          <a:p>
            <a:endParaRPr lang="en-US" sz="1400" dirty="0"/>
          </a:p>
          <a:p>
            <a:r>
              <a:rPr lang="en-US" sz="1400" b="1" dirty="0"/>
              <a:t>Silver Layer: </a:t>
            </a:r>
            <a:r>
              <a:rPr lang="en-US" sz="1400" dirty="0"/>
              <a:t>This is the cleaned and enriched data layer. Data in this layer has been processed to remove duplicates, handle missing values, and apply basic transformations1. It is more structured and ready for further analysis.</a:t>
            </a:r>
          </a:p>
          <a:p>
            <a:endParaRPr lang="en-US" sz="1400" dirty="0"/>
          </a:p>
          <a:p>
            <a:r>
              <a:rPr lang="en-US" sz="1400" b="1" dirty="0"/>
              <a:t>Gold Layer: </a:t>
            </a:r>
            <a:r>
              <a:rPr lang="en-US" sz="1400" dirty="0"/>
              <a:t>This is the curated and aggregated data layer. Data in this layer is highly processed, aggregated, and optimized for business intelligence and analytics1. It is ready for consumption by end-users and applications</a:t>
            </a:r>
            <a:endParaRPr lang="en-IN" sz="1400" dirty="0"/>
          </a:p>
        </p:txBody>
      </p:sp>
    </p:spTree>
    <p:extLst>
      <p:ext uri="{BB962C8B-B14F-4D97-AF65-F5344CB8AC3E}">
        <p14:creationId xmlns:p14="http://schemas.microsoft.com/office/powerpoint/2010/main" val="268424369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B5308-26C1-950D-0EDD-BC740FC6D828}"/>
              </a:ext>
            </a:extLst>
          </p:cNvPr>
          <p:cNvSpPr>
            <a:spLocks noGrp="1"/>
          </p:cNvSpPr>
          <p:nvPr>
            <p:ph type="title"/>
          </p:nvPr>
        </p:nvSpPr>
        <p:spPr>
          <a:xfrm>
            <a:off x="669104" y="18255"/>
            <a:ext cx="10853791" cy="1325563"/>
          </a:xfrm>
        </p:spPr>
        <p:txBody>
          <a:bodyPr/>
          <a:lstStyle/>
          <a:p>
            <a:r>
              <a:rPr lang="en-US" dirty="0"/>
              <a:t>Orchestration with Spark Declarative Pipelines</a:t>
            </a:r>
            <a:endParaRPr lang="en-IN" dirty="0"/>
          </a:p>
        </p:txBody>
      </p:sp>
      <p:pic>
        <p:nvPicPr>
          <p:cNvPr id="8" name="Picture 2" descr="Delta Live Tables | Databricks">
            <a:extLst>
              <a:ext uri="{FF2B5EF4-FFF2-40B4-BE49-F238E27FC236}">
                <a16:creationId xmlns:a16="http://schemas.microsoft.com/office/drawing/2014/main" id="{70F595FA-50D1-722A-6EE5-67C6F9C02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3787" y="1710920"/>
            <a:ext cx="7013825" cy="388317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EF3F21C-2759-DCA8-0D73-154F8A280386}"/>
              </a:ext>
            </a:extLst>
          </p:cNvPr>
          <p:cNvSpPr txBox="1"/>
          <p:nvPr/>
        </p:nvSpPr>
        <p:spPr>
          <a:xfrm>
            <a:off x="334397" y="2636846"/>
            <a:ext cx="4556101" cy="203132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Delta Live Tables is a declarative framework for building reliable, maintainable, and testable data processing pipelines. You define the transformations to perform on your data and Delta Live Tables manages task orchestration, cluster management, monitoring, data quality, and error handling.</a:t>
            </a:r>
            <a:endParaRPr lang="en-IN" dirty="0"/>
          </a:p>
        </p:txBody>
      </p:sp>
    </p:spTree>
    <p:extLst>
      <p:ext uri="{BB962C8B-B14F-4D97-AF65-F5344CB8AC3E}">
        <p14:creationId xmlns:p14="http://schemas.microsoft.com/office/powerpoint/2010/main" val="2980384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419</Words>
  <Application>Microsoft Office PowerPoint</Application>
  <PresentationFormat>Widescreen</PresentationFormat>
  <Paragraphs>20</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Segoe UI</vt:lpstr>
      <vt:lpstr>Office Theme</vt:lpstr>
      <vt:lpstr>Medallion Architecture and Spark Declarative Pipelines (SDP)</vt:lpstr>
      <vt:lpstr>PowerPoint Presentation</vt:lpstr>
      <vt:lpstr>Orchestration with Spark Declarative Pipelines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kuljot bakshi</dc:creator>
  <cp:lastModifiedBy>kuljot bakshi</cp:lastModifiedBy>
  <cp:revision>1</cp:revision>
  <dcterms:created xsi:type="dcterms:W3CDTF">2026-01-12T13:35:54Z</dcterms:created>
  <dcterms:modified xsi:type="dcterms:W3CDTF">2026-01-12T13:48:41Z</dcterms:modified>
</cp:coreProperties>
</file>